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User-provided visual layout reference used for the left-side branch structure; raster image not embedded.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No external sources or assets used; all content and visual requirements were supplied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No external sources or assets used; all content and visual requirements were supplied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No external sources or assets used; all content and visual requirements were supplied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No external sources or assets used; all content and visual requirements were supplied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No external sources or assets used; all content and visual requirements were supplied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No external sources or assets used; all content and visual requirements were supplied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No external sources or assets used; all content and visual requirements were supplied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" name="title-divider"/>
          <p:cNvSpPr>
            <a:spLocks noGrp="1"/>
          </p:cNvSpPr>
          <p:nvPr/>
        </p:nvSpPr>
        <p:spPr>
          <a:xfrm>
            <a:off x="609600" y="1000125"/>
            <a:ext cx="10972800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2" name="title-accent"/>
          <p:cNvSpPr>
            <a:spLocks noGrp="1"/>
          </p:cNvSpPr>
          <p:nvPr/>
        </p:nvSpPr>
        <p:spPr>
          <a:xfrm>
            <a:off x="5762625" y="1000125"/>
            <a:ext cx="666750" cy="0"/>
          </a:xfrm>
          <a:prstGeom prst="line">
            <a:avLst/>
          </a:prstGeom>
          <a:noFill/>
          <a:ln w="28575">
            <a:solidFill>
              <a:srgbClr val="557A96"/>
            </a:solidFill>
            <a:prstDash val="solid"/>
          </a:ln>
        </p:spPr>
      </p:sp>
      <p:sp>
        <p:nvSpPr>
          <p:cNvPr id="3" name="column-divider"/>
          <p:cNvSpPr>
            <a:spLocks noGrp="1"/>
          </p:cNvSpPr>
          <p:nvPr/>
        </p:nvSpPr>
        <p:spPr>
          <a:xfrm>
            <a:off x="6191250" y="1257300"/>
            <a:ext cx="0" cy="4524375"/>
          </a:xfrm>
          <a:prstGeom prst="line">
            <a:avLst/>
          </a:prstGeom>
          <a:noFill/>
          <a:ln w="9525">
            <a:solidFill>
              <a:srgbClr val="E7EAED"/>
            </a:solidFill>
            <a:prstDash val="solid"/>
          </a:ln>
        </p:spPr>
      </p:sp>
      <p:sp>
        <p:nvSpPr>
          <p:cNvPr id="4" name="logic-header-rule"/>
          <p:cNvSpPr>
            <a:spLocks noGrp="1"/>
          </p:cNvSpPr>
          <p:nvPr/>
        </p:nvSpPr>
        <p:spPr>
          <a:xfrm>
            <a:off x="609600" y="1600200"/>
            <a:ext cx="5334000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5" name="files-header-rule"/>
          <p:cNvSpPr>
            <a:spLocks noGrp="1"/>
          </p:cNvSpPr>
          <p:nvPr/>
        </p:nvSpPr>
        <p:spPr>
          <a:xfrm>
            <a:off x="6553200" y="1600200"/>
            <a:ext cx="5029200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17" name="directory-panel"/>
          <p:cNvSpPr>
            <a:spLocks noGrp="1"/>
          </p:cNvSpPr>
          <p:nvPr/>
        </p:nvSpPr>
        <p:spPr>
          <a:xfrm>
            <a:off x="6553200" y="1733550"/>
            <a:ext cx="5029200" cy="4067175"/>
          </a:xfrm>
          <a:prstGeom prst="rect">
            <a:avLst/>
          </a:prstGeom>
          <a:solidFill>
            <a:srgbClr val="F8F9FA"/>
          </a:solidFill>
          <a:ln w="9525">
            <a:solidFill>
              <a:srgbClr val="E7EAED"/>
            </a:solidFill>
            <a:prstDash val="solid"/>
          </a:ln>
        </p:spPr>
      </p:sp>
      <p:sp>
        <p:nvSpPr>
          <p:cNvPr id="18" name="directory-accent"/>
          <p:cNvSpPr>
            <a:spLocks noGrp="1"/>
          </p:cNvSpPr>
          <p:nvPr/>
        </p:nvSpPr>
        <p:spPr>
          <a:xfrm>
            <a:off x="6553200" y="1733550"/>
            <a:ext cx="38100" cy="40671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9" name="summary-band"/>
          <p:cNvSpPr>
            <a:spLocks noGrp="1"/>
          </p:cNvSpPr>
          <p:nvPr/>
        </p:nvSpPr>
        <p:spPr>
          <a:xfrm>
            <a:off x="609600" y="6172200"/>
            <a:ext cx="10972800" cy="438150"/>
          </a:xfrm>
          <a:prstGeom prst="rect">
            <a:avLst/>
          </a:prstGeom>
          <a:solidFill>
            <a:srgbClr val="F3F4F5"/>
          </a:solidFill>
          <a:ln w="0">
            <a:noFill/>
            <a:prstDash val="solid"/>
          </a:ln>
        </p:spPr>
      </p:sp>
      <p:sp>
        <p:nvSpPr>
          <p:cNvPr id="20" name="summary-accent"/>
          <p:cNvSpPr>
            <a:spLocks noGrp="1"/>
          </p:cNvSpPr>
          <p:nvPr/>
        </p:nvSpPr>
        <p:spPr>
          <a:xfrm>
            <a:off x="609600" y="6172200"/>
            <a:ext cx="38100" cy="4381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1" name="slide-title"/>
          <p:cNvSpPr>
            <a:spLocks noGrp="1"/>
          </p:cNvSpPr>
          <p:nvPr/>
        </p:nvSpPr>
        <p:spPr>
          <a:xfrm>
            <a:off x="609600" y="266700"/>
            <a:ext cx="10972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360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 Skill 由什么组成？</a:t>
            </a:r>
            <a:endParaRPr sz="3600" b="1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logic-heading"/>
          <p:cNvSpPr>
            <a:spLocks noGrp="1"/>
          </p:cNvSpPr>
          <p:nvPr/>
        </p:nvSpPr>
        <p:spPr>
          <a:xfrm>
            <a:off x="609600" y="119062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958"/>
          </a:bodyPr>
          <a:lstStyle/>
          <a:p>
            <a:pPr algn="l">
              <a:buNone/>
              <a:defRPr sz="240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逻辑结构</a:t>
            </a:r>
            <a:endParaRPr sz="2400" b="1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files-heading"/>
          <p:cNvSpPr>
            <a:spLocks noGrp="1"/>
          </p:cNvSpPr>
          <p:nvPr/>
        </p:nvSpPr>
        <p:spPr>
          <a:xfrm>
            <a:off x="6553200" y="1190625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958"/>
          </a:bodyPr>
          <a:lstStyle/>
          <a:p>
            <a:pPr algn="l">
              <a:buNone/>
              <a:defRPr sz="240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实际文件组织</a:t>
            </a:r>
            <a:endParaRPr sz="2400" b="1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ree-line-01"/>
          <p:cNvSpPr>
            <a:spLocks noGrp="1"/>
          </p:cNvSpPr>
          <p:nvPr/>
        </p:nvSpPr>
        <p:spPr>
          <a:xfrm>
            <a:off x="6800850" y="1838325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5082"/>
          </a:bodyPr>
          <a:lstStyle/>
          <a:p>
            <a:pPr algn="l">
              <a:buNone/>
              <a:defRPr sz="1765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65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mlu-triton-*/</a:t>
            </a:r>
            <a:endParaRPr sz="1765" b="1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ree-line-02"/>
          <p:cNvSpPr>
            <a:spLocks noGrp="1"/>
          </p:cNvSpPr>
          <p:nvPr/>
        </p:nvSpPr>
        <p:spPr>
          <a:xfrm>
            <a:off x="6800850" y="2061210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 SKILL.md</a:t>
            </a:r>
            <a:endParaRPr sz="161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ree-line-03"/>
          <p:cNvSpPr>
            <a:spLocks noGrp="1"/>
          </p:cNvSpPr>
          <p:nvPr/>
        </p:nvSpPr>
        <p:spPr>
          <a:xfrm>
            <a:off x="6800850" y="2284095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 subagents/</a:t>
            </a:r>
            <a:endParaRPr sz="1615" b="1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ree-line-04"/>
          <p:cNvSpPr>
            <a:spLocks noGrp="1"/>
          </p:cNvSpPr>
          <p:nvPr/>
        </p:nvSpPr>
        <p:spPr>
          <a:xfrm>
            <a:off x="6800850" y="2506980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├── EnvConfig.md</a:t>
            </a:r>
            <a:endParaRPr sz="1615" b="0">
              <a:solidFill>
                <a:srgbClr val="3E4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ree-line-05"/>
          <p:cNvSpPr>
            <a:spLocks noGrp="1"/>
          </p:cNvSpPr>
          <p:nvPr/>
        </p:nvSpPr>
        <p:spPr>
          <a:xfrm>
            <a:off x="6800850" y="2729865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├── Extractor.md</a:t>
            </a:r>
            <a:endParaRPr sz="1615" b="0">
              <a:solidFill>
                <a:srgbClr val="3E4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ree-line-06"/>
          <p:cNvSpPr>
            <a:spLocks noGrp="1"/>
          </p:cNvSpPr>
          <p:nvPr/>
        </p:nvSpPr>
        <p:spPr>
          <a:xfrm>
            <a:off x="6800850" y="2952750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├── GenerateCode.md</a:t>
            </a:r>
            <a:endParaRPr sz="1615" b="0">
              <a:solidFill>
                <a:srgbClr val="3E4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ree-line-07"/>
          <p:cNvSpPr>
            <a:spLocks noGrp="1"/>
          </p:cNvSpPr>
          <p:nvPr/>
        </p:nvSpPr>
        <p:spPr>
          <a:xfrm>
            <a:off x="6800850" y="3175635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└── ...</a:t>
            </a:r>
            <a:endParaRPr sz="1615" b="0">
              <a:solidFill>
                <a:srgbClr val="3E4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ree-line-08"/>
          <p:cNvSpPr>
            <a:spLocks noGrp="1"/>
          </p:cNvSpPr>
          <p:nvPr/>
        </p:nvSpPr>
        <p:spPr>
          <a:xfrm>
            <a:off x="6800850" y="3398520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 scripts/</a:t>
            </a:r>
            <a:endParaRPr sz="1615" b="1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ree-line-09"/>
          <p:cNvSpPr>
            <a:spLocks noGrp="1"/>
          </p:cNvSpPr>
          <p:nvPr/>
        </p:nvSpPr>
        <p:spPr>
          <a:xfrm>
            <a:off x="6800850" y="3621405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├── get_device_info.py</a:t>
            </a:r>
            <a:endParaRPr sz="1615" b="0">
              <a:solidFill>
                <a:srgbClr val="3E4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ree-line-10"/>
          <p:cNvSpPr>
            <a:spLocks noGrp="1"/>
          </p:cNvSpPr>
          <p:nvPr/>
        </p:nvSpPr>
        <p:spPr>
          <a:xfrm>
            <a:off x="6800850" y="3844290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├── test_env_code.py</a:t>
            </a:r>
            <a:endParaRPr sz="1615" b="0">
              <a:solidFill>
                <a:srgbClr val="3E4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ree-line-11"/>
          <p:cNvSpPr>
            <a:spLocks noGrp="1"/>
          </p:cNvSpPr>
          <p:nvPr/>
        </p:nvSpPr>
        <p:spPr>
          <a:xfrm>
            <a:off x="6800850" y="4067175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└── ...</a:t>
            </a:r>
            <a:endParaRPr sz="1615" b="0">
              <a:solidFill>
                <a:srgbClr val="3E4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ree-line-12"/>
          <p:cNvSpPr>
            <a:spLocks noGrp="1"/>
          </p:cNvSpPr>
          <p:nvPr/>
        </p:nvSpPr>
        <p:spPr>
          <a:xfrm>
            <a:off x="6800850" y="4290060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 ref/</a:t>
            </a:r>
            <a:endParaRPr sz="1615" b="1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ree-line-13"/>
          <p:cNvSpPr>
            <a:spLocks noGrp="1"/>
          </p:cNvSpPr>
          <p:nvPr/>
        </p:nvSpPr>
        <p:spPr>
          <a:xfrm>
            <a:off x="6800850" y="4512945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└── mlu_supported_primitives.md</a:t>
            </a:r>
            <a:endParaRPr sz="1615" b="0">
              <a:solidFill>
                <a:srgbClr val="3E4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ree-line-14"/>
          <p:cNvSpPr>
            <a:spLocks noGrp="1"/>
          </p:cNvSpPr>
          <p:nvPr/>
        </p:nvSpPr>
        <p:spPr>
          <a:xfrm>
            <a:off x="6800850" y="4735830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└── examples/</a:t>
            </a:r>
            <a:endParaRPr sz="1615" b="1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ree-line-15"/>
          <p:cNvSpPr>
            <a:spLocks noGrp="1"/>
          </p:cNvSpPr>
          <p:nvPr/>
        </p:nvSpPr>
        <p:spPr>
          <a:xfrm>
            <a:off x="6800850" y="4958715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├── generate_code_reduce_sum.md</a:t>
            </a:r>
            <a:endParaRPr sz="1615" b="0">
              <a:solidFill>
                <a:srgbClr val="3E4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ree-line-16"/>
          <p:cNvSpPr>
            <a:spLocks noGrp="1"/>
          </p:cNvSpPr>
          <p:nvPr/>
        </p:nvSpPr>
        <p:spPr>
          <a:xfrm>
            <a:off x="6800850" y="5181600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├── generate_code_axis_fusion.md</a:t>
            </a:r>
            <a:endParaRPr sz="1615" b="0">
              <a:solidFill>
                <a:srgbClr val="3E4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ree-line-17"/>
          <p:cNvSpPr>
            <a:spLocks noGrp="1"/>
          </p:cNvSpPr>
          <p:nvPr/>
        </p:nvSpPr>
        <p:spPr>
          <a:xfrm>
            <a:off x="6800850" y="5404485"/>
            <a:ext cx="455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994"/>
          </a:bodyPr>
          <a:lstStyle/>
          <a:p>
            <a:pPr algn="l">
              <a:buNone/>
              <a:def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0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└── ...</a:t>
            </a:r>
            <a:endParaRPr sz="1615" b="0">
              <a:solidFill>
                <a:srgbClr val="3E4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summary-text"/>
          <p:cNvSpPr>
            <a:spLocks noGrp="1"/>
          </p:cNvSpPr>
          <p:nvPr/>
        </p:nvSpPr>
        <p:spPr>
          <a:xfrm>
            <a:off x="838200" y="6219825"/>
            <a:ext cx="10515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615" b="1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1">
                <a:solidFill>
                  <a:srgbClr val="3E46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以 SKILL.md 为核心，并根据任务需要组织 Subagent、Script、Reference、Example 等资源。</a:t>
            </a:r>
            <a:endParaRPr sz="1615" b="1">
              <a:solidFill>
                <a:srgbClr val="3E46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diagram-root-link"/>
          <p:cNvSpPr>
            <a:spLocks noGrp="1"/>
          </p:cNvSpPr>
          <p:nvPr/>
        </p:nvSpPr>
        <p:spPr>
          <a:xfrm>
            <a:off x="1600200" y="3810000"/>
            <a:ext cx="276225" cy="0"/>
          </a:xfrm>
          <a:prstGeom prst="line">
            <a:avLst/>
          </a:prstGeom>
          <a:noFill/>
          <a:ln w="16193">
            <a:solidFill>
              <a:srgbClr val="557A96"/>
            </a:solidFill>
            <a:prstDash val="solid"/>
          </a:ln>
        </p:spPr>
      </p:sp>
      <p:sp>
        <p:nvSpPr>
          <p:cNvPr id="60" name="diagram-bus"/>
          <p:cNvSpPr>
            <a:spLocks noGrp="1"/>
          </p:cNvSpPr>
          <p:nvPr/>
        </p:nvSpPr>
        <p:spPr>
          <a:xfrm>
            <a:off x="1876425" y="2133600"/>
            <a:ext cx="0" cy="3238500"/>
          </a:xfrm>
          <a:prstGeom prst="line">
            <a:avLst/>
          </a:prstGeom>
          <a:noFill/>
          <a:ln w="16193">
            <a:solidFill>
              <a:srgbClr val="557A96"/>
            </a:solidFill>
            <a:prstDash val="solid"/>
          </a:ln>
        </p:spPr>
      </p:sp>
      <p:sp>
        <p:nvSpPr>
          <p:cNvPr id="61" name="diagram-branch-skill"/>
          <p:cNvSpPr>
            <a:spLocks noGrp="1"/>
          </p:cNvSpPr>
          <p:nvPr/>
        </p:nvSpPr>
        <p:spPr>
          <a:xfrm>
            <a:off x="1876425" y="2133600"/>
            <a:ext cx="352425" cy="0"/>
          </a:xfrm>
          <a:prstGeom prst="line">
            <a:avLst/>
          </a:prstGeom>
          <a:noFill/>
          <a:ln w="16193">
            <a:solidFill>
              <a:srgbClr val="557A96"/>
            </a:solidFill>
            <a:prstDash val="solid"/>
          </a:ln>
        </p:spPr>
      </p:sp>
      <p:sp>
        <p:nvSpPr>
          <p:cNvPr id="62" name="diagram-arrow-skill"/>
          <p:cNvSpPr>
            <a:spLocks noGrp="1"/>
          </p:cNvSpPr>
          <p:nvPr/>
        </p:nvSpPr>
        <p:spPr>
          <a:xfrm rot="5400000">
            <a:off x="2209800" y="2085975"/>
            <a:ext cx="85725" cy="95250"/>
          </a:xfrm>
          <a:prstGeom prst="triangle">
            <a:avLst/>
          </a:prstGeom>
          <a:solidFill>
            <a:srgbClr val="557A96"/>
          </a:solidFill>
          <a:ln w="4763">
            <a:solidFill>
              <a:srgbClr val="557A96"/>
            </a:solidFill>
            <a:prstDash val="solid"/>
          </a:ln>
        </p:spPr>
      </p:sp>
      <p:sp>
        <p:nvSpPr>
          <p:cNvPr id="63" name="diagram-branch-subagents"/>
          <p:cNvSpPr>
            <a:spLocks noGrp="1"/>
          </p:cNvSpPr>
          <p:nvPr/>
        </p:nvSpPr>
        <p:spPr>
          <a:xfrm>
            <a:off x="1876425" y="3571875"/>
            <a:ext cx="352425" cy="0"/>
          </a:xfrm>
          <a:prstGeom prst="line">
            <a:avLst/>
          </a:prstGeom>
          <a:noFill/>
          <a:ln w="16193">
            <a:solidFill>
              <a:srgbClr val="557A96"/>
            </a:solidFill>
            <a:prstDash val="solid"/>
          </a:ln>
        </p:spPr>
      </p:sp>
      <p:sp>
        <p:nvSpPr>
          <p:cNvPr id="64" name="diagram-arrow-subagents"/>
          <p:cNvSpPr>
            <a:spLocks noGrp="1"/>
          </p:cNvSpPr>
          <p:nvPr/>
        </p:nvSpPr>
        <p:spPr>
          <a:xfrm rot="5400000">
            <a:off x="2209800" y="3524250"/>
            <a:ext cx="85725" cy="95250"/>
          </a:xfrm>
          <a:prstGeom prst="triangle">
            <a:avLst/>
          </a:prstGeom>
          <a:solidFill>
            <a:srgbClr val="557A96"/>
          </a:solidFill>
          <a:ln w="4763">
            <a:solidFill>
              <a:srgbClr val="557A96"/>
            </a:solidFill>
            <a:prstDash val="solid"/>
          </a:ln>
        </p:spPr>
      </p:sp>
      <p:sp>
        <p:nvSpPr>
          <p:cNvPr id="65" name="diagram-branch-scripts"/>
          <p:cNvSpPr>
            <a:spLocks noGrp="1"/>
          </p:cNvSpPr>
          <p:nvPr/>
        </p:nvSpPr>
        <p:spPr>
          <a:xfrm>
            <a:off x="1876425" y="4171950"/>
            <a:ext cx="352425" cy="0"/>
          </a:xfrm>
          <a:prstGeom prst="line">
            <a:avLst/>
          </a:prstGeom>
          <a:noFill/>
          <a:ln w="16193">
            <a:solidFill>
              <a:srgbClr val="557A96"/>
            </a:solidFill>
            <a:prstDash val="solid"/>
          </a:ln>
        </p:spPr>
      </p:sp>
      <p:sp>
        <p:nvSpPr>
          <p:cNvPr id="66" name="diagram-arrow-scripts"/>
          <p:cNvSpPr>
            <a:spLocks noGrp="1"/>
          </p:cNvSpPr>
          <p:nvPr/>
        </p:nvSpPr>
        <p:spPr>
          <a:xfrm rot="5400000">
            <a:off x="2209800" y="4124325"/>
            <a:ext cx="85725" cy="95250"/>
          </a:xfrm>
          <a:prstGeom prst="triangle">
            <a:avLst/>
          </a:prstGeom>
          <a:solidFill>
            <a:srgbClr val="557A96"/>
          </a:solidFill>
          <a:ln w="4763">
            <a:solidFill>
              <a:srgbClr val="557A96"/>
            </a:solidFill>
            <a:prstDash val="solid"/>
          </a:ln>
        </p:spPr>
      </p:sp>
      <p:sp>
        <p:nvSpPr>
          <p:cNvPr id="67" name="diagram-branch-references"/>
          <p:cNvSpPr>
            <a:spLocks noGrp="1"/>
          </p:cNvSpPr>
          <p:nvPr/>
        </p:nvSpPr>
        <p:spPr>
          <a:xfrm>
            <a:off x="1876425" y="4772025"/>
            <a:ext cx="352425" cy="0"/>
          </a:xfrm>
          <a:prstGeom prst="line">
            <a:avLst/>
          </a:prstGeom>
          <a:noFill/>
          <a:ln w="16193">
            <a:solidFill>
              <a:srgbClr val="557A96"/>
            </a:solidFill>
            <a:prstDash val="solid"/>
          </a:ln>
        </p:spPr>
      </p:sp>
      <p:sp>
        <p:nvSpPr>
          <p:cNvPr id="68" name="diagram-arrow-references"/>
          <p:cNvSpPr>
            <a:spLocks noGrp="1"/>
          </p:cNvSpPr>
          <p:nvPr/>
        </p:nvSpPr>
        <p:spPr>
          <a:xfrm rot="5400000">
            <a:off x="2209800" y="4724400"/>
            <a:ext cx="85725" cy="95250"/>
          </a:xfrm>
          <a:prstGeom prst="triangle">
            <a:avLst/>
          </a:prstGeom>
          <a:solidFill>
            <a:srgbClr val="557A96"/>
          </a:solidFill>
          <a:ln w="4763">
            <a:solidFill>
              <a:srgbClr val="557A96"/>
            </a:solidFill>
            <a:prstDash val="solid"/>
          </a:ln>
        </p:spPr>
      </p:sp>
      <p:sp>
        <p:nvSpPr>
          <p:cNvPr id="69" name="diagram-branch-examples"/>
          <p:cNvSpPr>
            <a:spLocks noGrp="1"/>
          </p:cNvSpPr>
          <p:nvPr/>
        </p:nvSpPr>
        <p:spPr>
          <a:xfrm>
            <a:off x="1876425" y="5372100"/>
            <a:ext cx="352425" cy="0"/>
          </a:xfrm>
          <a:prstGeom prst="line">
            <a:avLst/>
          </a:prstGeom>
          <a:noFill/>
          <a:ln w="16193">
            <a:solidFill>
              <a:srgbClr val="557A96"/>
            </a:solidFill>
            <a:prstDash val="solid"/>
          </a:ln>
        </p:spPr>
      </p:sp>
      <p:sp>
        <p:nvSpPr>
          <p:cNvPr id="70" name="diagram-arrow-examples"/>
          <p:cNvSpPr>
            <a:spLocks noGrp="1"/>
          </p:cNvSpPr>
          <p:nvPr/>
        </p:nvSpPr>
        <p:spPr>
          <a:xfrm rot="5400000">
            <a:off x="2209800" y="5324475"/>
            <a:ext cx="85725" cy="95250"/>
          </a:xfrm>
          <a:prstGeom prst="triangle">
            <a:avLst/>
          </a:prstGeom>
          <a:solidFill>
            <a:srgbClr val="557A96"/>
          </a:solidFill>
          <a:ln w="4763">
            <a:solidFill>
              <a:srgbClr val="557A96"/>
            </a:solidFill>
            <a:prstDash val="solid"/>
          </a:ln>
        </p:spPr>
      </p:sp>
      <p:sp>
        <p:nvSpPr>
          <p:cNvPr id="71" name="diagram-skill-keyword-link"/>
          <p:cNvSpPr>
            <a:spLocks noGrp="1"/>
          </p:cNvSpPr>
          <p:nvPr/>
        </p:nvSpPr>
        <p:spPr>
          <a:xfrm>
            <a:off x="4000500" y="2133600"/>
            <a:ext cx="161925" cy="0"/>
          </a:xfrm>
          <a:prstGeom prst="line">
            <a:avLst/>
          </a:prstGeom>
          <a:noFill/>
          <a:ln w="12383">
            <a:solidFill>
              <a:srgbClr val="557A96"/>
            </a:solidFill>
            <a:prstDash val="dash"/>
          </a:ln>
        </p:spPr>
      </p:sp>
      <p:sp>
        <p:nvSpPr>
          <p:cNvPr id="72" name="diagram-keyword-spine"/>
          <p:cNvSpPr>
            <a:spLocks noGrp="1"/>
          </p:cNvSpPr>
          <p:nvPr/>
        </p:nvSpPr>
        <p:spPr>
          <a:xfrm>
            <a:off x="4381500" y="1914525"/>
            <a:ext cx="0" cy="117157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73" name="diagram-root-node"/>
          <p:cNvSpPr>
            <a:spLocks noGrp="1"/>
          </p:cNvSpPr>
          <p:nvPr/>
        </p:nvSpPr>
        <p:spPr>
          <a:xfrm>
            <a:off x="666750" y="3524250"/>
            <a:ext cx="933450" cy="571500"/>
          </a:xfrm>
          <a:prstGeom prst="roundRect">
            <a:avLst>
              <a:gd name="adj" fmla="val 15000"/>
            </a:avLst>
          </a:prstGeom>
          <a:solidFill>
            <a:srgbClr val="F5F8FA"/>
          </a:solidFill>
          <a:ln w="10954">
            <a:solidFill>
              <a:srgbClr val="7898AF"/>
            </a:solidFill>
            <a:prstDash val="solid"/>
          </a:ln>
        </p:spPr>
      </p:sp>
      <p:sp>
        <p:nvSpPr>
          <p:cNvPr id="74" name="diagram-skill-node"/>
          <p:cNvSpPr>
            <a:spLocks noGrp="1"/>
          </p:cNvSpPr>
          <p:nvPr/>
        </p:nvSpPr>
        <p:spPr>
          <a:xfrm>
            <a:off x="2286000" y="1866900"/>
            <a:ext cx="1714500" cy="533400"/>
          </a:xfrm>
          <a:prstGeom prst="roundRect">
            <a:avLst>
              <a:gd name="adj" fmla="val 16071"/>
            </a:avLst>
          </a:prstGeom>
          <a:solidFill>
            <a:srgbClr val="F5F8FA"/>
          </a:solidFill>
          <a:ln w="10954">
            <a:solidFill>
              <a:srgbClr val="7898AF"/>
            </a:solidFill>
            <a:prstDash val="solid"/>
          </a:ln>
        </p:spPr>
      </p:sp>
      <p:sp>
        <p:nvSpPr>
          <p:cNvPr id="75" name="diagram-subagents-node"/>
          <p:cNvSpPr>
            <a:spLocks noGrp="1"/>
          </p:cNvSpPr>
          <p:nvPr/>
        </p:nvSpPr>
        <p:spPr>
          <a:xfrm>
            <a:off x="2286000" y="3333750"/>
            <a:ext cx="3505200" cy="476250"/>
          </a:xfrm>
          <a:prstGeom prst="roundRect">
            <a:avLst>
              <a:gd name="adj" fmla="val 18000"/>
            </a:avLst>
          </a:prstGeom>
          <a:solidFill>
            <a:srgbClr val="F5F8FA"/>
          </a:solidFill>
          <a:ln w="10954">
            <a:solidFill>
              <a:srgbClr val="7898AF"/>
            </a:solidFill>
            <a:prstDash val="solid"/>
          </a:ln>
        </p:spPr>
      </p:sp>
      <p:sp>
        <p:nvSpPr>
          <p:cNvPr id="76" name="diagram-scripts-node"/>
          <p:cNvSpPr>
            <a:spLocks noGrp="1"/>
          </p:cNvSpPr>
          <p:nvPr/>
        </p:nvSpPr>
        <p:spPr>
          <a:xfrm>
            <a:off x="2286000" y="3933825"/>
            <a:ext cx="3505200" cy="476250"/>
          </a:xfrm>
          <a:prstGeom prst="roundRect">
            <a:avLst>
              <a:gd name="adj" fmla="val 18000"/>
            </a:avLst>
          </a:prstGeom>
          <a:solidFill>
            <a:srgbClr val="F5F8FA"/>
          </a:solidFill>
          <a:ln w="10954">
            <a:solidFill>
              <a:srgbClr val="7898AF"/>
            </a:solidFill>
            <a:prstDash val="solid"/>
          </a:ln>
        </p:spPr>
      </p:sp>
      <p:sp>
        <p:nvSpPr>
          <p:cNvPr id="77" name="diagram-references-node"/>
          <p:cNvSpPr>
            <a:spLocks noGrp="1"/>
          </p:cNvSpPr>
          <p:nvPr/>
        </p:nvSpPr>
        <p:spPr>
          <a:xfrm>
            <a:off x="2286000" y="4533900"/>
            <a:ext cx="3505200" cy="476250"/>
          </a:xfrm>
          <a:prstGeom prst="roundRect">
            <a:avLst>
              <a:gd name="adj" fmla="val 18000"/>
            </a:avLst>
          </a:prstGeom>
          <a:solidFill>
            <a:srgbClr val="F5F8FA"/>
          </a:solidFill>
          <a:ln w="10954">
            <a:solidFill>
              <a:srgbClr val="7898AF"/>
            </a:solidFill>
            <a:prstDash val="solid"/>
          </a:ln>
        </p:spPr>
      </p:sp>
      <p:sp>
        <p:nvSpPr>
          <p:cNvPr id="78" name="diagram-examples-node"/>
          <p:cNvSpPr>
            <a:spLocks noGrp="1"/>
          </p:cNvSpPr>
          <p:nvPr/>
        </p:nvSpPr>
        <p:spPr>
          <a:xfrm>
            <a:off x="2286000" y="5133975"/>
            <a:ext cx="3505200" cy="476250"/>
          </a:xfrm>
          <a:prstGeom prst="roundRect">
            <a:avLst>
              <a:gd name="adj" fmla="val 18000"/>
            </a:avLst>
          </a:prstGeom>
          <a:solidFill>
            <a:srgbClr val="F5F8FA"/>
          </a:solidFill>
          <a:ln w="10954">
            <a:solidFill>
              <a:srgbClr val="7898AF"/>
            </a:solidFill>
            <a:prstDash val="solid"/>
          </a:ln>
        </p:spPr>
      </p:sp>
      <p:sp>
        <p:nvSpPr>
          <p:cNvPr id="79" name="diagram-keywords-node"/>
          <p:cNvSpPr>
            <a:spLocks noGrp="1"/>
          </p:cNvSpPr>
          <p:nvPr/>
        </p:nvSpPr>
        <p:spPr>
          <a:xfrm>
            <a:off x="4162425" y="1733550"/>
            <a:ext cx="1628775" cy="1524000"/>
          </a:xfrm>
          <a:prstGeom prst="roundRect">
            <a:avLst>
              <a:gd name="adj" fmla="val 5625"/>
            </a:avLst>
          </a:prstGeom>
          <a:noFill/>
          <a:ln w="12383">
            <a:solidFill>
              <a:srgbClr val="7898AF"/>
            </a:solidFill>
            <a:prstDash val="dash"/>
          </a:ln>
        </p:spPr>
      </p:sp>
      <p:sp>
        <p:nvSpPr>
          <p:cNvPr id="80" name="diagram-root-text"/>
          <p:cNvSpPr>
            <a:spLocks noGrp="1"/>
          </p:cNvSpPr>
          <p:nvPr/>
        </p:nvSpPr>
        <p:spPr>
          <a:xfrm>
            <a:off x="723900" y="3629025"/>
            <a:ext cx="81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1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endParaRPr sz="21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diagram-skill-text"/>
          <p:cNvSpPr>
            <a:spLocks noGrp="1"/>
          </p:cNvSpPr>
          <p:nvPr/>
        </p:nvSpPr>
        <p:spPr>
          <a:xfrm>
            <a:off x="2381250" y="197167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SKILL.md</a:t>
            </a:r>
            <a:endParaRPr sz="18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diagram-subagents-label"/>
          <p:cNvSpPr>
            <a:spLocks noGrp="1"/>
          </p:cNvSpPr>
          <p:nvPr/>
        </p:nvSpPr>
        <p:spPr>
          <a:xfrm>
            <a:off x="2476500" y="3362325"/>
            <a:ext cx="1181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5160"/>
          </a:bodyPr>
          <a:lstStyle/>
          <a:p>
            <a:pPr algn="l">
              <a:defRPr sz="169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9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Subagents</a:t>
            </a:r>
            <a:endParaRPr sz="1690" b="1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diagram-subagents-ondemand"/>
          <p:cNvSpPr>
            <a:spLocks noGrp="1"/>
          </p:cNvSpPr>
          <p:nvPr/>
        </p:nvSpPr>
        <p:spPr>
          <a:xfrm>
            <a:off x="3714750" y="3362325"/>
            <a:ext cx="704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833"/>
          </a:bodyPr>
          <a:lstStyle/>
          <a:p>
            <a:pPr algn="l">
              <a:defRPr sz="15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[按需]</a:t>
            </a:r>
            <a:endParaRPr sz="15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diagram-subagents-description"/>
          <p:cNvSpPr>
            <a:spLocks noGrp="1"/>
          </p:cNvSpPr>
          <p:nvPr/>
        </p:nvSpPr>
        <p:spPr>
          <a:xfrm>
            <a:off x="2476500" y="35814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333"/>
          </a:bodyPr>
          <a:lstStyle/>
          <a:p>
            <a:pPr algn="l">
              <a:defRPr sz="1500" b="0">
                <a:solidFill>
                  <a:srgbClr val="6671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671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子任务拆分与独立执行</a:t>
            </a:r>
            <a:endParaRPr sz="1500" b="0">
              <a:solidFill>
                <a:srgbClr val="6671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diagram-scripts-label"/>
          <p:cNvSpPr>
            <a:spLocks noGrp="1"/>
          </p:cNvSpPr>
          <p:nvPr/>
        </p:nvSpPr>
        <p:spPr>
          <a:xfrm>
            <a:off x="2476500" y="3962400"/>
            <a:ext cx="800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5160"/>
          </a:bodyPr>
          <a:lstStyle/>
          <a:p>
            <a:pPr algn="l">
              <a:defRPr sz="169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9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Scripts</a:t>
            </a:r>
            <a:endParaRPr sz="1690" b="1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diagram-scripts-ondemand"/>
          <p:cNvSpPr>
            <a:spLocks noGrp="1"/>
          </p:cNvSpPr>
          <p:nvPr/>
        </p:nvSpPr>
        <p:spPr>
          <a:xfrm>
            <a:off x="3333750" y="3962400"/>
            <a:ext cx="704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833"/>
          </a:bodyPr>
          <a:lstStyle/>
          <a:p>
            <a:pPr algn="l">
              <a:defRPr sz="15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[按需]</a:t>
            </a:r>
            <a:endParaRPr sz="15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diagram-scripts-description"/>
          <p:cNvSpPr>
            <a:spLocks noGrp="1"/>
          </p:cNvSpPr>
          <p:nvPr/>
        </p:nvSpPr>
        <p:spPr>
          <a:xfrm>
            <a:off x="2476500" y="418147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333"/>
          </a:bodyPr>
          <a:lstStyle/>
          <a:p>
            <a:pPr algn="l">
              <a:defRPr sz="1500" b="0">
                <a:solidFill>
                  <a:srgbClr val="6671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671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环境检测、测试与确定性操作</a:t>
            </a:r>
            <a:endParaRPr sz="1500" b="0">
              <a:solidFill>
                <a:srgbClr val="6671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diagram-references-label"/>
          <p:cNvSpPr>
            <a:spLocks noGrp="1"/>
          </p:cNvSpPr>
          <p:nvPr/>
        </p:nvSpPr>
        <p:spPr>
          <a:xfrm>
            <a:off x="2476500" y="4562475"/>
            <a:ext cx="12287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5160"/>
          </a:bodyPr>
          <a:lstStyle/>
          <a:p>
            <a:pPr algn="l">
              <a:defRPr sz="169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9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References</a:t>
            </a:r>
            <a:endParaRPr sz="1690" b="1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diagram-references-ondemand"/>
          <p:cNvSpPr>
            <a:spLocks noGrp="1"/>
          </p:cNvSpPr>
          <p:nvPr/>
        </p:nvSpPr>
        <p:spPr>
          <a:xfrm>
            <a:off x="3762375" y="4562475"/>
            <a:ext cx="704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833"/>
          </a:bodyPr>
          <a:lstStyle/>
          <a:p>
            <a:pPr algn="l">
              <a:defRPr sz="15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[按需]</a:t>
            </a:r>
            <a:endParaRPr sz="15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diagram-references-description"/>
          <p:cNvSpPr>
            <a:spLocks noGrp="1"/>
          </p:cNvSpPr>
          <p:nvPr/>
        </p:nvSpPr>
        <p:spPr>
          <a:xfrm>
            <a:off x="2476500" y="47815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333"/>
          </a:bodyPr>
          <a:lstStyle/>
          <a:p>
            <a:pPr algn="l">
              <a:defRPr sz="1500" b="0">
                <a:solidFill>
                  <a:srgbClr val="6671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671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平台知识、技术规则与 API 约束</a:t>
            </a:r>
            <a:endParaRPr sz="1500" b="0">
              <a:solidFill>
                <a:srgbClr val="6671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diagram-examples-label"/>
          <p:cNvSpPr>
            <a:spLocks noGrp="1"/>
          </p:cNvSpPr>
          <p:nvPr/>
        </p:nvSpPr>
        <p:spPr>
          <a:xfrm>
            <a:off x="2476500" y="5162550"/>
            <a:ext cx="990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5160"/>
          </a:bodyPr>
          <a:lstStyle/>
          <a:p>
            <a:pPr algn="l">
              <a:defRPr sz="169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90" b="1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Examples</a:t>
            </a:r>
            <a:endParaRPr sz="1690" b="1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diagram-examples-ondemand"/>
          <p:cNvSpPr>
            <a:spLocks noGrp="1"/>
          </p:cNvSpPr>
          <p:nvPr/>
        </p:nvSpPr>
        <p:spPr>
          <a:xfrm>
            <a:off x="3524250" y="5162550"/>
            <a:ext cx="704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833"/>
          </a:bodyPr>
          <a:lstStyle/>
          <a:p>
            <a:pPr algn="l">
              <a:defRPr sz="15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[按需]</a:t>
            </a:r>
            <a:endParaRPr sz="15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diagram-examples-description"/>
          <p:cNvSpPr>
            <a:spLocks noGrp="1"/>
          </p:cNvSpPr>
          <p:nvPr/>
        </p:nvSpPr>
        <p:spPr>
          <a:xfrm>
            <a:off x="2476500" y="53816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333"/>
          </a:bodyPr>
          <a:lstStyle/>
          <a:p>
            <a:pPr algn="l">
              <a:defRPr sz="1500" b="0">
                <a:solidFill>
                  <a:srgbClr val="6671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671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已有案例，为类似任务提供参考</a:t>
            </a:r>
            <a:endParaRPr sz="1500" b="0">
              <a:solidFill>
                <a:srgbClr val="6671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diagram-keyword-dot-1"/>
          <p:cNvSpPr>
            <a:spLocks noGrp="1"/>
          </p:cNvSpPr>
          <p:nvPr/>
        </p:nvSpPr>
        <p:spPr>
          <a:xfrm>
            <a:off x="4352925" y="1905000"/>
            <a:ext cx="57150" cy="57150"/>
          </a:xfrm>
          <a:prstGeom prst="ellips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5" name="diagram-keyword-1"/>
          <p:cNvSpPr>
            <a:spLocks noGrp="1"/>
          </p:cNvSpPr>
          <p:nvPr/>
        </p:nvSpPr>
        <p:spPr>
          <a:xfrm>
            <a:off x="4524375" y="18573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333"/>
          </a:bodyPr>
          <a:lstStyle/>
          <a:p>
            <a:pPr algn="l">
              <a:def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Metadata</a:t>
            </a:r>
            <a:endParaRPr sz="1500" b="0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diagram-keyword-dot-2"/>
          <p:cNvSpPr>
            <a:spLocks noGrp="1"/>
          </p:cNvSpPr>
          <p:nvPr/>
        </p:nvSpPr>
        <p:spPr>
          <a:xfrm>
            <a:off x="4352925" y="2095500"/>
            <a:ext cx="57150" cy="57150"/>
          </a:xfrm>
          <a:prstGeom prst="ellips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7" name="diagram-keyword-2"/>
          <p:cNvSpPr>
            <a:spLocks noGrp="1"/>
          </p:cNvSpPr>
          <p:nvPr/>
        </p:nvSpPr>
        <p:spPr>
          <a:xfrm>
            <a:off x="4524375" y="20478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333"/>
          </a:bodyPr>
          <a:lstStyle/>
          <a:p>
            <a:pPr algn="l">
              <a:def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</a:t>
            </a:r>
            <a:endParaRPr sz="1500" b="0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diagram-keyword-dot-3"/>
          <p:cNvSpPr>
            <a:spLocks noGrp="1"/>
          </p:cNvSpPr>
          <p:nvPr/>
        </p:nvSpPr>
        <p:spPr>
          <a:xfrm>
            <a:off x="4352925" y="2286000"/>
            <a:ext cx="57150" cy="57150"/>
          </a:xfrm>
          <a:prstGeom prst="ellips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9" name="diagram-keyword-3"/>
          <p:cNvSpPr>
            <a:spLocks noGrp="1"/>
          </p:cNvSpPr>
          <p:nvPr/>
        </p:nvSpPr>
        <p:spPr>
          <a:xfrm>
            <a:off x="4524375" y="22383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333"/>
          </a:bodyPr>
          <a:lstStyle/>
          <a:p>
            <a:pPr algn="l">
              <a:def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</a:t>
            </a:r>
            <a:endParaRPr sz="1500" b="0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diagram-keyword-dot-4"/>
          <p:cNvSpPr>
            <a:spLocks noGrp="1"/>
          </p:cNvSpPr>
          <p:nvPr/>
        </p:nvSpPr>
        <p:spPr>
          <a:xfrm>
            <a:off x="4352925" y="2476500"/>
            <a:ext cx="57150" cy="57150"/>
          </a:xfrm>
          <a:prstGeom prst="ellips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01" name="diagram-keyword-4"/>
          <p:cNvSpPr>
            <a:spLocks noGrp="1"/>
          </p:cNvSpPr>
          <p:nvPr/>
        </p:nvSpPr>
        <p:spPr>
          <a:xfrm>
            <a:off x="4524375" y="24288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333"/>
          </a:bodyPr>
          <a:lstStyle/>
          <a:p>
            <a:pPr algn="l">
              <a:def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</a:t>
            </a:r>
            <a:endParaRPr sz="1500" b="0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diagram-keyword-dot-5"/>
          <p:cNvSpPr>
            <a:spLocks noGrp="1"/>
          </p:cNvSpPr>
          <p:nvPr/>
        </p:nvSpPr>
        <p:spPr>
          <a:xfrm>
            <a:off x="4352925" y="2667000"/>
            <a:ext cx="57150" cy="57150"/>
          </a:xfrm>
          <a:prstGeom prst="ellips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03" name="diagram-keyword-5"/>
          <p:cNvSpPr>
            <a:spLocks noGrp="1"/>
          </p:cNvSpPr>
          <p:nvPr/>
        </p:nvSpPr>
        <p:spPr>
          <a:xfrm>
            <a:off x="4524375" y="26193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333"/>
          </a:bodyPr>
          <a:lstStyle/>
          <a:p>
            <a:pPr algn="l">
              <a:def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Routing</a:t>
            </a:r>
            <a:endParaRPr sz="1500" b="0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diagram-keyword-dot-6"/>
          <p:cNvSpPr>
            <a:spLocks noGrp="1"/>
          </p:cNvSpPr>
          <p:nvPr/>
        </p:nvSpPr>
        <p:spPr>
          <a:xfrm>
            <a:off x="4352925" y="2857500"/>
            <a:ext cx="57150" cy="57150"/>
          </a:xfrm>
          <a:prstGeom prst="ellips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05" name="diagram-keyword-6"/>
          <p:cNvSpPr>
            <a:spLocks noGrp="1"/>
          </p:cNvSpPr>
          <p:nvPr/>
        </p:nvSpPr>
        <p:spPr>
          <a:xfrm>
            <a:off x="4524375" y="28098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333"/>
          </a:bodyPr>
          <a:lstStyle/>
          <a:p>
            <a:pPr algn="l">
              <a:def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Call</a:t>
            </a:r>
            <a:endParaRPr sz="1500" b="0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diagram-keyword-dot-7"/>
          <p:cNvSpPr>
            <a:spLocks noGrp="1"/>
          </p:cNvSpPr>
          <p:nvPr/>
        </p:nvSpPr>
        <p:spPr>
          <a:xfrm>
            <a:off x="4352925" y="3048000"/>
            <a:ext cx="57150" cy="57150"/>
          </a:xfrm>
          <a:prstGeom prst="ellips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07" name="diagram-keyword-7"/>
          <p:cNvSpPr>
            <a:spLocks noGrp="1"/>
          </p:cNvSpPr>
          <p:nvPr/>
        </p:nvSpPr>
        <p:spPr>
          <a:xfrm>
            <a:off x="4524375" y="30003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333"/>
          </a:bodyPr>
          <a:lstStyle/>
          <a:p>
            <a:pPr algn="l">
              <a:def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A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Handoff</a:t>
            </a:r>
            <a:endParaRPr sz="1500" b="0">
              <a:solidFill>
                <a:srgbClr val="242A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" name="title-accent"/>
          <p:cNvSpPr>
            <a:spLocks noGrp="1"/>
          </p:cNvSpPr>
          <p:nvPr/>
        </p:nvSpPr>
        <p:spPr>
          <a:xfrm>
            <a:off x="609600" y="257175"/>
            <a:ext cx="47625" cy="4953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" name="title-divider"/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" name="column-divider"/>
          <p:cNvSpPr>
            <a:spLocks noGrp="1"/>
          </p:cNvSpPr>
          <p:nvPr/>
        </p:nvSpPr>
        <p:spPr>
          <a:xfrm>
            <a:off x="4781550" y="1295400"/>
            <a:ext cx="0" cy="461010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4" name="left-heading-rule"/>
          <p:cNvSpPr>
            <a:spLocks noGrp="1"/>
          </p:cNvSpPr>
          <p:nvPr/>
        </p:nvSpPr>
        <p:spPr>
          <a:xfrm>
            <a:off x="609600" y="1524000"/>
            <a:ext cx="40005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" name="right-heading-rule"/>
          <p:cNvSpPr>
            <a:spLocks noGrp="1"/>
          </p:cNvSpPr>
          <p:nvPr/>
        </p:nvSpPr>
        <p:spPr>
          <a:xfrm>
            <a:off x="4953000" y="1524000"/>
            <a:ext cx="66294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6" name="slide-title"/>
          <p:cNvSpPr>
            <a:spLocks noGrp="1"/>
          </p:cNvSpPr>
          <p:nvPr/>
        </p:nvSpPr>
        <p:spPr>
          <a:xfrm>
            <a:off x="800100" y="209550"/>
            <a:ext cx="80962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4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SKILL.md：Skill 的核心控制文档</a:t>
            </a:r>
            <a:endParaRPr sz="34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guiding-question"/>
          <p:cNvSpPr>
            <a:spLocks noGrp="1"/>
          </p:cNvSpPr>
          <p:nvPr/>
        </p:nvSpPr>
        <p:spPr>
          <a:xfrm>
            <a:off x="800100" y="752475"/>
            <a:ext cx="7239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0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这一页只回答：一个 SKILL.md 里面通常写什么？</a:t>
            </a:r>
            <a:endParaRPr sz="1500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left-heading"/>
          <p:cNvSpPr>
            <a:spLocks noGrp="1"/>
          </p:cNvSpPr>
          <p:nvPr/>
        </p:nvSpPr>
        <p:spPr>
          <a:xfrm>
            <a:off x="609600" y="120967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这些内容写在哪里</a:t>
            </a:r>
            <a:endParaRPr sz="18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ight-heading"/>
          <p:cNvSpPr>
            <a:spLocks noGrp="1"/>
          </p:cNvSpPr>
          <p:nvPr/>
        </p:nvSpPr>
        <p:spPr>
          <a:xfrm>
            <a:off x="4953000" y="120967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这些内容分别是什么</a:t>
            </a:r>
            <a:endParaRPr sz="18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or-frame"/>
          <p:cNvSpPr>
            <a:spLocks noGrp="1"/>
          </p:cNvSpPr>
          <p:nvPr/>
        </p:nvSpPr>
        <p:spPr>
          <a:xfrm>
            <a:off x="609600" y="1600200"/>
            <a:ext cx="400050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1" name="editor-header"/>
          <p:cNvSpPr>
            <a:spLocks noGrp="1"/>
          </p:cNvSpPr>
          <p:nvPr/>
        </p:nvSpPr>
        <p:spPr>
          <a:xfrm>
            <a:off x="609600" y="1600200"/>
            <a:ext cx="4000500" cy="323850"/>
          </a:xfrm>
          <a:prstGeom prst="rect">
            <a:avLst/>
          </a:prstGeom>
          <a:solidFill>
            <a:srgbClr val="F3F4F5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2" name="editor-label"/>
          <p:cNvSpPr>
            <a:spLocks noGrp="1"/>
          </p:cNvSpPr>
          <p:nvPr/>
        </p:nvSpPr>
        <p:spPr>
          <a:xfrm>
            <a:off x="781050" y="1647825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252B3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1">
                <a:solidFill>
                  <a:srgbClr val="252B3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SKILL.md  ·  abstracted structure</a:t>
            </a:r>
            <a:endParaRPr sz="1350" b="1">
              <a:solidFill>
                <a:srgbClr val="252B3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code-metadata-block"/>
          <p:cNvSpPr>
            <a:spLocks noGrp="1"/>
          </p:cNvSpPr>
          <p:nvPr/>
        </p:nvSpPr>
        <p:spPr>
          <a:xfrm>
            <a:off x="742950" y="2009775"/>
            <a:ext cx="3733800" cy="742950"/>
          </a:xfrm>
          <a:prstGeom prst="rect">
            <a:avLst/>
          </a:prstGeom>
          <a:solidFill>
            <a:srgbClr val="F7F9FA"/>
          </a:solidFill>
          <a:ln w="5715">
            <a:solidFill>
              <a:srgbClr val="D8DEE3"/>
            </a:solidFill>
            <a:prstDash val="solid"/>
          </a:ln>
        </p:spPr>
      </p:sp>
      <p:sp>
        <p:nvSpPr>
          <p:cNvPr id="14" name="code-metadata-accent"/>
          <p:cNvSpPr>
            <a:spLocks noGrp="1"/>
          </p:cNvSpPr>
          <p:nvPr/>
        </p:nvSpPr>
        <p:spPr>
          <a:xfrm>
            <a:off x="742950" y="2009775"/>
            <a:ext cx="28575" cy="7429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5" name="code-metadata-text"/>
          <p:cNvSpPr>
            <a:spLocks noGrp="1"/>
          </p:cNvSpPr>
          <p:nvPr/>
        </p:nvSpPr>
        <p:spPr>
          <a:xfrm>
            <a:off x="895350" y="2047875"/>
            <a:ext cx="342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83302"/>
          </a:bodyPr>
          <a:lstStyle/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---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name: example-skill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description: ...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---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de-overview-block"/>
          <p:cNvSpPr>
            <a:spLocks noGrp="1"/>
          </p:cNvSpPr>
          <p:nvPr/>
        </p:nvSpPr>
        <p:spPr>
          <a:xfrm>
            <a:off x="742950" y="2819400"/>
            <a:ext cx="3733800" cy="495300"/>
          </a:xfrm>
          <a:prstGeom prst="rect">
            <a:avLst/>
          </a:prstGeom>
          <a:solidFill>
            <a:srgbClr val="F7F9FA"/>
          </a:solidFill>
          <a:ln w="5715">
            <a:solidFill>
              <a:srgbClr val="D8DEE3"/>
            </a:solidFill>
            <a:prstDash val="solid"/>
          </a:ln>
        </p:spPr>
      </p:sp>
      <p:sp>
        <p:nvSpPr>
          <p:cNvPr id="17" name="code-overview-accent"/>
          <p:cNvSpPr>
            <a:spLocks noGrp="1"/>
          </p:cNvSpPr>
          <p:nvPr/>
        </p:nvSpPr>
        <p:spPr>
          <a:xfrm>
            <a:off x="742950" y="2819400"/>
            <a:ext cx="28575" cy="4953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8" name="code-overview-text"/>
          <p:cNvSpPr>
            <a:spLocks noGrp="1"/>
          </p:cNvSpPr>
          <p:nvPr/>
        </p:nvSpPr>
        <p:spPr>
          <a:xfrm>
            <a:off x="895350" y="28575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Overview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...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de-policy-block"/>
          <p:cNvSpPr>
            <a:spLocks noGrp="1"/>
          </p:cNvSpPr>
          <p:nvPr/>
        </p:nvSpPr>
        <p:spPr>
          <a:xfrm>
            <a:off x="742950" y="3381375"/>
            <a:ext cx="3733800" cy="495300"/>
          </a:xfrm>
          <a:prstGeom prst="rect">
            <a:avLst/>
          </a:prstGeom>
          <a:solidFill>
            <a:srgbClr val="F7F9FA"/>
          </a:solidFill>
          <a:ln w="5715">
            <a:solidFill>
              <a:srgbClr val="D8DEE3"/>
            </a:solidFill>
            <a:prstDash val="solid"/>
          </a:ln>
        </p:spPr>
      </p:sp>
      <p:sp>
        <p:nvSpPr>
          <p:cNvPr id="20" name="code-policy-accent"/>
          <p:cNvSpPr>
            <a:spLocks noGrp="1"/>
          </p:cNvSpPr>
          <p:nvPr/>
        </p:nvSpPr>
        <p:spPr>
          <a:xfrm>
            <a:off x="742950" y="3381375"/>
            <a:ext cx="28575" cy="4953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1" name="code-policy-text"/>
          <p:cNvSpPr>
            <a:spLocks noGrp="1"/>
          </p:cNvSpPr>
          <p:nvPr/>
        </p:nvSpPr>
        <p:spPr>
          <a:xfrm>
            <a:off x="895350" y="3419475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Execution Policy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...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code-contract-block"/>
          <p:cNvSpPr>
            <a:spLocks noGrp="1"/>
          </p:cNvSpPr>
          <p:nvPr/>
        </p:nvSpPr>
        <p:spPr>
          <a:xfrm>
            <a:off x="742950" y="3943350"/>
            <a:ext cx="3733800" cy="495300"/>
          </a:xfrm>
          <a:prstGeom prst="rect">
            <a:avLst/>
          </a:prstGeom>
          <a:solidFill>
            <a:srgbClr val="F7F9FA"/>
          </a:solidFill>
          <a:ln w="5715">
            <a:solidFill>
              <a:srgbClr val="D8DEE3"/>
            </a:solidFill>
            <a:prstDash val="solid"/>
          </a:ln>
        </p:spPr>
      </p:sp>
      <p:sp>
        <p:nvSpPr>
          <p:cNvPr id="23" name="code-contract-accent"/>
          <p:cNvSpPr>
            <a:spLocks noGrp="1"/>
          </p:cNvSpPr>
          <p:nvPr/>
        </p:nvSpPr>
        <p:spPr>
          <a:xfrm>
            <a:off x="742950" y="3943350"/>
            <a:ext cx="28575" cy="4953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4" name="code-contract-text"/>
          <p:cNvSpPr>
            <a:spLocks noGrp="1"/>
          </p:cNvSpPr>
          <p:nvPr/>
        </p:nvSpPr>
        <p:spPr>
          <a:xfrm>
            <a:off x="895350" y="39814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Input / Output Contract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...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code-workflow-block"/>
          <p:cNvSpPr>
            <a:spLocks noGrp="1"/>
          </p:cNvSpPr>
          <p:nvPr/>
        </p:nvSpPr>
        <p:spPr>
          <a:xfrm>
            <a:off x="742950" y="4505325"/>
            <a:ext cx="3733800" cy="971550"/>
          </a:xfrm>
          <a:prstGeom prst="rect">
            <a:avLst/>
          </a:prstGeom>
          <a:solidFill>
            <a:srgbClr val="F7F9FA"/>
          </a:solidFill>
          <a:ln w="5715">
            <a:solidFill>
              <a:srgbClr val="D8DEE3"/>
            </a:solidFill>
            <a:prstDash val="solid"/>
          </a:ln>
        </p:spPr>
      </p:sp>
      <p:sp>
        <p:nvSpPr>
          <p:cNvPr id="26" name="code-workflow-accent"/>
          <p:cNvSpPr>
            <a:spLocks noGrp="1"/>
          </p:cNvSpPr>
          <p:nvPr/>
        </p:nvSpPr>
        <p:spPr>
          <a:xfrm>
            <a:off x="742950" y="4505325"/>
            <a:ext cx="28575" cy="9715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7" name="code-workflow-text"/>
          <p:cNvSpPr>
            <a:spLocks noGrp="1"/>
          </p:cNvSpPr>
          <p:nvPr/>
        </p:nvSpPr>
        <p:spPr>
          <a:xfrm>
            <a:off x="895350" y="4543425"/>
            <a:ext cx="3429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89490"/>
          </a:bodyPr>
          <a:lstStyle/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Workflow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## Stage 1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...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## Stage 2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...</a:t>
            </a:r>
            <a:endParaRPr sz="1315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editor-takeaway"/>
          <p:cNvSpPr>
            <a:spLocks noGrp="1"/>
          </p:cNvSpPr>
          <p:nvPr/>
        </p:nvSpPr>
        <p:spPr>
          <a:xfrm>
            <a:off x="781050" y="5562600"/>
            <a:ext cx="3657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66189"/>
          </a:bodyPr>
          <a:lstStyle/>
          <a:p>
            <a:pPr algn="l">
              <a:defRPr sz="13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Metadata、Overview、Policy、Contract、Workflow 最终都写在这里</a:t>
            </a:r>
            <a:endParaRPr sz="131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metadata-card"/>
          <p:cNvSpPr>
            <a:spLocks noGrp="1"/>
          </p:cNvSpPr>
          <p:nvPr/>
        </p:nvSpPr>
        <p:spPr>
          <a:xfrm>
            <a:off x="4953000" y="1600200"/>
            <a:ext cx="3238500" cy="16383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30" name="metadata-accent"/>
          <p:cNvSpPr>
            <a:spLocks noGrp="1"/>
          </p:cNvSpPr>
          <p:nvPr/>
        </p:nvSpPr>
        <p:spPr>
          <a:xfrm>
            <a:off x="4953000" y="1600200"/>
            <a:ext cx="323850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31" name="metadata-number"/>
          <p:cNvSpPr>
            <a:spLocks noGrp="1"/>
          </p:cNvSpPr>
          <p:nvPr/>
        </p:nvSpPr>
        <p:spPr>
          <a:xfrm>
            <a:off x="5105400" y="171450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metadata-title"/>
          <p:cNvSpPr>
            <a:spLocks noGrp="1"/>
          </p:cNvSpPr>
          <p:nvPr/>
        </p:nvSpPr>
        <p:spPr>
          <a:xfrm>
            <a:off x="5467350" y="1695450"/>
            <a:ext cx="1381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Metadata</a:t>
            </a:r>
            <a:endParaRPr sz="180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metadata-subtitle"/>
          <p:cNvSpPr>
            <a:spLocks noGrp="1"/>
          </p:cNvSpPr>
          <p:nvPr/>
        </p:nvSpPr>
        <p:spPr>
          <a:xfrm>
            <a:off x="6877050" y="1714500"/>
            <a:ext cx="1162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身份与触发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metadata-name"/>
          <p:cNvSpPr>
            <a:spLocks noGrp="1"/>
          </p:cNvSpPr>
          <p:nvPr/>
        </p:nvSpPr>
        <p:spPr>
          <a:xfrm>
            <a:off x="5124450" y="20383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</a:t>
            </a:r>
            <a:endParaRPr sz="14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metadata-name-path"/>
          <p:cNvSpPr>
            <a:spLocks noGrp="1"/>
          </p:cNvSpPr>
          <p:nvPr/>
        </p:nvSpPr>
        <p:spPr>
          <a:xfrm>
            <a:off x="5981700" y="203835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/name 显式调用</a:t>
            </a:r>
            <a:endParaRPr sz="139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metadata-description"/>
          <p:cNvSpPr>
            <a:spLocks noGrp="1"/>
          </p:cNvSpPr>
          <p:nvPr/>
        </p:nvSpPr>
        <p:spPr>
          <a:xfrm>
            <a:off x="5124450" y="2352675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description</a:t>
            </a:r>
            <a:endParaRPr sz="14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metadata-description-path"/>
          <p:cNvSpPr>
            <a:spLocks noGrp="1"/>
          </p:cNvSpPr>
          <p:nvPr/>
        </p:nvSpPr>
        <p:spPr>
          <a:xfrm>
            <a:off x="6191250" y="23526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75968"/>
          </a:bodyPr>
          <a:lstStyle/>
          <a:p>
            <a:pPr algn="l">
              <a:defRPr sz="12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User Request → Agent 匹配</a:t>
            </a:r>
            <a:endParaRPr sz="127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metadata-answer-band"/>
          <p:cNvSpPr>
            <a:spLocks noGrp="1"/>
          </p:cNvSpPr>
          <p:nvPr/>
        </p:nvSpPr>
        <p:spPr>
          <a:xfrm>
            <a:off x="5067300" y="2895600"/>
            <a:ext cx="3009900" cy="238125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39" name="metadata-answer"/>
          <p:cNvSpPr>
            <a:spLocks noGrp="1"/>
          </p:cNvSpPr>
          <p:nvPr/>
        </p:nvSpPr>
        <p:spPr>
          <a:xfrm>
            <a:off x="5181600" y="2905125"/>
            <a:ext cx="2781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回答：我是谁？什么时候调用我？</a:t>
            </a:r>
            <a:endParaRPr sz="12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overview-card"/>
          <p:cNvSpPr>
            <a:spLocks noGrp="1"/>
          </p:cNvSpPr>
          <p:nvPr/>
        </p:nvSpPr>
        <p:spPr>
          <a:xfrm>
            <a:off x="8343900" y="1600200"/>
            <a:ext cx="3238500" cy="163830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41" name="overview-accent"/>
          <p:cNvSpPr>
            <a:spLocks noGrp="1"/>
          </p:cNvSpPr>
          <p:nvPr/>
        </p:nvSpPr>
        <p:spPr>
          <a:xfrm>
            <a:off x="8343900" y="1600200"/>
            <a:ext cx="323850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42" name="overview-number"/>
          <p:cNvSpPr>
            <a:spLocks noGrp="1"/>
          </p:cNvSpPr>
          <p:nvPr/>
        </p:nvSpPr>
        <p:spPr>
          <a:xfrm>
            <a:off x="8496300" y="171450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overview-title"/>
          <p:cNvSpPr>
            <a:spLocks noGrp="1"/>
          </p:cNvSpPr>
          <p:nvPr/>
        </p:nvSpPr>
        <p:spPr>
          <a:xfrm>
            <a:off x="8858250" y="1695450"/>
            <a:ext cx="1381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Overview</a:t>
            </a:r>
            <a:endParaRPr sz="180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overview-subtitle"/>
          <p:cNvSpPr>
            <a:spLocks noGrp="1"/>
          </p:cNvSpPr>
          <p:nvPr/>
        </p:nvSpPr>
        <p:spPr>
          <a:xfrm>
            <a:off x="10267950" y="1714500"/>
            <a:ext cx="1162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能力边界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overview-key-0"/>
          <p:cNvSpPr>
            <a:spLocks noGrp="1"/>
          </p:cNvSpPr>
          <p:nvPr/>
        </p:nvSpPr>
        <p:spPr>
          <a:xfrm>
            <a:off x="8515350" y="2028825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负责什么</a:t>
            </a:r>
            <a:endParaRPr sz="13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overview-value-0"/>
          <p:cNvSpPr>
            <a:spLocks noGrp="1"/>
          </p:cNvSpPr>
          <p:nvPr/>
        </p:nvSpPr>
        <p:spPr>
          <a:xfrm>
            <a:off x="9315450" y="20288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Skill 的任务范围</a:t>
            </a:r>
            <a:endParaRPr sz="131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overview-key-1"/>
          <p:cNvSpPr>
            <a:spLocks noGrp="1"/>
          </p:cNvSpPr>
          <p:nvPr/>
        </p:nvSpPr>
        <p:spPr>
          <a:xfrm>
            <a:off x="8515350" y="2257425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750"/>
          </a:bodyPr>
          <a:lstStyle/>
          <a:p>
            <a:pPr algn="l">
              <a:def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有哪些阶段</a:t>
            </a:r>
            <a:endParaRPr sz="13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overview-value-1"/>
          <p:cNvSpPr>
            <a:spLocks noGrp="1"/>
          </p:cNvSpPr>
          <p:nvPr/>
        </p:nvSpPr>
        <p:spPr>
          <a:xfrm>
            <a:off x="9315450" y="22574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整体执行框架</a:t>
            </a:r>
            <a:endParaRPr sz="131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overview-key-2"/>
          <p:cNvSpPr>
            <a:spLocks noGrp="1"/>
          </p:cNvSpPr>
          <p:nvPr/>
        </p:nvSpPr>
        <p:spPr>
          <a:xfrm>
            <a:off x="8515350" y="2486025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与谁协作</a:t>
            </a:r>
            <a:endParaRPr sz="13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overview-value-2"/>
          <p:cNvSpPr>
            <a:spLocks noGrp="1"/>
          </p:cNvSpPr>
          <p:nvPr/>
        </p:nvSpPr>
        <p:spPr>
          <a:xfrm>
            <a:off x="9315450" y="24860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模块 / 能力关系</a:t>
            </a:r>
            <a:endParaRPr sz="131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overview-key-3"/>
          <p:cNvSpPr>
            <a:spLocks noGrp="1"/>
          </p:cNvSpPr>
          <p:nvPr/>
        </p:nvSpPr>
        <p:spPr>
          <a:xfrm>
            <a:off x="8515350" y="2714625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如何运转</a:t>
            </a:r>
            <a:endParaRPr sz="13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overview-value-3"/>
          <p:cNvSpPr>
            <a:spLocks noGrp="1"/>
          </p:cNvSpPr>
          <p:nvPr/>
        </p:nvSpPr>
        <p:spPr>
          <a:xfrm>
            <a:off x="9315450" y="27146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59616"/>
          </a:bodyPr>
          <a:lstStyle/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Input → Analysis → Execute → Verify → Output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overview-answer-band"/>
          <p:cNvSpPr>
            <a:spLocks noGrp="1"/>
          </p:cNvSpPr>
          <p:nvPr/>
        </p:nvSpPr>
        <p:spPr>
          <a:xfrm>
            <a:off x="8458200" y="2971800"/>
            <a:ext cx="3009900" cy="190500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54" name="overview-answer"/>
          <p:cNvSpPr>
            <a:spLocks noGrp="1"/>
          </p:cNvSpPr>
          <p:nvPr/>
        </p:nvSpPr>
        <p:spPr>
          <a:xfrm>
            <a:off x="8572500" y="2971800"/>
            <a:ext cx="2781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回答：整体负责什么、怎么运转？</a:t>
            </a:r>
            <a:endParaRPr sz="12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policy-card"/>
          <p:cNvSpPr>
            <a:spLocks noGrp="1"/>
          </p:cNvSpPr>
          <p:nvPr/>
        </p:nvSpPr>
        <p:spPr>
          <a:xfrm>
            <a:off x="4953000" y="3371850"/>
            <a:ext cx="3238500" cy="1924050"/>
          </a:xfrm>
          <a:prstGeom prst="roundRect">
            <a:avLst>
              <a:gd name="adj" fmla="val 3465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56" name="policy-accent"/>
          <p:cNvSpPr>
            <a:spLocks noGrp="1"/>
          </p:cNvSpPr>
          <p:nvPr/>
        </p:nvSpPr>
        <p:spPr>
          <a:xfrm>
            <a:off x="4953000" y="3371850"/>
            <a:ext cx="323850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57" name="policy-number"/>
          <p:cNvSpPr>
            <a:spLocks noGrp="1"/>
          </p:cNvSpPr>
          <p:nvPr/>
        </p:nvSpPr>
        <p:spPr>
          <a:xfrm>
            <a:off x="5105400" y="34861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policy-title"/>
          <p:cNvSpPr>
            <a:spLocks noGrp="1"/>
          </p:cNvSpPr>
          <p:nvPr/>
        </p:nvSpPr>
        <p:spPr>
          <a:xfrm>
            <a:off x="5467350" y="3467100"/>
            <a:ext cx="1524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250"/>
          </a:bodyPr>
          <a:lstStyle/>
          <a:p>
            <a:pPr algn="l">
              <a:defRPr sz="15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Execution Policy</a:t>
            </a:r>
            <a:endParaRPr sz="15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policy-subtitle"/>
          <p:cNvSpPr>
            <a:spLocks noGrp="1"/>
          </p:cNvSpPr>
          <p:nvPr/>
        </p:nvSpPr>
        <p:spPr>
          <a:xfrm>
            <a:off x="7124700" y="3486150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3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策略与约束</a:t>
            </a:r>
            <a:endParaRPr sz="131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policy-intro"/>
          <p:cNvSpPr>
            <a:spLocks noGrp="1"/>
          </p:cNvSpPr>
          <p:nvPr/>
        </p:nvSpPr>
        <p:spPr>
          <a:xfrm>
            <a:off x="5124450" y="3800475"/>
            <a:ext cx="2895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执行时始终需要遵守的全局规则</a:t>
            </a:r>
            <a:endParaRPr sz="135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policy-bullet-1-dot"/>
          <p:cNvSpPr>
            <a:spLocks noGrp="1"/>
          </p:cNvSpPr>
          <p:nvPr/>
        </p:nvSpPr>
        <p:spPr>
          <a:xfrm>
            <a:off x="5143500" y="4143375"/>
            <a:ext cx="47625" cy="47625"/>
          </a:xfrm>
          <a:prstGeom prst="ellips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2" name="policy-bullet-1"/>
          <p:cNvSpPr>
            <a:spLocks noGrp="1"/>
          </p:cNvSpPr>
          <p:nvPr/>
        </p:nvSpPr>
        <p:spPr>
          <a:xfrm>
            <a:off x="5276850" y="4067175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任务按指定顺序执行</a:t>
            </a:r>
            <a:endParaRPr sz="131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policy-bullet-2-dot"/>
          <p:cNvSpPr>
            <a:spLocks noGrp="1"/>
          </p:cNvSpPr>
          <p:nvPr/>
        </p:nvSpPr>
        <p:spPr>
          <a:xfrm>
            <a:off x="5143500" y="4362450"/>
            <a:ext cx="47625" cy="47625"/>
          </a:xfrm>
          <a:prstGeom prst="ellips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4" name="policy-bullet-2"/>
          <p:cNvSpPr>
            <a:spLocks noGrp="1"/>
          </p:cNvSpPr>
          <p:nvPr/>
        </p:nvSpPr>
        <p:spPr>
          <a:xfrm>
            <a:off x="5276850" y="428625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委派任务需阻塞等待</a:t>
            </a:r>
            <a:endParaRPr sz="131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policy-bullet-3-dot"/>
          <p:cNvSpPr>
            <a:spLocks noGrp="1"/>
          </p:cNvSpPr>
          <p:nvPr/>
        </p:nvSpPr>
        <p:spPr>
          <a:xfrm>
            <a:off x="5143500" y="4581525"/>
            <a:ext cx="47625" cy="47625"/>
          </a:xfrm>
          <a:prstGeom prst="ellips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6" name="policy-bullet-3"/>
          <p:cNvSpPr>
            <a:spLocks noGrp="1"/>
          </p:cNvSpPr>
          <p:nvPr/>
        </p:nvSpPr>
        <p:spPr>
          <a:xfrm>
            <a:off x="5276850" y="4505325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禁止主流程越权接管专门任务</a:t>
            </a:r>
            <a:endParaRPr sz="131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policy-bullet-4-dot"/>
          <p:cNvSpPr>
            <a:spLocks noGrp="1"/>
          </p:cNvSpPr>
          <p:nvPr/>
        </p:nvSpPr>
        <p:spPr>
          <a:xfrm>
            <a:off x="5143500" y="4800600"/>
            <a:ext cx="47625" cy="47625"/>
          </a:xfrm>
          <a:prstGeom prst="ellips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8" name="policy-bullet-4"/>
          <p:cNvSpPr>
            <a:spLocks noGrp="1"/>
          </p:cNvSpPr>
          <p:nvPr/>
        </p:nvSpPr>
        <p:spPr>
          <a:xfrm>
            <a:off x="5276850" y="47244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统一环境、路径和运行方式</a:t>
            </a:r>
            <a:endParaRPr sz="131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policy-answer-band"/>
          <p:cNvSpPr>
            <a:spLocks noGrp="1"/>
          </p:cNvSpPr>
          <p:nvPr/>
        </p:nvSpPr>
        <p:spPr>
          <a:xfrm>
            <a:off x="5067300" y="4972050"/>
            <a:ext cx="3009900" cy="238125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70" name="policy-answer"/>
          <p:cNvSpPr>
            <a:spLocks noGrp="1"/>
          </p:cNvSpPr>
          <p:nvPr/>
        </p:nvSpPr>
        <p:spPr>
          <a:xfrm>
            <a:off x="5153025" y="4981575"/>
            <a:ext cx="285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68351"/>
          </a:bodyPr>
          <a:lstStyle/>
          <a:p>
            <a:pPr algn="ctr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 定义“做什么”；Policy 定义“必须如何做”。</a:t>
            </a:r>
            <a:endParaRPr sz="12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contract-card"/>
          <p:cNvSpPr>
            <a:spLocks noGrp="1"/>
          </p:cNvSpPr>
          <p:nvPr/>
        </p:nvSpPr>
        <p:spPr>
          <a:xfrm>
            <a:off x="8343900" y="3371850"/>
            <a:ext cx="3238500" cy="1924050"/>
          </a:xfrm>
          <a:prstGeom prst="roundRect">
            <a:avLst>
              <a:gd name="adj" fmla="val 3465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72" name="contract-accent"/>
          <p:cNvSpPr>
            <a:spLocks noGrp="1"/>
          </p:cNvSpPr>
          <p:nvPr/>
        </p:nvSpPr>
        <p:spPr>
          <a:xfrm>
            <a:off x="8343900" y="3371850"/>
            <a:ext cx="323850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73" name="contract-number"/>
          <p:cNvSpPr>
            <a:spLocks noGrp="1"/>
          </p:cNvSpPr>
          <p:nvPr/>
        </p:nvSpPr>
        <p:spPr>
          <a:xfrm>
            <a:off x="8496300" y="34861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contract-title"/>
          <p:cNvSpPr>
            <a:spLocks noGrp="1"/>
          </p:cNvSpPr>
          <p:nvPr/>
        </p:nvSpPr>
        <p:spPr>
          <a:xfrm>
            <a:off x="8858250" y="3467100"/>
            <a:ext cx="1381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</a:t>
            </a:r>
            <a:endParaRPr sz="180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contract-subtitle"/>
          <p:cNvSpPr>
            <a:spLocks noGrp="1"/>
          </p:cNvSpPr>
          <p:nvPr/>
        </p:nvSpPr>
        <p:spPr>
          <a:xfrm>
            <a:off x="10267950" y="3486150"/>
            <a:ext cx="1162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875"/>
          </a:bodyPr>
          <a:lstStyle/>
          <a:p>
            <a:pPr algn="r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 / 输出契约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contract-input-title"/>
          <p:cNvSpPr>
            <a:spLocks noGrp="1"/>
          </p:cNvSpPr>
          <p:nvPr/>
        </p:nvSpPr>
        <p:spPr>
          <a:xfrm>
            <a:off x="8515350" y="3800475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164"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 Contract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contract-input-flow"/>
          <p:cNvSpPr>
            <a:spLocks noGrp="1"/>
          </p:cNvSpPr>
          <p:nvPr/>
        </p:nvSpPr>
        <p:spPr>
          <a:xfrm>
            <a:off x="9753600" y="3800475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491"/>
          </a:bodyPr>
          <a:lstStyle/>
          <a:p>
            <a:pPr algn="ctr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   →   Skill</a:t>
            </a:r>
            <a:endParaRPr sz="14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contract-input-items"/>
          <p:cNvSpPr>
            <a:spLocks noGrp="1"/>
          </p:cNvSpPr>
          <p:nvPr/>
        </p:nvSpPr>
        <p:spPr>
          <a:xfrm>
            <a:off x="8515350" y="4048125"/>
            <a:ext cx="28384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7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 / 参数 / 文件 / Code</a:t>
            </a:r>
            <a:endParaRPr sz="127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contract-divider"/>
          <p:cNvSpPr>
            <a:spLocks noGrp="1"/>
          </p:cNvSpPr>
          <p:nvPr/>
        </p:nvSpPr>
        <p:spPr>
          <a:xfrm>
            <a:off x="8515350" y="4305300"/>
            <a:ext cx="283845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80" name="contract-output-title"/>
          <p:cNvSpPr>
            <a:spLocks noGrp="1"/>
          </p:cNvSpPr>
          <p:nvPr/>
        </p:nvSpPr>
        <p:spPr>
          <a:xfrm>
            <a:off x="8515350" y="436245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892"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Contract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contract-output-flow"/>
          <p:cNvSpPr>
            <a:spLocks noGrp="1"/>
          </p:cNvSpPr>
          <p:nvPr/>
        </p:nvSpPr>
        <p:spPr>
          <a:xfrm>
            <a:off x="9982200" y="4362450"/>
            <a:ext cx="137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202"/>
          </a:bodyPr>
          <a:lstStyle/>
          <a:p>
            <a:pPr algn="r">
              <a:def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  →   Output</a:t>
            </a:r>
            <a:endParaRPr sz="13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contract-output-items"/>
          <p:cNvSpPr>
            <a:spLocks noGrp="1"/>
          </p:cNvSpPr>
          <p:nvPr/>
        </p:nvSpPr>
        <p:spPr>
          <a:xfrm>
            <a:off x="8515350" y="4610100"/>
            <a:ext cx="28384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7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 / Code / 报告 / Result</a:t>
            </a:r>
            <a:endParaRPr sz="127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contract-hook-band"/>
          <p:cNvSpPr>
            <a:spLocks noGrp="1"/>
          </p:cNvSpPr>
          <p:nvPr/>
        </p:nvSpPr>
        <p:spPr>
          <a:xfrm>
            <a:off x="8458200" y="4972050"/>
            <a:ext cx="3009900" cy="238125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84" name="contract-hook"/>
          <p:cNvSpPr>
            <a:spLocks noGrp="1"/>
          </p:cNvSpPr>
          <p:nvPr/>
        </p:nvSpPr>
        <p:spPr>
          <a:xfrm>
            <a:off x="8553450" y="4981575"/>
            <a:ext cx="2819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4634"/>
          </a:bodyPr>
          <a:lstStyle/>
          <a:p>
            <a:pPr algn="ctr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阶段间契约将在下一页结合 Workflow 展开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workflow-preview"/>
          <p:cNvSpPr>
            <a:spLocks noGrp="1"/>
          </p:cNvSpPr>
          <p:nvPr/>
        </p:nvSpPr>
        <p:spPr>
          <a:xfrm>
            <a:off x="4953000" y="5429250"/>
            <a:ext cx="6629400" cy="495300"/>
          </a:xfrm>
          <a:prstGeom prst="roundRect">
            <a:avLst>
              <a:gd name="adj" fmla="val 11538"/>
            </a:avLst>
          </a:prstGeom>
          <a:solidFill>
            <a:srgbClr val="F2F6F8"/>
          </a:solidFill>
          <a:ln w="7620">
            <a:solidFill>
              <a:srgbClr val="7F9DB2"/>
            </a:solidFill>
            <a:prstDash val="solid"/>
          </a:ln>
        </p:spPr>
      </p:sp>
      <p:sp>
        <p:nvSpPr>
          <p:cNvPr id="86" name="workflow-preview-accent"/>
          <p:cNvSpPr>
            <a:spLocks noGrp="1"/>
          </p:cNvSpPr>
          <p:nvPr/>
        </p:nvSpPr>
        <p:spPr>
          <a:xfrm>
            <a:off x="4953000" y="5429250"/>
            <a:ext cx="38100" cy="4953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87" name="workflow-preview-title"/>
          <p:cNvSpPr>
            <a:spLocks noGrp="1"/>
          </p:cNvSpPr>
          <p:nvPr/>
        </p:nvSpPr>
        <p:spPr>
          <a:xfrm>
            <a:off x="5143500" y="55245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650"/>
          </a:bodyPr>
          <a:lstStyle/>
          <a:p>
            <a:pPr algn="l">
              <a:defRPr sz="17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</a:t>
            </a:r>
            <a:endParaRPr sz="172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workflow-preview-text"/>
          <p:cNvSpPr>
            <a:spLocks noGrp="1"/>
          </p:cNvSpPr>
          <p:nvPr/>
        </p:nvSpPr>
        <p:spPr>
          <a:xfrm>
            <a:off x="6400800" y="5534025"/>
            <a:ext cx="3562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将上述定义组织成真正可执行的任务流程</a:t>
            </a:r>
            <a:endParaRPr sz="142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summary-band"/>
          <p:cNvSpPr>
            <a:spLocks noGrp="1"/>
          </p:cNvSpPr>
          <p:nvPr/>
        </p:nvSpPr>
        <p:spPr>
          <a:xfrm>
            <a:off x="609600" y="6191250"/>
            <a:ext cx="10972800" cy="419100"/>
          </a:xfrm>
          <a:prstGeom prst="rect">
            <a:avLst/>
          </a:prstGeom>
          <a:solidFill>
            <a:srgbClr val="F3F4F5"/>
          </a:solidFill>
          <a:ln w="0">
            <a:noFill/>
            <a:prstDash val="solid"/>
          </a:ln>
        </p:spPr>
      </p:sp>
      <p:sp>
        <p:nvSpPr>
          <p:cNvPr id="91" name="summary-accent"/>
          <p:cNvSpPr>
            <a:spLocks noGrp="1"/>
          </p:cNvSpPr>
          <p:nvPr/>
        </p:nvSpPr>
        <p:spPr>
          <a:xfrm>
            <a:off x="609600" y="6191250"/>
            <a:ext cx="38100" cy="4191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92" name="summary-text"/>
          <p:cNvSpPr>
            <a:spLocks noGrp="1"/>
          </p:cNvSpPr>
          <p:nvPr/>
        </p:nvSpPr>
        <p:spPr>
          <a:xfrm>
            <a:off x="819150" y="6229350"/>
            <a:ext cx="1053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7766"/>
          </a:bodyPr>
          <a:lstStyle/>
          <a:p>
            <a:pPr algn="ctr">
              <a:defRPr sz="13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SKILL.md 是 Skill 的核心控制文档：定义“我是谁、负责什么、遵守什么规则、接受和产出什么”，并通过 Workflow 将这些定义组织成实际执行流程。</a:t>
            </a:r>
            <a:endParaRPr sz="139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" name="title-accent"/>
          <p:cNvSpPr>
            <a:spLocks noGrp="1"/>
          </p:cNvSpPr>
          <p:nvPr/>
        </p:nvSpPr>
        <p:spPr>
          <a:xfrm>
            <a:off x="609600" y="257175"/>
            <a:ext cx="47625" cy="4953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" name="title-divider"/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" name="column-divider"/>
          <p:cNvSpPr>
            <a:spLocks noGrp="1"/>
          </p:cNvSpPr>
          <p:nvPr/>
        </p:nvSpPr>
        <p:spPr>
          <a:xfrm>
            <a:off x="4781550" y="1295400"/>
            <a:ext cx="0" cy="461010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4" name="left-heading-rule"/>
          <p:cNvSpPr>
            <a:spLocks noGrp="1"/>
          </p:cNvSpPr>
          <p:nvPr/>
        </p:nvSpPr>
        <p:spPr>
          <a:xfrm>
            <a:off x="609600" y="1524000"/>
            <a:ext cx="40005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" name="right-heading-rule"/>
          <p:cNvSpPr>
            <a:spLocks noGrp="1"/>
          </p:cNvSpPr>
          <p:nvPr/>
        </p:nvSpPr>
        <p:spPr>
          <a:xfrm>
            <a:off x="4953000" y="1524000"/>
            <a:ext cx="66294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6" name="slide-title"/>
          <p:cNvSpPr>
            <a:spLocks noGrp="1"/>
          </p:cNvSpPr>
          <p:nvPr/>
        </p:nvSpPr>
        <p:spPr>
          <a:xfrm>
            <a:off x="800100" y="209550"/>
            <a:ext cx="98107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3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Workflow：如何控制任务一步步向前推进</a:t>
            </a:r>
            <a:endParaRPr sz="330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guiding-question"/>
          <p:cNvSpPr>
            <a:spLocks noGrp="1"/>
          </p:cNvSpPr>
          <p:nvPr/>
        </p:nvSpPr>
        <p:spPr>
          <a:xfrm>
            <a:off x="800100" y="752475"/>
            <a:ext cx="8858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这一页只回答：Workflow 如何拆分阶段，并控制推进、判断与回退？</a:t>
            </a:r>
            <a:endParaRPr sz="146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left-heading"/>
          <p:cNvSpPr>
            <a:spLocks noGrp="1"/>
          </p:cNvSpPr>
          <p:nvPr/>
        </p:nvSpPr>
        <p:spPr>
          <a:xfrm>
            <a:off x="609600" y="1209675"/>
            <a:ext cx="3695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760"/>
          </a:bodyPr>
          <a:lstStyle/>
          <a:p>
            <a:pPr algn="l">
              <a:def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SKILL.md 示例（Workflow 展开）</a:t>
            </a:r>
            <a:endParaRPr sz="180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ight-heading"/>
          <p:cNvSpPr>
            <a:spLocks noGrp="1"/>
          </p:cNvSpPr>
          <p:nvPr/>
        </p:nvSpPr>
        <p:spPr>
          <a:xfrm>
            <a:off x="4953000" y="120967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 内部结构</a:t>
            </a:r>
            <a:endParaRPr sz="18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or-frame"/>
          <p:cNvSpPr>
            <a:spLocks noGrp="1"/>
          </p:cNvSpPr>
          <p:nvPr/>
        </p:nvSpPr>
        <p:spPr>
          <a:xfrm>
            <a:off x="609600" y="1600200"/>
            <a:ext cx="400050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1" name="editor-header"/>
          <p:cNvSpPr>
            <a:spLocks noGrp="1"/>
          </p:cNvSpPr>
          <p:nvPr/>
        </p:nvSpPr>
        <p:spPr>
          <a:xfrm>
            <a:off x="609600" y="1600200"/>
            <a:ext cx="4000500" cy="323850"/>
          </a:xfrm>
          <a:prstGeom prst="rect">
            <a:avLst/>
          </a:prstGeom>
          <a:solidFill>
            <a:srgbClr val="F3F4F5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2" name="editor-label"/>
          <p:cNvSpPr>
            <a:spLocks noGrp="1"/>
          </p:cNvSpPr>
          <p:nvPr/>
        </p:nvSpPr>
        <p:spPr>
          <a:xfrm>
            <a:off x="781050" y="164782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252B3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1">
                <a:solidFill>
                  <a:srgbClr val="252B3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SKILL.md  ·  Workflow expanded</a:t>
            </a:r>
            <a:endParaRPr sz="1350" b="1">
              <a:solidFill>
                <a:srgbClr val="252B3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compressed-sections"/>
          <p:cNvSpPr>
            <a:spLocks noGrp="1"/>
          </p:cNvSpPr>
          <p:nvPr/>
        </p:nvSpPr>
        <p:spPr>
          <a:xfrm>
            <a:off x="742950" y="2009775"/>
            <a:ext cx="3733800" cy="876300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14" name="compressed-accent"/>
          <p:cNvSpPr>
            <a:spLocks noGrp="1"/>
          </p:cNvSpPr>
          <p:nvPr/>
        </p:nvSpPr>
        <p:spPr>
          <a:xfrm>
            <a:off x="742950" y="2009775"/>
            <a:ext cx="28575" cy="876300"/>
          </a:xfrm>
          <a:prstGeom prst="rect">
            <a:avLst/>
          </a:prstGeom>
          <a:solidFill>
            <a:srgbClr val="7F9DB2"/>
          </a:solidFill>
          <a:ln w="0">
            <a:noFill/>
            <a:prstDash val="solid"/>
          </a:ln>
        </p:spPr>
      </p:sp>
      <p:sp>
        <p:nvSpPr>
          <p:cNvPr id="15" name="compact-0-label"/>
          <p:cNvSpPr>
            <a:spLocks noGrp="1"/>
          </p:cNvSpPr>
          <p:nvPr/>
        </p:nvSpPr>
        <p:spPr>
          <a:xfrm>
            <a:off x="895350" y="2066925"/>
            <a:ext cx="2524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l">
              <a:def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Metadata</a:t>
            </a:r>
            <a:endParaRPr sz="1240" b="0">
              <a:solidFill>
                <a:srgbClr val="6872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mpact-0-dots"/>
          <p:cNvSpPr>
            <a:spLocks noGrp="1"/>
          </p:cNvSpPr>
          <p:nvPr/>
        </p:nvSpPr>
        <p:spPr>
          <a:xfrm>
            <a:off x="3886200" y="2066925"/>
            <a:ext cx="400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r">
              <a:def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···</a:t>
            </a:r>
            <a:endParaRPr sz="124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compact-1-label"/>
          <p:cNvSpPr>
            <a:spLocks noGrp="1"/>
          </p:cNvSpPr>
          <p:nvPr/>
        </p:nvSpPr>
        <p:spPr>
          <a:xfrm>
            <a:off x="895350" y="2257425"/>
            <a:ext cx="2524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l">
              <a:def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Overview</a:t>
            </a:r>
            <a:endParaRPr sz="1240" b="0">
              <a:solidFill>
                <a:srgbClr val="6872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compact-1-dots"/>
          <p:cNvSpPr>
            <a:spLocks noGrp="1"/>
          </p:cNvSpPr>
          <p:nvPr/>
        </p:nvSpPr>
        <p:spPr>
          <a:xfrm>
            <a:off x="3886200" y="2257425"/>
            <a:ext cx="400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r">
              <a:def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···</a:t>
            </a:r>
            <a:endParaRPr sz="124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ompact-2-label"/>
          <p:cNvSpPr>
            <a:spLocks noGrp="1"/>
          </p:cNvSpPr>
          <p:nvPr/>
        </p:nvSpPr>
        <p:spPr>
          <a:xfrm>
            <a:off x="895350" y="2447925"/>
            <a:ext cx="2524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l">
              <a:def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Execution Policy</a:t>
            </a:r>
            <a:endParaRPr sz="1240" b="0">
              <a:solidFill>
                <a:srgbClr val="6872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compact-2-dots"/>
          <p:cNvSpPr>
            <a:spLocks noGrp="1"/>
          </p:cNvSpPr>
          <p:nvPr/>
        </p:nvSpPr>
        <p:spPr>
          <a:xfrm>
            <a:off x="3886200" y="2447925"/>
            <a:ext cx="400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r">
              <a:def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···</a:t>
            </a:r>
            <a:endParaRPr sz="124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ompact-3-label"/>
          <p:cNvSpPr>
            <a:spLocks noGrp="1"/>
          </p:cNvSpPr>
          <p:nvPr/>
        </p:nvSpPr>
        <p:spPr>
          <a:xfrm>
            <a:off x="895350" y="2638425"/>
            <a:ext cx="2524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l">
              <a:def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Input / Output Contract</a:t>
            </a:r>
            <a:endParaRPr sz="1240" b="0">
              <a:solidFill>
                <a:srgbClr val="6872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compact-3-dots"/>
          <p:cNvSpPr>
            <a:spLocks noGrp="1"/>
          </p:cNvSpPr>
          <p:nvPr/>
        </p:nvSpPr>
        <p:spPr>
          <a:xfrm>
            <a:off x="3886200" y="2638425"/>
            <a:ext cx="400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r">
              <a:def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···</a:t>
            </a:r>
            <a:endParaRPr sz="124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workflow-section-divider"/>
          <p:cNvSpPr>
            <a:spLocks noGrp="1"/>
          </p:cNvSpPr>
          <p:nvPr/>
        </p:nvSpPr>
        <p:spPr>
          <a:xfrm>
            <a:off x="895350" y="2971800"/>
            <a:ext cx="32766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24" name="workflow-code-block"/>
          <p:cNvSpPr>
            <a:spLocks noGrp="1"/>
          </p:cNvSpPr>
          <p:nvPr/>
        </p:nvSpPr>
        <p:spPr>
          <a:xfrm>
            <a:off x="742950" y="3067050"/>
            <a:ext cx="3733800" cy="2686050"/>
          </a:xfrm>
          <a:prstGeom prst="rect">
            <a:avLst/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25" name="workflow-code-accent"/>
          <p:cNvSpPr>
            <a:spLocks noGrp="1"/>
          </p:cNvSpPr>
          <p:nvPr/>
        </p:nvSpPr>
        <p:spPr>
          <a:xfrm>
            <a:off x="742950" y="3067050"/>
            <a:ext cx="38100" cy="26860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6" name="workflow-code"/>
          <p:cNvSpPr>
            <a:spLocks noGrp="1"/>
          </p:cNvSpPr>
          <p:nvPr/>
        </p:nvSpPr>
        <p:spPr>
          <a:xfrm>
            <a:off x="914400" y="3143250"/>
            <a:ext cx="3333750" cy="251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Workflow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## Stage 1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Input: ...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Action: ...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Output: artifact_A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## Gate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Condition: ...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## Stage 2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Input: artifact_A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Action: ...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Output: artifact_B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## Routing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...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## Retry / Fallback: ...</a:t>
            </a:r>
            <a:endParaRPr sz="109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stage-card"/>
          <p:cNvSpPr>
            <a:spLocks noGrp="1"/>
          </p:cNvSpPr>
          <p:nvPr/>
        </p:nvSpPr>
        <p:spPr>
          <a:xfrm>
            <a:off x="4953000" y="1600200"/>
            <a:ext cx="3048000" cy="180975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28" name="stage-accent"/>
          <p:cNvSpPr>
            <a:spLocks noGrp="1"/>
          </p:cNvSpPr>
          <p:nvPr/>
        </p:nvSpPr>
        <p:spPr>
          <a:xfrm>
            <a:off x="4953000" y="1600200"/>
            <a:ext cx="304800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9" name="stage-number"/>
          <p:cNvSpPr>
            <a:spLocks noGrp="1"/>
          </p:cNvSpPr>
          <p:nvPr/>
        </p:nvSpPr>
        <p:spPr>
          <a:xfrm>
            <a:off x="5105400" y="170497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tage-title"/>
          <p:cNvSpPr>
            <a:spLocks noGrp="1"/>
          </p:cNvSpPr>
          <p:nvPr/>
        </p:nvSpPr>
        <p:spPr>
          <a:xfrm>
            <a:off x="5467350" y="1685925"/>
            <a:ext cx="876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</a:t>
            </a:r>
            <a:endParaRPr sz="180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tage-subtitle"/>
          <p:cNvSpPr>
            <a:spLocks noGrp="1"/>
          </p:cNvSpPr>
          <p:nvPr/>
        </p:nvSpPr>
        <p:spPr>
          <a:xfrm>
            <a:off x="6838950" y="1704975"/>
            <a:ext cx="1009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3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阶段拆分</a:t>
            </a:r>
            <a:endParaRPr sz="131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contract-card"/>
          <p:cNvSpPr>
            <a:spLocks noGrp="1"/>
          </p:cNvSpPr>
          <p:nvPr/>
        </p:nvSpPr>
        <p:spPr>
          <a:xfrm>
            <a:off x="8153400" y="1600200"/>
            <a:ext cx="3429000" cy="180975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33" name="contract-accent"/>
          <p:cNvSpPr>
            <a:spLocks noGrp="1"/>
          </p:cNvSpPr>
          <p:nvPr/>
        </p:nvSpPr>
        <p:spPr>
          <a:xfrm>
            <a:off x="8153400" y="1600200"/>
            <a:ext cx="342900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34" name="contract-number"/>
          <p:cNvSpPr>
            <a:spLocks noGrp="1"/>
          </p:cNvSpPr>
          <p:nvPr/>
        </p:nvSpPr>
        <p:spPr>
          <a:xfrm>
            <a:off x="8305800" y="170497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contract-title"/>
          <p:cNvSpPr>
            <a:spLocks noGrp="1"/>
          </p:cNvSpPr>
          <p:nvPr/>
        </p:nvSpPr>
        <p:spPr>
          <a:xfrm>
            <a:off x="8667750" y="1685925"/>
            <a:ext cx="1752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9651"/>
          </a:bodyPr>
          <a:lstStyle/>
          <a:p>
            <a:pPr algn="l">
              <a:defRPr sz="15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 &amp; Handoff</a:t>
            </a:r>
            <a:endParaRPr sz="154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contract-subtitle"/>
          <p:cNvSpPr>
            <a:spLocks noGrp="1"/>
          </p:cNvSpPr>
          <p:nvPr/>
        </p:nvSpPr>
        <p:spPr>
          <a:xfrm>
            <a:off x="10496550" y="1704975"/>
            <a:ext cx="933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契约与交接</a:t>
            </a:r>
            <a:endParaRPr sz="12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gate-card"/>
          <p:cNvSpPr>
            <a:spLocks noGrp="1"/>
          </p:cNvSpPr>
          <p:nvPr/>
        </p:nvSpPr>
        <p:spPr>
          <a:xfrm>
            <a:off x="4953000" y="3543300"/>
            <a:ext cx="3048000" cy="2362200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38" name="gate-accent"/>
          <p:cNvSpPr>
            <a:spLocks noGrp="1"/>
          </p:cNvSpPr>
          <p:nvPr/>
        </p:nvSpPr>
        <p:spPr>
          <a:xfrm>
            <a:off x="4953000" y="3543300"/>
            <a:ext cx="304800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39" name="gate-number"/>
          <p:cNvSpPr>
            <a:spLocks noGrp="1"/>
          </p:cNvSpPr>
          <p:nvPr/>
        </p:nvSpPr>
        <p:spPr>
          <a:xfrm>
            <a:off x="5105400" y="364807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gate-title"/>
          <p:cNvSpPr>
            <a:spLocks noGrp="1"/>
          </p:cNvSpPr>
          <p:nvPr/>
        </p:nvSpPr>
        <p:spPr>
          <a:xfrm>
            <a:off x="5467350" y="3629025"/>
            <a:ext cx="838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</a:t>
            </a:r>
            <a:endParaRPr sz="180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gate-subtitle"/>
          <p:cNvSpPr>
            <a:spLocks noGrp="1"/>
          </p:cNvSpPr>
          <p:nvPr/>
        </p:nvSpPr>
        <p:spPr>
          <a:xfrm>
            <a:off x="6838950" y="3648075"/>
            <a:ext cx="1009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3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阶段门禁</a:t>
            </a:r>
            <a:endParaRPr sz="131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flow-card"/>
          <p:cNvSpPr>
            <a:spLocks noGrp="1"/>
          </p:cNvSpPr>
          <p:nvPr/>
        </p:nvSpPr>
        <p:spPr>
          <a:xfrm>
            <a:off x="8153400" y="3543300"/>
            <a:ext cx="3429000" cy="2362200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43" name="flow-accent"/>
          <p:cNvSpPr>
            <a:spLocks noGrp="1"/>
          </p:cNvSpPr>
          <p:nvPr/>
        </p:nvSpPr>
        <p:spPr>
          <a:xfrm>
            <a:off x="8153400" y="3543300"/>
            <a:ext cx="342900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44" name="flow-number"/>
          <p:cNvSpPr>
            <a:spLocks noGrp="1"/>
          </p:cNvSpPr>
          <p:nvPr/>
        </p:nvSpPr>
        <p:spPr>
          <a:xfrm>
            <a:off x="8305800" y="364807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flow-title"/>
          <p:cNvSpPr>
            <a:spLocks noGrp="1"/>
          </p:cNvSpPr>
          <p:nvPr/>
        </p:nvSpPr>
        <p:spPr>
          <a:xfrm>
            <a:off x="8667750" y="3629025"/>
            <a:ext cx="1314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 Control</a:t>
            </a:r>
            <a:endParaRPr sz="15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stage-input-line"/>
          <p:cNvSpPr>
            <a:spLocks noGrp="1"/>
          </p:cNvSpPr>
          <p:nvPr/>
        </p:nvSpPr>
        <p:spPr>
          <a:xfrm>
            <a:off x="5667375" y="2085975"/>
            <a:ext cx="0" cy="114300"/>
          </a:xfrm>
          <a:prstGeom prst="line">
            <a:avLst/>
          </a:prstGeom>
          <a:noFill/>
          <a:ln w="12383">
            <a:solidFill>
              <a:srgbClr val="557A96"/>
            </a:solidFill>
            <a:prstDash val="solid"/>
          </a:ln>
        </p:spPr>
      </p:sp>
      <p:sp>
        <p:nvSpPr>
          <p:cNvPr id="48" name="stage-input-arrow"/>
          <p:cNvSpPr>
            <a:spLocks noGrp="1"/>
          </p:cNvSpPr>
          <p:nvPr/>
        </p:nvSpPr>
        <p:spPr>
          <a:xfrm rot="10800000">
            <a:off x="5629275" y="21621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49" name="stage-a-b-line"/>
          <p:cNvSpPr>
            <a:spLocks noGrp="1"/>
          </p:cNvSpPr>
          <p:nvPr/>
        </p:nvSpPr>
        <p:spPr>
          <a:xfrm>
            <a:off x="5667375" y="2457450"/>
            <a:ext cx="0" cy="142875"/>
          </a:xfrm>
          <a:prstGeom prst="line">
            <a:avLst/>
          </a:prstGeom>
          <a:noFill/>
          <a:ln w="12383">
            <a:solidFill>
              <a:srgbClr val="557A96"/>
            </a:solidFill>
            <a:prstDash val="solid"/>
          </a:ln>
        </p:spPr>
      </p:sp>
      <p:sp>
        <p:nvSpPr>
          <p:cNvPr id="50" name="stage-a-b-arrow"/>
          <p:cNvSpPr>
            <a:spLocks noGrp="1"/>
          </p:cNvSpPr>
          <p:nvPr/>
        </p:nvSpPr>
        <p:spPr>
          <a:xfrm rot="10800000">
            <a:off x="5629275" y="256222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51" name="stage-b-c-line"/>
          <p:cNvSpPr>
            <a:spLocks noGrp="1"/>
          </p:cNvSpPr>
          <p:nvPr/>
        </p:nvSpPr>
        <p:spPr>
          <a:xfrm>
            <a:off x="5667375" y="2828925"/>
            <a:ext cx="0" cy="142875"/>
          </a:xfrm>
          <a:prstGeom prst="line">
            <a:avLst/>
          </a:prstGeom>
          <a:noFill/>
          <a:ln w="12383">
            <a:solidFill>
              <a:srgbClr val="557A96"/>
            </a:solidFill>
            <a:prstDash val="solid"/>
          </a:ln>
        </p:spPr>
      </p:sp>
      <p:sp>
        <p:nvSpPr>
          <p:cNvPr id="52" name="stage-b-c-arrow"/>
          <p:cNvSpPr>
            <a:spLocks noGrp="1"/>
          </p:cNvSpPr>
          <p:nvPr/>
        </p:nvSpPr>
        <p:spPr>
          <a:xfrm rot="10800000">
            <a:off x="5629275" y="29337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53" name="stage-input"/>
          <p:cNvSpPr>
            <a:spLocks noGrp="1"/>
          </p:cNvSpPr>
          <p:nvPr/>
        </p:nvSpPr>
        <p:spPr>
          <a:xfrm>
            <a:off x="5372100" y="1933575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endParaRPr sz="120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stage-a-box"/>
          <p:cNvSpPr>
            <a:spLocks noGrp="1"/>
          </p:cNvSpPr>
          <p:nvPr/>
        </p:nvSpPr>
        <p:spPr>
          <a:xfrm>
            <a:off x="5219700" y="2200275"/>
            <a:ext cx="895350" cy="257175"/>
          </a:xfrm>
          <a:prstGeom prst="roundRect">
            <a:avLst>
              <a:gd name="adj" fmla="val 18519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5" name="stage-a-text"/>
          <p:cNvSpPr>
            <a:spLocks noGrp="1"/>
          </p:cNvSpPr>
          <p:nvPr/>
        </p:nvSpPr>
        <p:spPr>
          <a:xfrm>
            <a:off x="5267325" y="2219325"/>
            <a:ext cx="800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A</a:t>
            </a:r>
            <a:endParaRPr sz="12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stage-b-box"/>
          <p:cNvSpPr>
            <a:spLocks noGrp="1"/>
          </p:cNvSpPr>
          <p:nvPr/>
        </p:nvSpPr>
        <p:spPr>
          <a:xfrm>
            <a:off x="5219700" y="2571750"/>
            <a:ext cx="895350" cy="257175"/>
          </a:xfrm>
          <a:prstGeom prst="roundRect">
            <a:avLst>
              <a:gd name="adj" fmla="val 18519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7" name="stage-b-text"/>
          <p:cNvSpPr>
            <a:spLocks noGrp="1"/>
          </p:cNvSpPr>
          <p:nvPr/>
        </p:nvSpPr>
        <p:spPr>
          <a:xfrm>
            <a:off x="5267325" y="2590800"/>
            <a:ext cx="800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B</a:t>
            </a:r>
            <a:endParaRPr sz="12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stage-c-box"/>
          <p:cNvSpPr>
            <a:spLocks noGrp="1"/>
          </p:cNvSpPr>
          <p:nvPr/>
        </p:nvSpPr>
        <p:spPr>
          <a:xfrm>
            <a:off x="5219700" y="2943225"/>
            <a:ext cx="895350" cy="257175"/>
          </a:xfrm>
          <a:prstGeom prst="roundRect">
            <a:avLst>
              <a:gd name="adj" fmla="val 18519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9" name="stage-c-text"/>
          <p:cNvSpPr>
            <a:spLocks noGrp="1"/>
          </p:cNvSpPr>
          <p:nvPr/>
        </p:nvSpPr>
        <p:spPr>
          <a:xfrm>
            <a:off x="5267325" y="2962275"/>
            <a:ext cx="800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C</a:t>
            </a:r>
            <a:endParaRPr sz="12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stage-definition"/>
          <p:cNvSpPr>
            <a:spLocks noGrp="1"/>
          </p:cNvSpPr>
          <p:nvPr/>
        </p:nvSpPr>
        <p:spPr>
          <a:xfrm>
            <a:off x="6286500" y="209550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771"/>
          </a:bodyPr>
          <a:lstStyle/>
          <a:p>
            <a:pPr algn="l">
              <a:defRPr sz="127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将复杂任务拆成职责明确、顺序可控的执行阶段。</a:t>
            </a:r>
            <a:endParaRPr sz="127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stage-keywords"/>
          <p:cNvSpPr>
            <a:spLocks noGrp="1"/>
          </p:cNvSpPr>
          <p:nvPr/>
        </p:nvSpPr>
        <p:spPr>
          <a:xfrm>
            <a:off x="6286500" y="2676525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87507"/>
          </a:bodyPr>
          <a:lstStyle/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明确职责</a:t>
            </a:r>
            <a:endParaRPr sz="12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明确顺序</a:t>
            </a:r>
            <a:endParaRPr sz="12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明确产物</a:t>
            </a:r>
            <a:endParaRPr sz="12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stage-answer-band"/>
          <p:cNvSpPr>
            <a:spLocks noGrp="1"/>
          </p:cNvSpPr>
          <p:nvPr/>
        </p:nvSpPr>
        <p:spPr>
          <a:xfrm>
            <a:off x="5067300" y="3209925"/>
            <a:ext cx="2819400" cy="152400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63" name="stage-answer"/>
          <p:cNvSpPr>
            <a:spLocks noGrp="1"/>
          </p:cNvSpPr>
          <p:nvPr/>
        </p:nvSpPr>
        <p:spPr>
          <a:xfrm>
            <a:off x="5181600" y="3209925"/>
            <a:ext cx="2590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8889"/>
          </a:bodyPr>
          <a:lstStyle/>
          <a:p>
            <a:pPr algn="l">
              <a:defRPr sz="11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回答：任务怎么拆？</a:t>
            </a:r>
            <a:endParaRPr sz="112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contract-a-artifact-line"/>
          <p:cNvSpPr>
            <a:spLocks noGrp="1"/>
          </p:cNvSpPr>
          <p:nvPr/>
        </p:nvSpPr>
        <p:spPr>
          <a:xfrm>
            <a:off x="9220200" y="2305050"/>
            <a:ext cx="238125" cy="0"/>
          </a:xfrm>
          <a:prstGeom prst="line">
            <a:avLst/>
          </a:prstGeom>
          <a:noFill/>
          <a:ln w="12383">
            <a:solidFill>
              <a:srgbClr val="557A96"/>
            </a:solidFill>
            <a:prstDash val="solid"/>
          </a:ln>
        </p:spPr>
      </p:sp>
      <p:sp>
        <p:nvSpPr>
          <p:cNvPr id="65" name="contract-a-artifact-arrow"/>
          <p:cNvSpPr>
            <a:spLocks noGrp="1"/>
          </p:cNvSpPr>
          <p:nvPr/>
        </p:nvSpPr>
        <p:spPr>
          <a:xfrm rot="5400000">
            <a:off x="9420225" y="22669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6" name="contract-artifact-b-line"/>
          <p:cNvSpPr>
            <a:spLocks noGrp="1"/>
          </p:cNvSpPr>
          <p:nvPr/>
        </p:nvSpPr>
        <p:spPr>
          <a:xfrm>
            <a:off x="10420350" y="2305050"/>
            <a:ext cx="209550" cy="0"/>
          </a:xfrm>
          <a:prstGeom prst="line">
            <a:avLst/>
          </a:prstGeom>
          <a:noFill/>
          <a:ln w="12383">
            <a:solidFill>
              <a:srgbClr val="557A96"/>
            </a:solidFill>
            <a:prstDash val="solid"/>
          </a:ln>
        </p:spPr>
      </p:sp>
      <p:sp>
        <p:nvSpPr>
          <p:cNvPr id="67" name="contract-artifact-b-arrow"/>
          <p:cNvSpPr>
            <a:spLocks noGrp="1"/>
          </p:cNvSpPr>
          <p:nvPr/>
        </p:nvSpPr>
        <p:spPr>
          <a:xfrm rot="5400000">
            <a:off x="10591800" y="22669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8" name="output-contract-label"/>
          <p:cNvSpPr>
            <a:spLocks noGrp="1"/>
          </p:cNvSpPr>
          <p:nvPr/>
        </p:nvSpPr>
        <p:spPr>
          <a:xfrm>
            <a:off x="8982075" y="19812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Contract</a:t>
            </a:r>
            <a:endParaRPr sz="101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input-contract-label"/>
          <p:cNvSpPr>
            <a:spLocks noGrp="1"/>
          </p:cNvSpPr>
          <p:nvPr/>
        </p:nvSpPr>
        <p:spPr>
          <a:xfrm>
            <a:off x="10153650" y="198120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 Contract</a:t>
            </a:r>
            <a:endParaRPr sz="101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contract-stage-a-box"/>
          <p:cNvSpPr>
            <a:spLocks noGrp="1"/>
          </p:cNvSpPr>
          <p:nvPr/>
        </p:nvSpPr>
        <p:spPr>
          <a:xfrm>
            <a:off x="8362950" y="2133600"/>
            <a:ext cx="857250" cy="457200"/>
          </a:xfrm>
          <a:prstGeom prst="roundRect">
            <a:avLst>
              <a:gd name="adj" fmla="val 10417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1" name="contract-stage-a-text"/>
          <p:cNvSpPr>
            <a:spLocks noGrp="1"/>
          </p:cNvSpPr>
          <p:nvPr/>
        </p:nvSpPr>
        <p:spPr>
          <a:xfrm>
            <a:off x="8410575" y="215265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47451"/>
          </a:bodyPr>
          <a:lstStyle/>
          <a:p>
            <a:pPr algn="ctr">
              <a:defRPr sz="10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A</a:t>
            </a:r>
            <a:endParaRPr sz="10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 · Action · Output</a:t>
            </a:r>
            <a:endParaRPr sz="10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contract-artifact-box"/>
          <p:cNvSpPr>
            <a:spLocks noGrp="1"/>
          </p:cNvSpPr>
          <p:nvPr/>
        </p:nvSpPr>
        <p:spPr>
          <a:xfrm>
            <a:off x="9467850" y="2133600"/>
            <a:ext cx="952500" cy="457200"/>
          </a:xfrm>
          <a:prstGeom prst="roundRect">
            <a:avLst>
              <a:gd name="adj" fmla="val 10417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3" name="contract-artifact-text"/>
          <p:cNvSpPr>
            <a:spLocks noGrp="1"/>
          </p:cNvSpPr>
          <p:nvPr/>
        </p:nvSpPr>
        <p:spPr>
          <a:xfrm>
            <a:off x="9515475" y="2152650"/>
            <a:ext cx="85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75658"/>
          </a:bodyPr>
          <a:lstStyle/>
          <a:p>
            <a:pPr algn="ctr">
              <a:def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Artifact</a:t>
            </a:r>
            <a:endParaRPr sz="109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file · json · code</a:t>
            </a:r>
            <a:endParaRPr sz="109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contract-stage-b-box"/>
          <p:cNvSpPr>
            <a:spLocks noGrp="1"/>
          </p:cNvSpPr>
          <p:nvPr/>
        </p:nvSpPr>
        <p:spPr>
          <a:xfrm>
            <a:off x="10648950" y="2133600"/>
            <a:ext cx="742950" cy="457200"/>
          </a:xfrm>
          <a:prstGeom prst="roundRect">
            <a:avLst>
              <a:gd name="adj" fmla="val 10417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5" name="contract-stage-b-text"/>
          <p:cNvSpPr>
            <a:spLocks noGrp="1"/>
          </p:cNvSpPr>
          <p:nvPr/>
        </p:nvSpPr>
        <p:spPr>
          <a:xfrm>
            <a:off x="10696575" y="21526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B</a:t>
            </a:r>
            <a:endParaRPr sz="120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contract-concept"/>
          <p:cNvSpPr>
            <a:spLocks noGrp="1"/>
          </p:cNvSpPr>
          <p:nvPr/>
        </p:nvSpPr>
        <p:spPr>
          <a:xfrm>
            <a:off x="8362950" y="2657475"/>
            <a:ext cx="30289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  接受什么 / 必须产生什么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artifact-concept"/>
          <p:cNvSpPr>
            <a:spLocks noGrp="1"/>
          </p:cNvSpPr>
          <p:nvPr/>
        </p:nvSpPr>
        <p:spPr>
          <a:xfrm>
            <a:off x="8362950" y="2847975"/>
            <a:ext cx="30289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Artifact   文件或结构化结果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handoff-concept"/>
          <p:cNvSpPr>
            <a:spLocks noGrp="1"/>
          </p:cNvSpPr>
          <p:nvPr/>
        </p:nvSpPr>
        <p:spPr>
          <a:xfrm>
            <a:off x="8362950" y="3038475"/>
            <a:ext cx="30289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Handoff  交给下一阶段继续处理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contract-example-band"/>
          <p:cNvSpPr>
            <a:spLocks noGrp="1"/>
          </p:cNvSpPr>
          <p:nvPr/>
        </p:nvSpPr>
        <p:spPr>
          <a:xfrm>
            <a:off x="8267700" y="3200400"/>
            <a:ext cx="3200400" cy="152400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80" name="contract-example"/>
          <p:cNvSpPr>
            <a:spLocks noGrp="1"/>
          </p:cNvSpPr>
          <p:nvPr/>
        </p:nvSpPr>
        <p:spPr>
          <a:xfrm>
            <a:off x="8362950" y="3200400"/>
            <a:ext cx="3009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717"/>
          </a:bodyPr>
          <a:lstStyle/>
          <a:p>
            <a:pPr algn="ctr">
              <a:def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示例：需求分析 → requirement.md → 代码生成</a:t>
            </a:r>
            <a:endParaRPr sz="101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gate-validation-line"/>
          <p:cNvSpPr>
            <a:spLocks noGrp="1"/>
          </p:cNvSpPr>
          <p:nvPr/>
        </p:nvSpPr>
        <p:spPr>
          <a:xfrm>
            <a:off x="6477000" y="4010025"/>
            <a:ext cx="0" cy="133350"/>
          </a:xfrm>
          <a:prstGeom prst="line">
            <a:avLst/>
          </a:prstGeom>
          <a:noFill/>
          <a:ln w="12383">
            <a:solidFill>
              <a:srgbClr val="557A96"/>
            </a:solidFill>
            <a:prstDash val="solid"/>
          </a:ln>
        </p:spPr>
      </p:sp>
      <p:sp>
        <p:nvSpPr>
          <p:cNvPr id="82" name="gate-validation-arrow"/>
          <p:cNvSpPr>
            <a:spLocks noGrp="1"/>
          </p:cNvSpPr>
          <p:nvPr/>
        </p:nvSpPr>
        <p:spPr>
          <a:xfrm rot="10800000">
            <a:off x="6438900" y="41052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83" name="gate-down-line"/>
          <p:cNvSpPr>
            <a:spLocks noGrp="1"/>
          </p:cNvSpPr>
          <p:nvPr/>
        </p:nvSpPr>
        <p:spPr>
          <a:xfrm>
            <a:off x="6477000" y="4438650"/>
            <a:ext cx="0" cy="114300"/>
          </a:xfrm>
          <a:prstGeom prst="line">
            <a:avLst/>
          </a:prstGeom>
          <a:noFill/>
          <a:ln w="12383">
            <a:solidFill>
              <a:srgbClr val="557A96"/>
            </a:solidFill>
            <a:prstDash val="solid"/>
          </a:ln>
        </p:spPr>
      </p:sp>
      <p:sp>
        <p:nvSpPr>
          <p:cNvPr id="84" name="gate-branch-line"/>
          <p:cNvSpPr>
            <a:spLocks noGrp="1"/>
          </p:cNvSpPr>
          <p:nvPr/>
        </p:nvSpPr>
        <p:spPr>
          <a:xfrm>
            <a:off x="5619750" y="4552950"/>
            <a:ext cx="1714500" cy="0"/>
          </a:xfrm>
          <a:prstGeom prst="line">
            <a:avLst/>
          </a:prstGeom>
          <a:noFill/>
          <a:ln w="12383">
            <a:solidFill>
              <a:srgbClr val="557A96"/>
            </a:solidFill>
            <a:prstDash val="solid"/>
          </a:ln>
        </p:spPr>
      </p:sp>
      <p:sp>
        <p:nvSpPr>
          <p:cNvPr id="85" name="gate-pass-line"/>
          <p:cNvSpPr>
            <a:spLocks noGrp="1"/>
          </p:cNvSpPr>
          <p:nvPr/>
        </p:nvSpPr>
        <p:spPr>
          <a:xfrm>
            <a:off x="5619750" y="4552950"/>
            <a:ext cx="0" cy="95250"/>
          </a:xfrm>
          <a:prstGeom prst="line">
            <a:avLst/>
          </a:prstGeom>
          <a:noFill/>
          <a:ln w="12383">
            <a:solidFill>
              <a:srgbClr val="557A96"/>
            </a:solidFill>
            <a:prstDash val="solid"/>
          </a:ln>
        </p:spPr>
      </p:sp>
      <p:sp>
        <p:nvSpPr>
          <p:cNvPr id="86" name="gate-pass-arrow"/>
          <p:cNvSpPr>
            <a:spLocks noGrp="1"/>
          </p:cNvSpPr>
          <p:nvPr/>
        </p:nvSpPr>
        <p:spPr>
          <a:xfrm rot="10800000">
            <a:off x="5581650" y="46101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87" name="gate-fail-line"/>
          <p:cNvSpPr>
            <a:spLocks noGrp="1"/>
          </p:cNvSpPr>
          <p:nvPr/>
        </p:nvSpPr>
        <p:spPr>
          <a:xfrm>
            <a:off x="7334250" y="4552950"/>
            <a:ext cx="0" cy="95250"/>
          </a:xfrm>
          <a:prstGeom prst="line">
            <a:avLst/>
          </a:prstGeom>
          <a:noFill/>
          <a:ln w="12383">
            <a:solidFill>
              <a:srgbClr val="557A96"/>
            </a:solidFill>
            <a:prstDash val="solid"/>
          </a:ln>
        </p:spPr>
      </p:sp>
      <p:sp>
        <p:nvSpPr>
          <p:cNvPr id="88" name="gate-fail-arrow"/>
          <p:cNvSpPr>
            <a:spLocks noGrp="1"/>
          </p:cNvSpPr>
          <p:nvPr/>
        </p:nvSpPr>
        <p:spPr>
          <a:xfrm rot="10800000">
            <a:off x="7296150" y="46101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89" name="gate-validation"/>
          <p:cNvSpPr>
            <a:spLocks noGrp="1"/>
          </p:cNvSpPr>
          <p:nvPr/>
        </p:nvSpPr>
        <p:spPr>
          <a:xfrm>
            <a:off x="6048375" y="385762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</a:t>
            </a:r>
            <a:endParaRPr sz="120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gate-node-box"/>
          <p:cNvSpPr>
            <a:spLocks noGrp="1"/>
          </p:cNvSpPr>
          <p:nvPr/>
        </p:nvSpPr>
        <p:spPr>
          <a:xfrm>
            <a:off x="6000750" y="4162425"/>
            <a:ext cx="952500" cy="285750"/>
          </a:xfrm>
          <a:prstGeom prst="roundRect">
            <a:avLst>
              <a:gd name="adj" fmla="val 16667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91" name="gate-node-text"/>
          <p:cNvSpPr>
            <a:spLocks noGrp="1"/>
          </p:cNvSpPr>
          <p:nvPr/>
        </p:nvSpPr>
        <p:spPr>
          <a:xfrm>
            <a:off x="6048375" y="4181475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gate-pass-box"/>
          <p:cNvSpPr>
            <a:spLocks noGrp="1"/>
          </p:cNvSpPr>
          <p:nvPr/>
        </p:nvSpPr>
        <p:spPr>
          <a:xfrm>
            <a:off x="5219700" y="4657725"/>
            <a:ext cx="800100" cy="266700"/>
          </a:xfrm>
          <a:prstGeom prst="roundRect">
            <a:avLst>
              <a:gd name="adj" fmla="val 17857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93" name="gate-pass-text"/>
          <p:cNvSpPr>
            <a:spLocks noGrp="1"/>
          </p:cNvSpPr>
          <p:nvPr/>
        </p:nvSpPr>
        <p:spPr>
          <a:xfrm>
            <a:off x="5267325" y="4676775"/>
            <a:ext cx="704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PASS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gate-fail-box"/>
          <p:cNvSpPr>
            <a:spLocks noGrp="1"/>
          </p:cNvSpPr>
          <p:nvPr/>
        </p:nvSpPr>
        <p:spPr>
          <a:xfrm>
            <a:off x="6934200" y="4657725"/>
            <a:ext cx="800100" cy="266700"/>
          </a:xfrm>
          <a:prstGeom prst="roundRect">
            <a:avLst>
              <a:gd name="adj" fmla="val 17857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95" name="gate-fail-text"/>
          <p:cNvSpPr>
            <a:spLocks noGrp="1"/>
          </p:cNvSpPr>
          <p:nvPr/>
        </p:nvSpPr>
        <p:spPr>
          <a:xfrm>
            <a:off x="6981825" y="4676775"/>
            <a:ext cx="704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gate-next"/>
          <p:cNvSpPr>
            <a:spLocks noGrp="1"/>
          </p:cNvSpPr>
          <p:nvPr/>
        </p:nvSpPr>
        <p:spPr>
          <a:xfrm>
            <a:off x="5162550" y="4943475"/>
            <a:ext cx="9144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 Stage</a:t>
            </a:r>
            <a:endParaRPr sz="112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gate-retry"/>
          <p:cNvSpPr>
            <a:spLocks noGrp="1"/>
          </p:cNvSpPr>
          <p:nvPr/>
        </p:nvSpPr>
        <p:spPr>
          <a:xfrm>
            <a:off x="6667500" y="4943475"/>
            <a:ext cx="1333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Retry / Fallback</a:t>
            </a:r>
            <a:endParaRPr sz="112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gate-definition"/>
          <p:cNvSpPr>
            <a:spLocks noGrp="1"/>
          </p:cNvSpPr>
          <p:nvPr/>
        </p:nvSpPr>
        <p:spPr>
          <a:xfrm>
            <a:off x="5143500" y="5153025"/>
            <a:ext cx="2667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4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进入下一阶段前必须满足判断条件。</a:t>
            </a:r>
            <a:endParaRPr sz="124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gate-examples"/>
          <p:cNvSpPr>
            <a:spLocks noGrp="1"/>
          </p:cNvSpPr>
          <p:nvPr/>
        </p:nvSpPr>
        <p:spPr>
          <a:xfrm>
            <a:off x="5143500" y="53530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文件存在？ · 执行成功？ · 结果合格？</a:t>
            </a:r>
            <a:endParaRPr sz="116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gate-rule-band"/>
          <p:cNvSpPr>
            <a:spLocks noGrp="1"/>
          </p:cNvSpPr>
          <p:nvPr/>
        </p:nvSpPr>
        <p:spPr>
          <a:xfrm>
            <a:off x="5067300" y="5610225"/>
            <a:ext cx="2819400" cy="219075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101" name="gate-rule"/>
          <p:cNvSpPr>
            <a:spLocks noGrp="1"/>
          </p:cNvSpPr>
          <p:nvPr/>
        </p:nvSpPr>
        <p:spPr>
          <a:xfrm>
            <a:off x="5162550" y="5610225"/>
            <a:ext cx="2628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 未通过，不允许进入下一阶段。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routing-label-box"/>
          <p:cNvSpPr>
            <a:spLocks noGrp="1"/>
          </p:cNvSpPr>
          <p:nvPr/>
        </p:nvSpPr>
        <p:spPr>
          <a:xfrm>
            <a:off x="8324850" y="3990975"/>
            <a:ext cx="742950" cy="409575"/>
          </a:xfrm>
          <a:prstGeom prst="roundRect">
            <a:avLst>
              <a:gd name="adj" fmla="val 11628"/>
            </a:avLst>
          </a:prstGeom>
          <a:solidFill>
            <a:srgbClr val="F2F6F8"/>
          </a:solidFill>
          <a:ln w="7620">
            <a:solidFill>
              <a:srgbClr val="D8DEE3"/>
            </a:solidFill>
            <a:prstDash val="solid"/>
          </a:ln>
        </p:spPr>
      </p:sp>
      <p:sp>
        <p:nvSpPr>
          <p:cNvPr id="103" name="routing-label"/>
          <p:cNvSpPr>
            <a:spLocks noGrp="1"/>
          </p:cNvSpPr>
          <p:nvPr/>
        </p:nvSpPr>
        <p:spPr>
          <a:xfrm>
            <a:off x="8401050" y="405765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6231"/>
          </a:bodyPr>
          <a:lstStyle/>
          <a:p>
            <a:pPr algn="ctr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Routing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routing-diagram"/>
          <p:cNvSpPr>
            <a:spLocks noGrp="1"/>
          </p:cNvSpPr>
          <p:nvPr/>
        </p:nvSpPr>
        <p:spPr>
          <a:xfrm>
            <a:off x="9201150" y="401002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715"/>
          </a:bodyPr>
          <a:lstStyle/>
          <a:p>
            <a:pPr algn="l">
              <a:defRPr sz="12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Condition → Path A / Path B</a:t>
            </a:r>
            <a:endParaRPr sz="12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routing-description"/>
          <p:cNvSpPr>
            <a:spLocks noGrp="1"/>
          </p:cNvSpPr>
          <p:nvPr/>
        </p:nvSpPr>
        <p:spPr>
          <a:xfrm>
            <a:off x="9201150" y="41910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按条件选择下一条执行路径</a:t>
            </a:r>
            <a:endParaRPr sz="118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retry-label-box"/>
          <p:cNvSpPr>
            <a:spLocks noGrp="1"/>
          </p:cNvSpPr>
          <p:nvPr/>
        </p:nvSpPr>
        <p:spPr>
          <a:xfrm>
            <a:off x="8324850" y="4486275"/>
            <a:ext cx="742950" cy="409575"/>
          </a:xfrm>
          <a:prstGeom prst="roundRect">
            <a:avLst>
              <a:gd name="adj" fmla="val 11628"/>
            </a:avLst>
          </a:prstGeom>
          <a:solidFill>
            <a:srgbClr val="F2F6F8"/>
          </a:solidFill>
          <a:ln w="7620">
            <a:solidFill>
              <a:srgbClr val="D8DEE3"/>
            </a:solidFill>
            <a:prstDash val="solid"/>
          </a:ln>
        </p:spPr>
      </p:sp>
      <p:sp>
        <p:nvSpPr>
          <p:cNvPr id="107" name="retry-label"/>
          <p:cNvSpPr>
            <a:spLocks noGrp="1"/>
          </p:cNvSpPr>
          <p:nvPr/>
        </p:nvSpPr>
        <p:spPr>
          <a:xfrm>
            <a:off x="8401050" y="455295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Retry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retry-diagram"/>
          <p:cNvSpPr>
            <a:spLocks noGrp="1"/>
          </p:cNvSpPr>
          <p:nvPr/>
        </p:nvSpPr>
        <p:spPr>
          <a:xfrm>
            <a:off x="9201150" y="450532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039"/>
          </a:bodyPr>
          <a:lstStyle/>
          <a:p>
            <a:pPr algn="l">
              <a:defRPr sz="12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B  FAIL  ↺</a:t>
            </a:r>
            <a:endParaRPr sz="12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etry-description"/>
          <p:cNvSpPr>
            <a:spLocks noGrp="1"/>
          </p:cNvSpPr>
          <p:nvPr/>
        </p:nvSpPr>
        <p:spPr>
          <a:xfrm>
            <a:off x="9201150" y="46863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失败后重新执行当前阶段</a:t>
            </a:r>
            <a:endParaRPr sz="118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fallback-label-box"/>
          <p:cNvSpPr>
            <a:spLocks noGrp="1"/>
          </p:cNvSpPr>
          <p:nvPr/>
        </p:nvSpPr>
        <p:spPr>
          <a:xfrm>
            <a:off x="8324850" y="4981575"/>
            <a:ext cx="742950" cy="409575"/>
          </a:xfrm>
          <a:prstGeom prst="roundRect">
            <a:avLst>
              <a:gd name="adj" fmla="val 11628"/>
            </a:avLst>
          </a:prstGeom>
          <a:solidFill>
            <a:srgbClr val="F2F6F8"/>
          </a:solidFill>
          <a:ln w="7620">
            <a:solidFill>
              <a:srgbClr val="D8DEE3"/>
            </a:solidFill>
            <a:prstDash val="solid"/>
          </a:ln>
        </p:spPr>
      </p:sp>
      <p:sp>
        <p:nvSpPr>
          <p:cNvPr id="111" name="fallback-label"/>
          <p:cNvSpPr>
            <a:spLocks noGrp="1"/>
          </p:cNvSpPr>
          <p:nvPr/>
        </p:nvSpPr>
        <p:spPr>
          <a:xfrm>
            <a:off x="8401050" y="504825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5614"/>
          </a:bodyPr>
          <a:lstStyle/>
          <a:p>
            <a:pPr algn="ctr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Fallback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fallback-diagram"/>
          <p:cNvSpPr>
            <a:spLocks noGrp="1"/>
          </p:cNvSpPr>
          <p:nvPr/>
        </p:nvSpPr>
        <p:spPr>
          <a:xfrm>
            <a:off x="9201150" y="500062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039"/>
          </a:bodyPr>
          <a:lstStyle/>
          <a:p>
            <a:pPr algn="l">
              <a:defRPr sz="12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C  FAIL  →  Stage B</a:t>
            </a:r>
            <a:endParaRPr sz="12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fallback-description"/>
          <p:cNvSpPr>
            <a:spLocks noGrp="1"/>
          </p:cNvSpPr>
          <p:nvPr/>
        </p:nvSpPr>
        <p:spPr>
          <a:xfrm>
            <a:off x="9201150" y="51816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无法继续时返回前一阶段</a:t>
            </a:r>
            <a:endParaRPr sz="118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flow-rule-band"/>
          <p:cNvSpPr>
            <a:spLocks noGrp="1"/>
          </p:cNvSpPr>
          <p:nvPr/>
        </p:nvSpPr>
        <p:spPr>
          <a:xfrm>
            <a:off x="8267700" y="5543550"/>
            <a:ext cx="3200400" cy="285750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115" name="flow-rule"/>
          <p:cNvSpPr>
            <a:spLocks noGrp="1"/>
          </p:cNvSpPr>
          <p:nvPr/>
        </p:nvSpPr>
        <p:spPr>
          <a:xfrm>
            <a:off x="8362950" y="5553075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55726"/>
          </a:bodyPr>
          <a:lstStyle/>
          <a:p>
            <a:pPr algn="ctr">
              <a:defRPr sz="111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 决定能否继续；Routing 决定往哪里走；Retry / Fallback 决定失败后怎么办。</a:t>
            </a:r>
            <a:endParaRPr sz="111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summary-band"/>
          <p:cNvSpPr>
            <a:spLocks noGrp="1"/>
          </p:cNvSpPr>
          <p:nvPr/>
        </p:nvSpPr>
        <p:spPr>
          <a:xfrm>
            <a:off x="609600" y="6191250"/>
            <a:ext cx="10972800" cy="419100"/>
          </a:xfrm>
          <a:prstGeom prst="rect">
            <a:avLst/>
          </a:prstGeom>
          <a:solidFill>
            <a:srgbClr val="F3F4F5"/>
          </a:solidFill>
          <a:ln w="0">
            <a:noFill/>
            <a:prstDash val="solid"/>
          </a:ln>
        </p:spPr>
      </p:sp>
      <p:sp>
        <p:nvSpPr>
          <p:cNvPr id="117" name="summary-accent"/>
          <p:cNvSpPr>
            <a:spLocks noGrp="1"/>
          </p:cNvSpPr>
          <p:nvPr/>
        </p:nvSpPr>
        <p:spPr>
          <a:xfrm>
            <a:off x="609600" y="6191250"/>
            <a:ext cx="38100" cy="4191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18" name="summary-text"/>
          <p:cNvSpPr>
            <a:spLocks noGrp="1"/>
          </p:cNvSpPr>
          <p:nvPr/>
        </p:nvSpPr>
        <p:spPr>
          <a:xfrm>
            <a:off x="819150" y="6229350"/>
            <a:ext cx="1053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7766"/>
          </a:bodyPr>
          <a:lstStyle/>
          <a:p>
            <a:pPr algn="ctr">
              <a:defRPr sz="13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 不只是步骤列表，而是通过 Stage、Contract / Handoff、Gate、Routing、Retry / Fallback，让任务以可检查、可回退的方式向前推进。</a:t>
            </a:r>
            <a:endParaRPr sz="139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" name="title-accent"/>
          <p:cNvSpPr>
            <a:spLocks noGrp="1"/>
          </p:cNvSpPr>
          <p:nvPr/>
        </p:nvSpPr>
        <p:spPr>
          <a:xfrm>
            <a:off x="609600" y="257175"/>
            <a:ext cx="47625" cy="4953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" name="title-divider"/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" name="column-divider"/>
          <p:cNvSpPr>
            <a:spLocks noGrp="1"/>
          </p:cNvSpPr>
          <p:nvPr/>
        </p:nvSpPr>
        <p:spPr>
          <a:xfrm>
            <a:off x="4781550" y="1295400"/>
            <a:ext cx="0" cy="455295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4" name="left-heading-rule"/>
          <p:cNvSpPr>
            <a:spLocks noGrp="1"/>
          </p:cNvSpPr>
          <p:nvPr/>
        </p:nvSpPr>
        <p:spPr>
          <a:xfrm>
            <a:off x="609600" y="1524000"/>
            <a:ext cx="40005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" name="right-heading-rule"/>
          <p:cNvSpPr>
            <a:spLocks noGrp="1"/>
          </p:cNvSpPr>
          <p:nvPr/>
        </p:nvSpPr>
        <p:spPr>
          <a:xfrm>
            <a:off x="4953000" y="1524000"/>
            <a:ext cx="66294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6" name="slide-title"/>
          <p:cNvSpPr>
            <a:spLocks noGrp="1"/>
          </p:cNvSpPr>
          <p:nvPr/>
        </p:nvSpPr>
        <p:spPr>
          <a:xfrm>
            <a:off x="800100" y="209550"/>
            <a:ext cx="85725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3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Workflow：如何调用资源与外部能力</a:t>
            </a:r>
            <a:endParaRPr sz="330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guiding-question"/>
          <p:cNvSpPr>
            <a:spLocks noGrp="1"/>
          </p:cNvSpPr>
          <p:nvPr/>
        </p:nvSpPr>
        <p:spPr>
          <a:xfrm>
            <a:off x="800100" y="752475"/>
            <a:ext cx="1028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上一页控制 Stage 如何推进；本页回答：每个 Stage 执行时，可以读取、运行或调用什么？</a:t>
            </a:r>
            <a:endParaRPr sz="142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left-heading"/>
          <p:cNvSpPr>
            <a:spLocks noGrp="1"/>
          </p:cNvSpPr>
          <p:nvPr/>
        </p:nvSpPr>
        <p:spPr>
          <a:xfrm>
            <a:off x="609600" y="1209675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SKILL.md 示例（资源调用）</a:t>
            </a:r>
            <a:endParaRPr sz="180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ight-heading"/>
          <p:cNvSpPr>
            <a:spLocks noGrp="1"/>
          </p:cNvSpPr>
          <p:nvPr/>
        </p:nvSpPr>
        <p:spPr>
          <a:xfrm>
            <a:off x="4953000" y="1209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 可用资源与能力</a:t>
            </a:r>
            <a:endParaRPr sz="18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or-frame"/>
          <p:cNvSpPr>
            <a:spLocks noGrp="1"/>
          </p:cNvSpPr>
          <p:nvPr/>
        </p:nvSpPr>
        <p:spPr>
          <a:xfrm>
            <a:off x="609600" y="1600200"/>
            <a:ext cx="4000500" cy="424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1" name="editor-header"/>
          <p:cNvSpPr>
            <a:spLocks noGrp="1"/>
          </p:cNvSpPr>
          <p:nvPr/>
        </p:nvSpPr>
        <p:spPr>
          <a:xfrm>
            <a:off x="609600" y="1600200"/>
            <a:ext cx="4000500" cy="323850"/>
          </a:xfrm>
          <a:prstGeom prst="rect">
            <a:avLst/>
          </a:prstGeom>
          <a:solidFill>
            <a:srgbClr val="F3F4F5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2" name="editor-label"/>
          <p:cNvSpPr>
            <a:spLocks noGrp="1"/>
          </p:cNvSpPr>
          <p:nvPr/>
        </p:nvSpPr>
        <p:spPr>
          <a:xfrm>
            <a:off x="781050" y="164782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252B3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1">
                <a:solidFill>
                  <a:srgbClr val="252B3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SKILL.md  ·  resource calls</a:t>
            </a:r>
            <a:endParaRPr sz="1350" b="1">
              <a:solidFill>
                <a:srgbClr val="252B3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compressed-sections"/>
          <p:cNvSpPr>
            <a:spLocks noGrp="1"/>
          </p:cNvSpPr>
          <p:nvPr/>
        </p:nvSpPr>
        <p:spPr>
          <a:xfrm>
            <a:off x="742950" y="2009775"/>
            <a:ext cx="3733800" cy="876300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14" name="compressed-accent"/>
          <p:cNvSpPr>
            <a:spLocks noGrp="1"/>
          </p:cNvSpPr>
          <p:nvPr/>
        </p:nvSpPr>
        <p:spPr>
          <a:xfrm>
            <a:off x="742950" y="2009775"/>
            <a:ext cx="28575" cy="876300"/>
          </a:xfrm>
          <a:prstGeom prst="rect">
            <a:avLst/>
          </a:prstGeom>
          <a:solidFill>
            <a:srgbClr val="7F9DB2"/>
          </a:solidFill>
          <a:ln w="0">
            <a:noFill/>
            <a:prstDash val="solid"/>
          </a:ln>
        </p:spPr>
      </p:sp>
      <p:sp>
        <p:nvSpPr>
          <p:cNvPr id="15" name="compact-0-label"/>
          <p:cNvSpPr>
            <a:spLocks noGrp="1"/>
          </p:cNvSpPr>
          <p:nvPr/>
        </p:nvSpPr>
        <p:spPr>
          <a:xfrm>
            <a:off x="895350" y="2066925"/>
            <a:ext cx="2524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l">
              <a:def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Metadata</a:t>
            </a:r>
            <a:endParaRPr sz="1240" b="0">
              <a:solidFill>
                <a:srgbClr val="6872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mpact-0-dots"/>
          <p:cNvSpPr>
            <a:spLocks noGrp="1"/>
          </p:cNvSpPr>
          <p:nvPr/>
        </p:nvSpPr>
        <p:spPr>
          <a:xfrm>
            <a:off x="3886200" y="2066925"/>
            <a:ext cx="400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r">
              <a:def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···</a:t>
            </a:r>
            <a:endParaRPr sz="124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compact-1-label"/>
          <p:cNvSpPr>
            <a:spLocks noGrp="1"/>
          </p:cNvSpPr>
          <p:nvPr/>
        </p:nvSpPr>
        <p:spPr>
          <a:xfrm>
            <a:off x="895350" y="2257425"/>
            <a:ext cx="2524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l">
              <a:def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Overview</a:t>
            </a:r>
            <a:endParaRPr sz="1240" b="0">
              <a:solidFill>
                <a:srgbClr val="6872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compact-1-dots"/>
          <p:cNvSpPr>
            <a:spLocks noGrp="1"/>
          </p:cNvSpPr>
          <p:nvPr/>
        </p:nvSpPr>
        <p:spPr>
          <a:xfrm>
            <a:off x="3886200" y="2257425"/>
            <a:ext cx="400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r">
              <a:def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···</a:t>
            </a:r>
            <a:endParaRPr sz="124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ompact-2-label"/>
          <p:cNvSpPr>
            <a:spLocks noGrp="1"/>
          </p:cNvSpPr>
          <p:nvPr/>
        </p:nvSpPr>
        <p:spPr>
          <a:xfrm>
            <a:off x="895350" y="2447925"/>
            <a:ext cx="2524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l">
              <a:def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Execution Policy</a:t>
            </a:r>
            <a:endParaRPr sz="1240" b="0">
              <a:solidFill>
                <a:srgbClr val="6872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compact-2-dots"/>
          <p:cNvSpPr>
            <a:spLocks noGrp="1"/>
          </p:cNvSpPr>
          <p:nvPr/>
        </p:nvSpPr>
        <p:spPr>
          <a:xfrm>
            <a:off x="3886200" y="2447925"/>
            <a:ext cx="400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r">
              <a:def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···</a:t>
            </a:r>
            <a:endParaRPr sz="124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ompact-3-label"/>
          <p:cNvSpPr>
            <a:spLocks noGrp="1"/>
          </p:cNvSpPr>
          <p:nvPr/>
        </p:nvSpPr>
        <p:spPr>
          <a:xfrm>
            <a:off x="895350" y="2638425"/>
            <a:ext cx="25241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l">
              <a:def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Input / Output Contract</a:t>
            </a:r>
            <a:endParaRPr sz="1240" b="0">
              <a:solidFill>
                <a:srgbClr val="6872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compact-3-dots"/>
          <p:cNvSpPr>
            <a:spLocks noGrp="1"/>
          </p:cNvSpPr>
          <p:nvPr/>
        </p:nvSpPr>
        <p:spPr>
          <a:xfrm>
            <a:off x="3886200" y="2638425"/>
            <a:ext cx="400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921"/>
          </a:bodyPr>
          <a:lstStyle/>
          <a:p>
            <a:pPr algn="r">
              <a:def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···</a:t>
            </a:r>
            <a:endParaRPr sz="124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workflow-section-divider"/>
          <p:cNvSpPr>
            <a:spLocks noGrp="1"/>
          </p:cNvSpPr>
          <p:nvPr/>
        </p:nvSpPr>
        <p:spPr>
          <a:xfrm>
            <a:off x="895350" y="2971800"/>
            <a:ext cx="32766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24" name="workflow-code-block"/>
          <p:cNvSpPr>
            <a:spLocks noGrp="1"/>
          </p:cNvSpPr>
          <p:nvPr/>
        </p:nvSpPr>
        <p:spPr>
          <a:xfrm>
            <a:off x="742950" y="3067050"/>
            <a:ext cx="3733800" cy="2381250"/>
          </a:xfrm>
          <a:prstGeom prst="rect">
            <a:avLst/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25" name="workflow-code-accent"/>
          <p:cNvSpPr>
            <a:spLocks noGrp="1"/>
          </p:cNvSpPr>
          <p:nvPr/>
        </p:nvSpPr>
        <p:spPr>
          <a:xfrm>
            <a:off x="742950" y="3067050"/>
            <a:ext cx="38100" cy="23812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6" name="workflow-code"/>
          <p:cNvSpPr>
            <a:spLocks noGrp="1"/>
          </p:cNvSpPr>
          <p:nvPr/>
        </p:nvSpPr>
        <p:spPr>
          <a:xfrm>
            <a:off x="914400" y="3152775"/>
            <a:ext cx="33337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Workflow</a:t>
            </a:r>
            <a:endParaRPr sz="111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## Stage A</a:t>
            </a:r>
            <a:endParaRPr sz="111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Read: references/rules.md</a:t>
            </a:r>
            <a:endParaRPr sz="111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needed: examples/example.md</a:t>
            </a:r>
            <a:endParaRPr sz="111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Run: scripts/check.py</a:t>
            </a:r>
            <a:endParaRPr sz="111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## Stage B</a:t>
            </a:r>
            <a:endParaRPr sz="111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Delegate: subagent</a:t>
            </a:r>
            <a:endParaRPr sz="111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## Stage C</a:t>
            </a:r>
            <a:endParaRPr sz="111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10" b="0">
                <a:solidFill>
                  <a:srgbClr val="41495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Call: another-skill</a:t>
            </a:r>
            <a:endParaRPr sz="1110" b="0">
              <a:solidFill>
                <a:srgbClr val="41495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workflow-note"/>
          <p:cNvSpPr>
            <a:spLocks noGrp="1"/>
          </p:cNvSpPr>
          <p:nvPr/>
        </p:nvSpPr>
        <p:spPr>
          <a:xfrm>
            <a:off x="895350" y="5543550"/>
            <a:ext cx="3333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6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示意结构，具体写法根据 Skill 实现调整。</a:t>
            </a:r>
            <a:endParaRPr sz="960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sources-number"/>
          <p:cNvSpPr>
            <a:spLocks noGrp="1"/>
          </p:cNvSpPr>
          <p:nvPr/>
        </p:nvSpPr>
        <p:spPr>
          <a:xfrm>
            <a:off x="4953000" y="1600200"/>
            <a:ext cx="3619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sources-heading"/>
          <p:cNvSpPr>
            <a:spLocks noGrp="1"/>
          </p:cNvSpPr>
          <p:nvPr/>
        </p:nvSpPr>
        <p:spPr>
          <a:xfrm>
            <a:off x="5353050" y="1581150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Resources</a:t>
            </a:r>
            <a:endParaRPr sz="17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sources-subheading"/>
          <p:cNvSpPr>
            <a:spLocks noGrp="1"/>
          </p:cNvSpPr>
          <p:nvPr/>
        </p:nvSpPr>
        <p:spPr>
          <a:xfrm>
            <a:off x="6705600" y="16192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执行过程中可以按需读取或运行的资源</a:t>
            </a:r>
            <a:endParaRPr sz="1200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ference-card"/>
          <p:cNvSpPr>
            <a:spLocks noGrp="1"/>
          </p:cNvSpPr>
          <p:nvPr/>
        </p:nvSpPr>
        <p:spPr>
          <a:xfrm>
            <a:off x="4953000" y="1943100"/>
            <a:ext cx="2133600" cy="1704975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32" name="reference-accent"/>
          <p:cNvSpPr>
            <a:spLocks noGrp="1"/>
          </p:cNvSpPr>
          <p:nvPr/>
        </p:nvSpPr>
        <p:spPr>
          <a:xfrm>
            <a:off x="4953000" y="1943100"/>
            <a:ext cx="213360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33" name="reference-title"/>
          <p:cNvSpPr>
            <a:spLocks noGrp="1"/>
          </p:cNvSpPr>
          <p:nvPr/>
        </p:nvSpPr>
        <p:spPr>
          <a:xfrm>
            <a:off x="5086350" y="2028825"/>
            <a:ext cx="1390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References</a:t>
            </a:r>
            <a:endParaRPr sz="154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ference-ondemand"/>
          <p:cNvSpPr>
            <a:spLocks noGrp="1"/>
          </p:cNvSpPr>
          <p:nvPr/>
        </p:nvSpPr>
        <p:spPr>
          <a:xfrm>
            <a:off x="6591300" y="20478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</a:t>
            </a:r>
            <a:endParaRPr sz="9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ference-subtitle"/>
          <p:cNvSpPr>
            <a:spLocks noGrp="1"/>
          </p:cNvSpPr>
          <p:nvPr/>
        </p:nvSpPr>
        <p:spPr>
          <a:xfrm>
            <a:off x="5086350" y="2266950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知识与规则</a:t>
            </a:r>
            <a:endParaRPr sz="11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ference-bullets"/>
          <p:cNvSpPr>
            <a:spLocks noGrp="1"/>
          </p:cNvSpPr>
          <p:nvPr/>
        </p:nvSpPr>
        <p:spPr>
          <a:xfrm>
            <a:off x="5086350" y="2486025"/>
            <a:ext cx="1866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389"/>
          </a:bodyPr>
          <a:lstStyle/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专业领域知识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平台 / 硬件信息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API / Primitive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技术规范 / 优化规则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ference-relation-band"/>
          <p:cNvSpPr>
            <a:spLocks noGrp="1"/>
          </p:cNvSpPr>
          <p:nvPr/>
        </p:nvSpPr>
        <p:spPr>
          <a:xfrm>
            <a:off x="5067300" y="3200400"/>
            <a:ext cx="1905000" cy="190500"/>
          </a:xfrm>
          <a:prstGeom prst="rect">
            <a:avLst/>
          </a:prstGeom>
          <a:solidFill>
            <a:srgbClr val="F7F9FA"/>
          </a:solidFill>
          <a:ln w="0">
            <a:noFill/>
            <a:prstDash val="solid"/>
          </a:ln>
        </p:spPr>
      </p:sp>
      <p:sp>
        <p:nvSpPr>
          <p:cNvPr id="38" name="reference-relation"/>
          <p:cNvSpPr>
            <a:spLocks noGrp="1"/>
          </p:cNvSpPr>
          <p:nvPr/>
        </p:nvSpPr>
        <p:spPr>
          <a:xfrm>
            <a:off x="5114925" y="32004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879"/>
          </a:bodyPr>
          <a:lstStyle/>
          <a:p>
            <a:pPr algn="ctr">
              <a:defRPr sz="960" b="1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60" b="1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Workflow  Read → references/</a:t>
            </a:r>
            <a:endParaRPr sz="960" b="1">
              <a:solidFill>
                <a:srgbClr val="6872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reference-takeaway"/>
          <p:cNvSpPr>
            <a:spLocks noGrp="1"/>
          </p:cNvSpPr>
          <p:nvPr/>
        </p:nvSpPr>
        <p:spPr>
          <a:xfrm>
            <a:off x="5086350" y="3419475"/>
            <a:ext cx="1866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知道什么 / 必须遵守什么</a:t>
            </a:r>
            <a:endParaRPr sz="10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xamples-card"/>
          <p:cNvSpPr>
            <a:spLocks noGrp="1"/>
          </p:cNvSpPr>
          <p:nvPr/>
        </p:nvSpPr>
        <p:spPr>
          <a:xfrm>
            <a:off x="7200900" y="1943100"/>
            <a:ext cx="2133600" cy="1704975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41" name="examples-accent"/>
          <p:cNvSpPr>
            <a:spLocks noGrp="1"/>
          </p:cNvSpPr>
          <p:nvPr/>
        </p:nvSpPr>
        <p:spPr>
          <a:xfrm>
            <a:off x="7200900" y="1943100"/>
            <a:ext cx="213360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42" name="examples-title"/>
          <p:cNvSpPr>
            <a:spLocks noGrp="1"/>
          </p:cNvSpPr>
          <p:nvPr/>
        </p:nvSpPr>
        <p:spPr>
          <a:xfrm>
            <a:off x="7334250" y="2028825"/>
            <a:ext cx="1390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Examples</a:t>
            </a:r>
            <a:endParaRPr sz="154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xamples-ondemand"/>
          <p:cNvSpPr>
            <a:spLocks noGrp="1"/>
          </p:cNvSpPr>
          <p:nvPr/>
        </p:nvSpPr>
        <p:spPr>
          <a:xfrm>
            <a:off x="8839200" y="20478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</a:t>
            </a:r>
            <a:endParaRPr sz="9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xamples-subtitle"/>
          <p:cNvSpPr>
            <a:spLocks noGrp="1"/>
          </p:cNvSpPr>
          <p:nvPr/>
        </p:nvSpPr>
        <p:spPr>
          <a:xfrm>
            <a:off x="7334250" y="2266950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已有案例</a:t>
            </a:r>
            <a:endParaRPr sz="11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xamples-bullets"/>
          <p:cNvSpPr>
            <a:spLocks noGrp="1"/>
          </p:cNvSpPr>
          <p:nvPr/>
        </p:nvSpPr>
        <p:spPr>
          <a:xfrm>
            <a:off x="7334250" y="2486025"/>
            <a:ext cx="1866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389"/>
          </a:bodyPr>
          <a:lstStyle/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类似任务案例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 / 输出示例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已有实现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常见场景解法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xamples-relation-band"/>
          <p:cNvSpPr>
            <a:spLocks noGrp="1"/>
          </p:cNvSpPr>
          <p:nvPr/>
        </p:nvSpPr>
        <p:spPr>
          <a:xfrm>
            <a:off x="7315200" y="3200400"/>
            <a:ext cx="1905000" cy="190500"/>
          </a:xfrm>
          <a:prstGeom prst="rect">
            <a:avLst/>
          </a:prstGeom>
          <a:solidFill>
            <a:srgbClr val="F7F9FA"/>
          </a:solidFill>
          <a:ln w="0">
            <a:noFill/>
            <a:prstDash val="solid"/>
          </a:ln>
        </p:spPr>
      </p:sp>
      <p:sp>
        <p:nvSpPr>
          <p:cNvPr id="47" name="examples-relation"/>
          <p:cNvSpPr>
            <a:spLocks noGrp="1"/>
          </p:cNvSpPr>
          <p:nvPr/>
        </p:nvSpPr>
        <p:spPr>
          <a:xfrm>
            <a:off x="7362825" y="32004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879"/>
          </a:bodyPr>
          <a:lstStyle/>
          <a:p>
            <a:pPr algn="ctr">
              <a:defRPr sz="960" b="1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60" b="1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Current  Similar → examples/</a:t>
            </a:r>
            <a:endParaRPr sz="960" b="1">
              <a:solidFill>
                <a:srgbClr val="6872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8" name="examples-takeaway"/>
          <p:cNvSpPr>
            <a:spLocks noGrp="1"/>
          </p:cNvSpPr>
          <p:nvPr/>
        </p:nvSpPr>
        <p:spPr>
          <a:xfrm>
            <a:off x="7334250" y="3419475"/>
            <a:ext cx="1866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参考类似问题以前怎么做</a:t>
            </a:r>
            <a:endParaRPr sz="10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scripts-card"/>
          <p:cNvSpPr>
            <a:spLocks noGrp="1"/>
          </p:cNvSpPr>
          <p:nvPr/>
        </p:nvSpPr>
        <p:spPr>
          <a:xfrm>
            <a:off x="9448800" y="1943100"/>
            <a:ext cx="2133600" cy="1704975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50" name="scripts-accent"/>
          <p:cNvSpPr>
            <a:spLocks noGrp="1"/>
          </p:cNvSpPr>
          <p:nvPr/>
        </p:nvSpPr>
        <p:spPr>
          <a:xfrm>
            <a:off x="9448800" y="1943100"/>
            <a:ext cx="213360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51" name="scripts-title"/>
          <p:cNvSpPr>
            <a:spLocks noGrp="1"/>
          </p:cNvSpPr>
          <p:nvPr/>
        </p:nvSpPr>
        <p:spPr>
          <a:xfrm>
            <a:off x="9582150" y="2028825"/>
            <a:ext cx="1390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Scripts</a:t>
            </a:r>
            <a:endParaRPr sz="154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scripts-ondemand"/>
          <p:cNvSpPr>
            <a:spLocks noGrp="1"/>
          </p:cNvSpPr>
          <p:nvPr/>
        </p:nvSpPr>
        <p:spPr>
          <a:xfrm>
            <a:off x="11087100" y="20478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</a:t>
            </a:r>
            <a:endParaRPr sz="9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scripts-subtitle"/>
          <p:cNvSpPr>
            <a:spLocks noGrp="1"/>
          </p:cNvSpPr>
          <p:nvPr/>
        </p:nvSpPr>
        <p:spPr>
          <a:xfrm>
            <a:off x="9582150" y="2266950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确定性执行工具</a:t>
            </a:r>
            <a:endParaRPr sz="11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scripts-bullets"/>
          <p:cNvSpPr>
            <a:spLocks noGrp="1"/>
          </p:cNvSpPr>
          <p:nvPr/>
        </p:nvSpPr>
        <p:spPr>
          <a:xfrm>
            <a:off x="9582150" y="2486025"/>
            <a:ext cx="1866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389"/>
          </a:bodyPr>
          <a:lstStyle/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环境检测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编译 / 执行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测试 / Benchmark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文件 / 日志处理</a:t>
            </a:r>
            <a:endParaRPr sz="116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scripts-relation-band"/>
          <p:cNvSpPr>
            <a:spLocks noGrp="1"/>
          </p:cNvSpPr>
          <p:nvPr/>
        </p:nvSpPr>
        <p:spPr>
          <a:xfrm>
            <a:off x="9563100" y="3200400"/>
            <a:ext cx="1905000" cy="190500"/>
          </a:xfrm>
          <a:prstGeom prst="rect">
            <a:avLst/>
          </a:prstGeom>
          <a:solidFill>
            <a:srgbClr val="F7F9FA"/>
          </a:solidFill>
          <a:ln w="0">
            <a:noFill/>
            <a:prstDash val="solid"/>
          </a:ln>
        </p:spPr>
      </p:sp>
      <p:sp>
        <p:nvSpPr>
          <p:cNvPr id="56" name="scripts-relation"/>
          <p:cNvSpPr>
            <a:spLocks noGrp="1"/>
          </p:cNvSpPr>
          <p:nvPr/>
        </p:nvSpPr>
        <p:spPr>
          <a:xfrm>
            <a:off x="9610725" y="32004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6504"/>
          </a:bodyPr>
          <a:lstStyle/>
          <a:p>
            <a:pPr algn="ctr">
              <a:defRPr sz="960" b="1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60" b="1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Agent  Run → script.py → Result</a:t>
            </a:r>
            <a:endParaRPr sz="960" b="1">
              <a:solidFill>
                <a:srgbClr val="6872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7" name="scripts-takeaway"/>
          <p:cNvSpPr>
            <a:spLocks noGrp="1"/>
          </p:cNvSpPr>
          <p:nvPr/>
        </p:nvSpPr>
        <p:spPr>
          <a:xfrm>
            <a:off x="9582150" y="3419475"/>
            <a:ext cx="1866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把确定性工作真正跑起来</a:t>
            </a:r>
            <a:endParaRPr sz="10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sources-compare-band"/>
          <p:cNvSpPr>
            <a:spLocks noGrp="1"/>
          </p:cNvSpPr>
          <p:nvPr/>
        </p:nvSpPr>
        <p:spPr>
          <a:xfrm>
            <a:off x="4953000" y="3714750"/>
            <a:ext cx="6629400" cy="228600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59" name="resources-compare"/>
          <p:cNvSpPr>
            <a:spLocks noGrp="1"/>
          </p:cNvSpPr>
          <p:nvPr/>
        </p:nvSpPr>
        <p:spPr>
          <a:xfrm>
            <a:off x="5105400" y="3724275"/>
            <a:ext cx="6324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Reference = 知识与规则  ｜  Example = 已有解法  ｜  Script = 确定性执行</a:t>
            </a:r>
            <a:endParaRPr sz="11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capability-number"/>
          <p:cNvSpPr>
            <a:spLocks noGrp="1"/>
          </p:cNvSpPr>
          <p:nvPr/>
        </p:nvSpPr>
        <p:spPr>
          <a:xfrm>
            <a:off x="4953000" y="4010025"/>
            <a:ext cx="3619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capability-heading"/>
          <p:cNvSpPr>
            <a:spLocks noGrp="1"/>
          </p:cNvSpPr>
          <p:nvPr/>
        </p:nvSpPr>
        <p:spPr>
          <a:xfrm>
            <a:off x="5353050" y="3990975"/>
            <a:ext cx="1809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Capability Call</a:t>
            </a:r>
            <a:endParaRPr sz="17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capability-subheading"/>
          <p:cNvSpPr>
            <a:spLocks noGrp="1"/>
          </p:cNvSpPr>
          <p:nvPr/>
        </p:nvSpPr>
        <p:spPr>
          <a:xfrm>
            <a:off x="7191375" y="40290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 Stage 不直接完成时，把工作交出去</a:t>
            </a:r>
            <a:endParaRPr sz="1200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subagent-card"/>
          <p:cNvSpPr>
            <a:spLocks noGrp="1"/>
          </p:cNvSpPr>
          <p:nvPr/>
        </p:nvSpPr>
        <p:spPr>
          <a:xfrm>
            <a:off x="4953000" y="4324350"/>
            <a:ext cx="3257550" cy="1524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64" name="subagent-accent"/>
          <p:cNvSpPr>
            <a:spLocks noGrp="1"/>
          </p:cNvSpPr>
          <p:nvPr/>
        </p:nvSpPr>
        <p:spPr>
          <a:xfrm>
            <a:off x="4953000" y="4324350"/>
            <a:ext cx="325755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65" name="subagent-title"/>
          <p:cNvSpPr>
            <a:spLocks noGrp="1"/>
          </p:cNvSpPr>
          <p:nvPr/>
        </p:nvSpPr>
        <p:spPr>
          <a:xfrm>
            <a:off x="5105400" y="4410075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</a:t>
            </a:r>
            <a:endParaRPr sz="15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subagent-subtitle"/>
          <p:cNvSpPr>
            <a:spLocks noGrp="1"/>
          </p:cNvSpPr>
          <p:nvPr/>
        </p:nvSpPr>
        <p:spPr>
          <a:xfrm>
            <a:off x="6362700" y="44291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任务委派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subagent-ondemand"/>
          <p:cNvSpPr>
            <a:spLocks noGrp="1"/>
          </p:cNvSpPr>
          <p:nvPr/>
        </p:nvSpPr>
        <p:spPr>
          <a:xfrm>
            <a:off x="7686675" y="4438650"/>
            <a:ext cx="3714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</a:t>
            </a:r>
            <a:endParaRPr sz="9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subagent-line-1"/>
          <p:cNvSpPr>
            <a:spLocks noGrp="1"/>
          </p:cNvSpPr>
          <p:nvPr/>
        </p:nvSpPr>
        <p:spPr>
          <a:xfrm>
            <a:off x="5895975" y="4848225"/>
            <a:ext cx="23812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9" name="subagent-arrow-1"/>
          <p:cNvSpPr>
            <a:spLocks noGrp="1"/>
          </p:cNvSpPr>
          <p:nvPr/>
        </p:nvSpPr>
        <p:spPr>
          <a:xfrm rot="5400000">
            <a:off x="6096000" y="481012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70" name="subagent-line-2"/>
          <p:cNvSpPr>
            <a:spLocks noGrp="1"/>
          </p:cNvSpPr>
          <p:nvPr/>
        </p:nvSpPr>
        <p:spPr>
          <a:xfrm>
            <a:off x="6981825" y="4848225"/>
            <a:ext cx="23812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71" name="subagent-arrow-2"/>
          <p:cNvSpPr>
            <a:spLocks noGrp="1"/>
          </p:cNvSpPr>
          <p:nvPr/>
        </p:nvSpPr>
        <p:spPr>
          <a:xfrm rot="5400000">
            <a:off x="7181850" y="481012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72" name="subagent-current-box"/>
          <p:cNvSpPr>
            <a:spLocks noGrp="1"/>
          </p:cNvSpPr>
          <p:nvPr/>
        </p:nvSpPr>
        <p:spPr>
          <a:xfrm>
            <a:off x="5105400" y="4705350"/>
            <a:ext cx="790575" cy="295275"/>
          </a:xfrm>
          <a:prstGeom prst="roundRect">
            <a:avLst>
              <a:gd name="adj" fmla="val 1290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3" name="subagent-current-text"/>
          <p:cNvSpPr>
            <a:spLocks noGrp="1"/>
          </p:cNvSpPr>
          <p:nvPr/>
        </p:nvSpPr>
        <p:spPr>
          <a:xfrm>
            <a:off x="5143500" y="4724400"/>
            <a:ext cx="71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9952"/>
          </a:bodyPr>
          <a:lstStyle/>
          <a:p>
            <a:pPr algn="ctr">
              <a:defRPr sz="9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Current</a:t>
            </a:r>
            <a:endParaRPr sz="94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</a:t>
            </a:r>
            <a:endParaRPr sz="94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subagent-middle-box"/>
          <p:cNvSpPr>
            <a:spLocks noGrp="1"/>
          </p:cNvSpPr>
          <p:nvPr/>
        </p:nvSpPr>
        <p:spPr>
          <a:xfrm>
            <a:off x="6181725" y="4705350"/>
            <a:ext cx="800100" cy="295275"/>
          </a:xfrm>
          <a:prstGeom prst="roundRect">
            <a:avLst>
              <a:gd name="adj" fmla="val 1290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5" name="subagent-middle-text"/>
          <p:cNvSpPr>
            <a:spLocks noGrp="1"/>
          </p:cNvSpPr>
          <p:nvPr/>
        </p:nvSpPr>
        <p:spPr>
          <a:xfrm>
            <a:off x="6219825" y="4724400"/>
            <a:ext cx="72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</a:t>
            </a:r>
            <a:endParaRPr sz="101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subagent-result-box"/>
          <p:cNvSpPr>
            <a:spLocks noGrp="1"/>
          </p:cNvSpPr>
          <p:nvPr/>
        </p:nvSpPr>
        <p:spPr>
          <a:xfrm>
            <a:off x="7258050" y="4705350"/>
            <a:ext cx="685800" cy="295275"/>
          </a:xfrm>
          <a:prstGeom prst="roundRect">
            <a:avLst>
              <a:gd name="adj" fmla="val 1290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7" name="subagent-result-text"/>
          <p:cNvSpPr>
            <a:spLocks noGrp="1"/>
          </p:cNvSpPr>
          <p:nvPr/>
        </p:nvSpPr>
        <p:spPr>
          <a:xfrm>
            <a:off x="7296150" y="4724400"/>
            <a:ext cx="609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</a:t>
            </a:r>
            <a:endParaRPr sz="10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subagent-description"/>
          <p:cNvSpPr>
            <a:spLocks noGrp="1"/>
          </p:cNvSpPr>
          <p:nvPr/>
        </p:nvSpPr>
        <p:spPr>
          <a:xfrm>
            <a:off x="5105400" y="50577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把明确的具体子任务交给独立 Agent</a:t>
            </a:r>
            <a:endParaRPr sz="116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subagent-keywords"/>
          <p:cNvSpPr>
            <a:spLocks noGrp="1"/>
          </p:cNvSpPr>
          <p:nvPr/>
        </p:nvSpPr>
        <p:spPr>
          <a:xfrm>
            <a:off x="5105400" y="5286375"/>
            <a:ext cx="2952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具体任务  ·  Task / Role  ·  返回结果</a:t>
            </a:r>
            <a:endParaRPr sz="106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subagent-code-band"/>
          <p:cNvSpPr>
            <a:spLocks noGrp="1"/>
          </p:cNvSpPr>
          <p:nvPr/>
        </p:nvSpPr>
        <p:spPr>
          <a:xfrm>
            <a:off x="5086350" y="5534025"/>
            <a:ext cx="2990850" cy="209550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81" name="subagent-code"/>
          <p:cNvSpPr>
            <a:spLocks noGrp="1"/>
          </p:cNvSpPr>
          <p:nvPr/>
        </p:nvSpPr>
        <p:spPr>
          <a:xfrm>
            <a:off x="5162550" y="5534025"/>
            <a:ext cx="2838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20" b="1">
                <a:solidFill>
                  <a:srgbClr val="557A9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20" b="1">
                <a:solidFill>
                  <a:srgbClr val="557A9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spawn_agent(...)  ·  具体任务委派</a:t>
            </a:r>
            <a:endParaRPr sz="1020" b="1">
              <a:solidFill>
                <a:srgbClr val="557A9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2" name="other-skill-card"/>
          <p:cNvSpPr>
            <a:spLocks noGrp="1"/>
          </p:cNvSpPr>
          <p:nvPr/>
        </p:nvSpPr>
        <p:spPr>
          <a:xfrm>
            <a:off x="8324850" y="4324350"/>
            <a:ext cx="3257550" cy="1524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83" name="other-skill-accent"/>
          <p:cNvSpPr>
            <a:spLocks noGrp="1"/>
          </p:cNvSpPr>
          <p:nvPr/>
        </p:nvSpPr>
        <p:spPr>
          <a:xfrm>
            <a:off x="8324850" y="4324350"/>
            <a:ext cx="325755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84" name="other-skill-title"/>
          <p:cNvSpPr>
            <a:spLocks noGrp="1"/>
          </p:cNvSpPr>
          <p:nvPr/>
        </p:nvSpPr>
        <p:spPr>
          <a:xfrm>
            <a:off x="8477250" y="4410075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Other Skill</a:t>
            </a:r>
            <a:endParaRPr sz="15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other-skill-subtitle"/>
          <p:cNvSpPr>
            <a:spLocks noGrp="1"/>
          </p:cNvSpPr>
          <p:nvPr/>
        </p:nvSpPr>
        <p:spPr>
          <a:xfrm>
            <a:off x="9734550" y="44291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能力复用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other-skill-ondemand"/>
          <p:cNvSpPr>
            <a:spLocks noGrp="1"/>
          </p:cNvSpPr>
          <p:nvPr/>
        </p:nvSpPr>
        <p:spPr>
          <a:xfrm>
            <a:off x="11058525" y="4438650"/>
            <a:ext cx="3714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</a:t>
            </a:r>
            <a:endParaRPr sz="9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other-skill-line-1"/>
          <p:cNvSpPr>
            <a:spLocks noGrp="1"/>
          </p:cNvSpPr>
          <p:nvPr/>
        </p:nvSpPr>
        <p:spPr>
          <a:xfrm>
            <a:off x="9267825" y="4848225"/>
            <a:ext cx="23812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88" name="other-skill-arrow-1"/>
          <p:cNvSpPr>
            <a:spLocks noGrp="1"/>
          </p:cNvSpPr>
          <p:nvPr/>
        </p:nvSpPr>
        <p:spPr>
          <a:xfrm rot="5400000">
            <a:off x="9467850" y="481012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89" name="other-skill-line-2"/>
          <p:cNvSpPr>
            <a:spLocks noGrp="1"/>
          </p:cNvSpPr>
          <p:nvPr/>
        </p:nvSpPr>
        <p:spPr>
          <a:xfrm>
            <a:off x="10353675" y="4848225"/>
            <a:ext cx="23812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0" name="other-skill-arrow-2"/>
          <p:cNvSpPr>
            <a:spLocks noGrp="1"/>
          </p:cNvSpPr>
          <p:nvPr/>
        </p:nvSpPr>
        <p:spPr>
          <a:xfrm rot="5400000">
            <a:off x="10553700" y="481012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1" name="other-skill-current-box"/>
          <p:cNvSpPr>
            <a:spLocks noGrp="1"/>
          </p:cNvSpPr>
          <p:nvPr/>
        </p:nvSpPr>
        <p:spPr>
          <a:xfrm>
            <a:off x="8477250" y="4705350"/>
            <a:ext cx="790575" cy="295275"/>
          </a:xfrm>
          <a:prstGeom prst="roundRect">
            <a:avLst>
              <a:gd name="adj" fmla="val 1290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92" name="other-skill-current-text"/>
          <p:cNvSpPr>
            <a:spLocks noGrp="1"/>
          </p:cNvSpPr>
          <p:nvPr/>
        </p:nvSpPr>
        <p:spPr>
          <a:xfrm>
            <a:off x="8515350" y="4724400"/>
            <a:ext cx="71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9952"/>
          </a:bodyPr>
          <a:lstStyle/>
          <a:p>
            <a:pPr algn="ctr">
              <a:defRPr sz="9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Current</a:t>
            </a:r>
            <a:endParaRPr sz="94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endParaRPr sz="94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other-skill-middle-box"/>
          <p:cNvSpPr>
            <a:spLocks noGrp="1"/>
          </p:cNvSpPr>
          <p:nvPr/>
        </p:nvSpPr>
        <p:spPr>
          <a:xfrm>
            <a:off x="9553575" y="4705350"/>
            <a:ext cx="800100" cy="295275"/>
          </a:xfrm>
          <a:prstGeom prst="roundRect">
            <a:avLst>
              <a:gd name="adj" fmla="val 1290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94" name="other-skill-middle-text"/>
          <p:cNvSpPr>
            <a:spLocks noGrp="1"/>
          </p:cNvSpPr>
          <p:nvPr/>
        </p:nvSpPr>
        <p:spPr>
          <a:xfrm>
            <a:off x="9591675" y="4724400"/>
            <a:ext cx="72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292"/>
          </a:bodyPr>
          <a:lstStyle/>
          <a:p>
            <a:pPr algn="ctr">
              <a:def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Other</a:t>
            </a:r>
            <a:endParaRPr sz="101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endParaRPr sz="101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other-skill-result-box"/>
          <p:cNvSpPr>
            <a:spLocks noGrp="1"/>
          </p:cNvSpPr>
          <p:nvPr/>
        </p:nvSpPr>
        <p:spPr>
          <a:xfrm>
            <a:off x="10629900" y="4705350"/>
            <a:ext cx="685800" cy="295275"/>
          </a:xfrm>
          <a:prstGeom prst="roundRect">
            <a:avLst>
              <a:gd name="adj" fmla="val 1290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96" name="other-skill-result-text"/>
          <p:cNvSpPr>
            <a:spLocks noGrp="1"/>
          </p:cNvSpPr>
          <p:nvPr/>
        </p:nvSpPr>
        <p:spPr>
          <a:xfrm>
            <a:off x="10668000" y="4724400"/>
            <a:ext cx="609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</a:t>
            </a:r>
            <a:endParaRPr sz="10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other-skill-description"/>
          <p:cNvSpPr>
            <a:spLocks noGrp="1"/>
          </p:cNvSpPr>
          <p:nvPr/>
        </p:nvSpPr>
        <p:spPr>
          <a:xfrm>
            <a:off x="8477250" y="50577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复用已独立封装的完整能力模块</a:t>
            </a:r>
            <a:endParaRPr sz="116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other-skill-keywords"/>
          <p:cNvSpPr>
            <a:spLocks noGrp="1"/>
          </p:cNvSpPr>
          <p:nvPr/>
        </p:nvSpPr>
        <p:spPr>
          <a:xfrm>
            <a:off x="8477250" y="5286375"/>
            <a:ext cx="2952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完整能力  ·  自有 SKILL.md  ·  可重复调用</a:t>
            </a:r>
            <a:endParaRPr sz="106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other-skill-code-band"/>
          <p:cNvSpPr>
            <a:spLocks noGrp="1"/>
          </p:cNvSpPr>
          <p:nvPr/>
        </p:nvSpPr>
        <p:spPr>
          <a:xfrm>
            <a:off x="8458200" y="5534025"/>
            <a:ext cx="2990850" cy="209550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100" name="other-skill-code"/>
          <p:cNvSpPr>
            <a:spLocks noGrp="1"/>
          </p:cNvSpPr>
          <p:nvPr/>
        </p:nvSpPr>
        <p:spPr>
          <a:xfrm>
            <a:off x="8534400" y="5534025"/>
            <a:ext cx="2838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20" b="1">
                <a:solidFill>
                  <a:srgbClr val="557A9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20" b="1">
                <a:solidFill>
                  <a:srgbClr val="557A9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Skill(...)  ·  已封装能力复用</a:t>
            </a:r>
            <a:endParaRPr sz="1020" b="1">
              <a:solidFill>
                <a:srgbClr val="557A9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1" name="summary-band"/>
          <p:cNvSpPr>
            <a:spLocks noGrp="1"/>
          </p:cNvSpPr>
          <p:nvPr/>
        </p:nvSpPr>
        <p:spPr>
          <a:xfrm>
            <a:off x="609600" y="6000750"/>
            <a:ext cx="10972800" cy="609600"/>
          </a:xfrm>
          <a:prstGeom prst="rect">
            <a:avLst/>
          </a:prstGeom>
          <a:solidFill>
            <a:srgbClr val="F3F4F5"/>
          </a:solidFill>
          <a:ln w="0">
            <a:noFill/>
            <a:prstDash val="solid"/>
          </a:ln>
        </p:spPr>
      </p:sp>
      <p:sp>
        <p:nvSpPr>
          <p:cNvPr id="102" name="summary-accent"/>
          <p:cNvSpPr>
            <a:spLocks noGrp="1"/>
          </p:cNvSpPr>
          <p:nvPr/>
        </p:nvSpPr>
        <p:spPr>
          <a:xfrm>
            <a:off x="609600" y="6000750"/>
            <a:ext cx="38100" cy="6096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03" name="summary-title"/>
          <p:cNvSpPr>
            <a:spLocks noGrp="1"/>
          </p:cNvSpPr>
          <p:nvPr/>
        </p:nvSpPr>
        <p:spPr>
          <a:xfrm>
            <a:off x="819150" y="6067425"/>
            <a:ext cx="2457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按需组合，而不是固定模板</a:t>
            </a:r>
            <a:endParaRPr sz="14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summary-principle"/>
          <p:cNvSpPr>
            <a:spLocks noGrp="1"/>
          </p:cNvSpPr>
          <p:nvPr/>
        </p:nvSpPr>
        <p:spPr>
          <a:xfrm>
            <a:off x="819150" y="6315075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原则：资源跟着职责走</a:t>
            </a:r>
            <a:endParaRPr sz="10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summary-body"/>
          <p:cNvSpPr>
            <a:spLocks noGrp="1"/>
          </p:cNvSpPr>
          <p:nvPr/>
        </p:nvSpPr>
        <p:spPr>
          <a:xfrm>
            <a:off x="3390900" y="6067425"/>
            <a:ext cx="796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4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Reference、Example、Script、Subagent、Other Skill 均非强制；只配置完成当前职责真正需要的部分。</a:t>
            </a:r>
            <a:endParaRPr sz="124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summary-examples"/>
          <p:cNvSpPr>
            <a:spLocks noGrp="1"/>
          </p:cNvSpPr>
          <p:nvPr/>
        </p:nvSpPr>
        <p:spPr>
          <a:xfrm>
            <a:off x="3390900" y="6315075"/>
            <a:ext cx="796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 Skill → SKILL.md  ｜  环境检测 → scripts/  ｜  生成任务 → references/ + examples/</a:t>
            </a:r>
            <a:endParaRPr sz="106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" name="title-accent"/>
          <p:cNvSpPr>
            <a:spLocks noGrp="1"/>
          </p:cNvSpPr>
          <p:nvPr/>
        </p:nvSpPr>
        <p:spPr>
          <a:xfrm>
            <a:off x="609600" y="238125"/>
            <a:ext cx="47625" cy="4762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" name="slide-title"/>
          <p:cNvSpPr>
            <a:spLocks noGrp="1"/>
          </p:cNvSpPr>
          <p:nvPr/>
        </p:nvSpPr>
        <p:spPr>
          <a:xfrm>
            <a:off x="800100" y="19050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开发流程①：从任务定义到基础 Workflow</a:t>
            </a:r>
            <a:endParaRPr sz="29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ubtitle-prefix"/>
          <p:cNvSpPr>
            <a:spLocks noGrp="1"/>
          </p:cNvSpPr>
          <p:nvPr/>
        </p:nvSpPr>
        <p:spPr>
          <a:xfrm>
            <a:off x="800100" y="752475"/>
            <a:ext cx="628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9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先明确</a:t>
            </a:r>
            <a:endParaRPr sz="1390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ubtitle-emphasis"/>
          <p:cNvSpPr>
            <a:spLocks noGrp="1"/>
          </p:cNvSpPr>
          <p:nvPr/>
        </p:nvSpPr>
        <p:spPr>
          <a:xfrm>
            <a:off x="1428750" y="752475"/>
            <a:ext cx="1638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“任务怎么完成”</a:t>
            </a:r>
            <a:endParaRPr sz="139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ubtitle-suffix"/>
          <p:cNvSpPr>
            <a:spLocks noGrp="1"/>
          </p:cNvSpPr>
          <p:nvPr/>
        </p:nvSpPr>
        <p:spPr>
          <a:xfrm>
            <a:off x="3067050" y="752475"/>
            <a:ext cx="400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9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，再考虑“如何把它封装成 Skill”。</a:t>
            </a:r>
            <a:endParaRPr sz="1390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itle-divider"/>
          <p:cNvSpPr>
            <a:spLocks noGrp="1"/>
          </p:cNvSpPr>
          <p:nvPr/>
        </p:nvSpPr>
        <p:spPr>
          <a:xfrm>
            <a:off x="609600" y="1133475"/>
            <a:ext cx="109728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7" name="what-how-line"/>
          <p:cNvSpPr>
            <a:spLocks noGrp="1"/>
          </p:cNvSpPr>
          <p:nvPr/>
        </p:nvSpPr>
        <p:spPr>
          <a:xfrm>
            <a:off x="2914650" y="1504950"/>
            <a:ext cx="2133600" cy="0"/>
          </a:xfrm>
          <a:prstGeom prst="line">
            <a:avLst/>
          </a:prstGeom>
          <a:noFill/>
          <a:ln w="12383">
            <a:solidFill>
              <a:srgbClr val="7F9DB2"/>
            </a:solidFill>
            <a:prstDash val="solid"/>
          </a:ln>
        </p:spPr>
      </p:sp>
      <p:sp>
        <p:nvSpPr>
          <p:cNvPr id="8" name="what-how-arrow"/>
          <p:cNvSpPr>
            <a:spLocks noGrp="1"/>
          </p:cNvSpPr>
          <p:nvPr/>
        </p:nvSpPr>
        <p:spPr>
          <a:xfrm rot="5400000">
            <a:off x="5010150" y="14668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" name="how-who-line"/>
          <p:cNvSpPr>
            <a:spLocks noGrp="1"/>
          </p:cNvSpPr>
          <p:nvPr/>
        </p:nvSpPr>
        <p:spPr>
          <a:xfrm>
            <a:off x="7067550" y="1504950"/>
            <a:ext cx="1971675" cy="0"/>
          </a:xfrm>
          <a:prstGeom prst="line">
            <a:avLst/>
          </a:prstGeom>
          <a:noFill/>
          <a:ln w="12383">
            <a:solidFill>
              <a:srgbClr val="7F9DB2"/>
            </a:solidFill>
            <a:prstDash val="solid"/>
          </a:ln>
        </p:spPr>
      </p:sp>
      <p:sp>
        <p:nvSpPr>
          <p:cNvPr id="10" name="how-who-arrow"/>
          <p:cNvSpPr>
            <a:spLocks noGrp="1"/>
          </p:cNvSpPr>
          <p:nvPr/>
        </p:nvSpPr>
        <p:spPr>
          <a:xfrm rot="5400000">
            <a:off x="9001125" y="14668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1" name="what-how-label"/>
          <p:cNvSpPr>
            <a:spLocks noGrp="1"/>
          </p:cNvSpPr>
          <p:nvPr/>
        </p:nvSpPr>
        <p:spPr>
          <a:xfrm>
            <a:off x="3371850" y="12573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得到目标与边界</a:t>
            </a:r>
            <a:endParaRPr sz="101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how-who-label"/>
          <p:cNvSpPr>
            <a:spLocks noGrp="1"/>
          </p:cNvSpPr>
          <p:nvPr/>
        </p:nvSpPr>
        <p:spPr>
          <a:xfrm>
            <a:off x="7439025" y="1257300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 Stage 与交接</a:t>
            </a:r>
            <a:endParaRPr sz="101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what-en"/>
          <p:cNvSpPr>
            <a:spLocks noGrp="1"/>
          </p:cNvSpPr>
          <p:nvPr/>
        </p:nvSpPr>
        <p:spPr>
          <a:xfrm>
            <a:off x="1657350" y="12382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WHAT</a:t>
            </a:r>
            <a:endParaRPr sz="9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what-cn"/>
          <p:cNvSpPr>
            <a:spLocks noGrp="1"/>
          </p:cNvSpPr>
          <p:nvPr/>
        </p:nvSpPr>
        <p:spPr>
          <a:xfrm>
            <a:off x="1657350" y="1409700"/>
            <a:ext cx="1238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做什么</a:t>
            </a:r>
            <a:endParaRPr sz="13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how-en"/>
          <p:cNvSpPr>
            <a:spLocks noGrp="1"/>
          </p:cNvSpPr>
          <p:nvPr/>
        </p:nvSpPr>
        <p:spPr>
          <a:xfrm>
            <a:off x="5486400" y="12382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HOW</a:t>
            </a:r>
            <a:endParaRPr sz="9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how-cn"/>
          <p:cNvSpPr>
            <a:spLocks noGrp="1"/>
          </p:cNvSpPr>
          <p:nvPr/>
        </p:nvSpPr>
        <p:spPr>
          <a:xfrm>
            <a:off x="5486400" y="1409700"/>
            <a:ext cx="1238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  <a:endParaRPr sz="13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ho-en"/>
          <p:cNvSpPr>
            <a:spLocks noGrp="1"/>
          </p:cNvSpPr>
          <p:nvPr/>
        </p:nvSpPr>
        <p:spPr>
          <a:xfrm>
            <a:off x="9296400" y="12382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WHO</a:t>
            </a:r>
            <a:endParaRPr sz="9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who-cn"/>
          <p:cNvSpPr>
            <a:spLocks noGrp="1"/>
          </p:cNvSpPr>
          <p:nvPr/>
        </p:nvSpPr>
        <p:spPr>
          <a:xfrm>
            <a:off x="9296400" y="1409700"/>
            <a:ext cx="1238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谁来做</a:t>
            </a:r>
            <a:endParaRPr sz="13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define-frame"/>
          <p:cNvSpPr>
            <a:spLocks noGrp="1"/>
          </p:cNvSpPr>
          <p:nvPr/>
        </p:nvSpPr>
        <p:spPr>
          <a:xfrm>
            <a:off x="609600" y="1828800"/>
            <a:ext cx="3333750" cy="398145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20" name="define-accent"/>
          <p:cNvSpPr>
            <a:spLocks noGrp="1"/>
          </p:cNvSpPr>
          <p:nvPr/>
        </p:nvSpPr>
        <p:spPr>
          <a:xfrm>
            <a:off x="609600" y="1828800"/>
            <a:ext cx="333375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1" name="define-number"/>
          <p:cNvSpPr>
            <a:spLocks noGrp="1"/>
          </p:cNvSpPr>
          <p:nvPr/>
        </p:nvSpPr>
        <p:spPr>
          <a:xfrm>
            <a:off x="762000" y="19240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define-title"/>
          <p:cNvSpPr>
            <a:spLocks noGrp="1"/>
          </p:cNvSpPr>
          <p:nvPr/>
        </p:nvSpPr>
        <p:spPr>
          <a:xfrm>
            <a:off x="1162050" y="1905000"/>
            <a:ext cx="2628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定义任务</a:t>
            </a:r>
            <a:endParaRPr sz="16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define-subtitle"/>
          <p:cNvSpPr>
            <a:spLocks noGrp="1"/>
          </p:cNvSpPr>
          <p:nvPr/>
        </p:nvSpPr>
        <p:spPr>
          <a:xfrm>
            <a:off x="762000" y="2209800"/>
            <a:ext cx="3028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先明确“做什么”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define-header-line"/>
          <p:cNvSpPr>
            <a:spLocks noGrp="1"/>
          </p:cNvSpPr>
          <p:nvPr/>
        </p:nvSpPr>
        <p:spPr>
          <a:xfrm>
            <a:off x="762000" y="2486025"/>
            <a:ext cx="302895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25" name="workflow-frame"/>
          <p:cNvSpPr>
            <a:spLocks noGrp="1"/>
          </p:cNvSpPr>
          <p:nvPr/>
        </p:nvSpPr>
        <p:spPr>
          <a:xfrm>
            <a:off x="4200525" y="1828800"/>
            <a:ext cx="3781425" cy="398145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26" name="workflow-accent"/>
          <p:cNvSpPr>
            <a:spLocks noGrp="1"/>
          </p:cNvSpPr>
          <p:nvPr/>
        </p:nvSpPr>
        <p:spPr>
          <a:xfrm>
            <a:off x="4200525" y="1828800"/>
            <a:ext cx="3781425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7" name="workflow-number"/>
          <p:cNvSpPr>
            <a:spLocks noGrp="1"/>
          </p:cNvSpPr>
          <p:nvPr/>
        </p:nvSpPr>
        <p:spPr>
          <a:xfrm>
            <a:off x="4352925" y="19240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workflow-title"/>
          <p:cNvSpPr>
            <a:spLocks noGrp="1"/>
          </p:cNvSpPr>
          <p:nvPr/>
        </p:nvSpPr>
        <p:spPr>
          <a:xfrm>
            <a:off x="4752975" y="1905000"/>
            <a:ext cx="30765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设计基础 Workflow</a:t>
            </a:r>
            <a:endParaRPr sz="16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workflow-subtitle"/>
          <p:cNvSpPr>
            <a:spLocks noGrp="1"/>
          </p:cNvSpPr>
          <p:nvPr/>
        </p:nvSpPr>
        <p:spPr>
          <a:xfrm>
            <a:off x="4352925" y="2209800"/>
            <a:ext cx="3476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明确“怎么做”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workflow-header-line"/>
          <p:cNvSpPr>
            <a:spLocks noGrp="1"/>
          </p:cNvSpPr>
          <p:nvPr/>
        </p:nvSpPr>
        <p:spPr>
          <a:xfrm>
            <a:off x="4352925" y="2486025"/>
            <a:ext cx="3476625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1" name="roles-frame"/>
          <p:cNvSpPr>
            <a:spLocks noGrp="1"/>
          </p:cNvSpPr>
          <p:nvPr/>
        </p:nvSpPr>
        <p:spPr>
          <a:xfrm>
            <a:off x="8239125" y="1828800"/>
            <a:ext cx="3343275" cy="3981450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32" name="roles-accent"/>
          <p:cNvSpPr>
            <a:spLocks noGrp="1"/>
          </p:cNvSpPr>
          <p:nvPr/>
        </p:nvSpPr>
        <p:spPr>
          <a:xfrm>
            <a:off x="8239125" y="1828800"/>
            <a:ext cx="3343275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33" name="roles-number"/>
          <p:cNvSpPr>
            <a:spLocks noGrp="1"/>
          </p:cNvSpPr>
          <p:nvPr/>
        </p:nvSpPr>
        <p:spPr>
          <a:xfrm>
            <a:off x="8391525" y="19240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les-title"/>
          <p:cNvSpPr>
            <a:spLocks noGrp="1"/>
          </p:cNvSpPr>
          <p:nvPr/>
        </p:nvSpPr>
        <p:spPr>
          <a:xfrm>
            <a:off x="8791575" y="1905000"/>
            <a:ext cx="26384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划分执行职责</a:t>
            </a:r>
            <a:endParaRPr sz="16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les-subtitle"/>
          <p:cNvSpPr>
            <a:spLocks noGrp="1"/>
          </p:cNvSpPr>
          <p:nvPr/>
        </p:nvSpPr>
        <p:spPr>
          <a:xfrm>
            <a:off x="8391525" y="2209800"/>
            <a:ext cx="3038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明确“谁来做”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les-header-line"/>
          <p:cNvSpPr>
            <a:spLocks noGrp="1"/>
          </p:cNvSpPr>
          <p:nvPr/>
        </p:nvSpPr>
        <p:spPr>
          <a:xfrm>
            <a:off x="8391525" y="2486025"/>
            <a:ext cx="3038475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7" name="define-equation-band"/>
          <p:cNvSpPr>
            <a:spLocks noGrp="1"/>
          </p:cNvSpPr>
          <p:nvPr/>
        </p:nvSpPr>
        <p:spPr>
          <a:xfrm>
            <a:off x="762000" y="2571750"/>
            <a:ext cx="3028950" cy="323850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38" name="define-equation"/>
          <p:cNvSpPr>
            <a:spLocks noGrp="1"/>
          </p:cNvSpPr>
          <p:nvPr/>
        </p:nvSpPr>
        <p:spPr>
          <a:xfrm>
            <a:off x="876300" y="2581275"/>
            <a:ext cx="2800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 X   →   处理过程   →   输出 Y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goal-label"/>
          <p:cNvSpPr>
            <a:spLocks noGrp="1"/>
          </p:cNvSpPr>
          <p:nvPr/>
        </p:nvSpPr>
        <p:spPr>
          <a:xfrm>
            <a:off x="762000" y="3009900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任务目标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goal-detail"/>
          <p:cNvSpPr>
            <a:spLocks noGrp="1"/>
          </p:cNvSpPr>
          <p:nvPr/>
        </p:nvSpPr>
        <p:spPr>
          <a:xfrm>
            <a:off x="1676400" y="300990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最终解决什么问题？</a:t>
            </a:r>
            <a:endParaRPr sz="111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goal-line"/>
          <p:cNvSpPr>
            <a:spLocks noGrp="1"/>
          </p:cNvSpPr>
          <p:nvPr/>
        </p:nvSpPr>
        <p:spPr>
          <a:xfrm>
            <a:off x="762000" y="3305175"/>
            <a:ext cx="30289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42" name="input-label"/>
          <p:cNvSpPr>
            <a:spLocks noGrp="1"/>
          </p:cNvSpPr>
          <p:nvPr/>
        </p:nvSpPr>
        <p:spPr>
          <a:xfrm>
            <a:off x="762000" y="3409950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input-detail"/>
          <p:cNvSpPr>
            <a:spLocks noGrp="1"/>
          </p:cNvSpPr>
          <p:nvPr/>
        </p:nvSpPr>
        <p:spPr>
          <a:xfrm>
            <a:off x="1676400" y="340995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 / 文件 / 代码 / 参数 / 数据</a:t>
            </a:r>
            <a:endParaRPr sz="111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input-line"/>
          <p:cNvSpPr>
            <a:spLocks noGrp="1"/>
          </p:cNvSpPr>
          <p:nvPr/>
        </p:nvSpPr>
        <p:spPr>
          <a:xfrm>
            <a:off x="762000" y="3705225"/>
            <a:ext cx="30289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45" name="output-label"/>
          <p:cNvSpPr>
            <a:spLocks noGrp="1"/>
          </p:cNvSpPr>
          <p:nvPr/>
        </p:nvSpPr>
        <p:spPr>
          <a:xfrm>
            <a:off x="762000" y="3810000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output-detail"/>
          <p:cNvSpPr>
            <a:spLocks noGrp="1"/>
          </p:cNvSpPr>
          <p:nvPr/>
        </p:nvSpPr>
        <p:spPr>
          <a:xfrm>
            <a:off x="1676400" y="381000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 / 文档 / 文件 / 结果 / 报告</a:t>
            </a:r>
            <a:endParaRPr sz="111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output-line"/>
          <p:cNvSpPr>
            <a:spLocks noGrp="1"/>
          </p:cNvSpPr>
          <p:nvPr/>
        </p:nvSpPr>
        <p:spPr>
          <a:xfrm>
            <a:off x="762000" y="4105275"/>
            <a:ext cx="30289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48" name="boundary-label"/>
          <p:cNvSpPr>
            <a:spLocks noGrp="1"/>
          </p:cNvSpPr>
          <p:nvPr/>
        </p:nvSpPr>
        <p:spPr>
          <a:xfrm>
            <a:off x="762000" y="4210050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Boundary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boundary-detail"/>
          <p:cNvSpPr>
            <a:spLocks noGrp="1"/>
          </p:cNvSpPr>
          <p:nvPr/>
        </p:nvSpPr>
        <p:spPr>
          <a:xfrm>
            <a:off x="1676400" y="421005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负责什么；不修改未指定内容</a:t>
            </a:r>
            <a:endParaRPr sz="111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boundary-line"/>
          <p:cNvSpPr>
            <a:spLocks noGrp="1"/>
          </p:cNvSpPr>
          <p:nvPr/>
        </p:nvSpPr>
        <p:spPr>
          <a:xfrm>
            <a:off x="762000" y="4505325"/>
            <a:ext cx="30289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51" name="success-label"/>
          <p:cNvSpPr>
            <a:spLocks noGrp="1"/>
          </p:cNvSpPr>
          <p:nvPr/>
        </p:nvSpPr>
        <p:spPr>
          <a:xfrm>
            <a:off x="762000" y="4610100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Success</a:t>
            </a:r>
            <a:endParaRPr sz="120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success-detail"/>
          <p:cNvSpPr>
            <a:spLocks noGrp="1"/>
          </p:cNvSpPr>
          <p:nvPr/>
        </p:nvSpPr>
        <p:spPr>
          <a:xfrm>
            <a:off x="1676400" y="461010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文件存在 · 测试通过 · 格式合规</a:t>
            </a:r>
            <a:endParaRPr sz="111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success-line"/>
          <p:cNvSpPr>
            <a:spLocks noGrp="1"/>
          </p:cNvSpPr>
          <p:nvPr/>
        </p:nvSpPr>
        <p:spPr>
          <a:xfrm>
            <a:off x="762000" y="4905375"/>
            <a:ext cx="30289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54" name="define-product-band"/>
          <p:cNvSpPr>
            <a:spLocks noGrp="1"/>
          </p:cNvSpPr>
          <p:nvPr/>
        </p:nvSpPr>
        <p:spPr>
          <a:xfrm>
            <a:off x="762000" y="5314950"/>
            <a:ext cx="3028950" cy="3333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55" name="define-product"/>
          <p:cNvSpPr>
            <a:spLocks noGrp="1"/>
          </p:cNvSpPr>
          <p:nvPr/>
        </p:nvSpPr>
        <p:spPr>
          <a:xfrm>
            <a:off x="876300" y="5334000"/>
            <a:ext cx="28003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1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产物：任务定义 + 初始输入输出契约</a:t>
            </a:r>
            <a:endParaRPr sz="111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workflow-flow-line-0"/>
          <p:cNvSpPr>
            <a:spLocks noGrp="1"/>
          </p:cNvSpPr>
          <p:nvPr/>
        </p:nvSpPr>
        <p:spPr>
          <a:xfrm>
            <a:off x="4867275" y="2781300"/>
            <a:ext cx="1524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57" name="workflow-flow-arrow-0"/>
          <p:cNvSpPr>
            <a:spLocks noGrp="1"/>
          </p:cNvSpPr>
          <p:nvPr/>
        </p:nvSpPr>
        <p:spPr>
          <a:xfrm rot="5400000">
            <a:off x="4972050" y="27432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58" name="workflow-flow-line-1"/>
          <p:cNvSpPr>
            <a:spLocks noGrp="1"/>
          </p:cNvSpPr>
          <p:nvPr/>
        </p:nvSpPr>
        <p:spPr>
          <a:xfrm>
            <a:off x="5610225" y="2781300"/>
            <a:ext cx="1524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59" name="workflow-flow-arrow-1"/>
          <p:cNvSpPr>
            <a:spLocks noGrp="1"/>
          </p:cNvSpPr>
          <p:nvPr/>
        </p:nvSpPr>
        <p:spPr>
          <a:xfrm rot="5400000">
            <a:off x="5715000" y="27432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0" name="workflow-flow-line-2"/>
          <p:cNvSpPr>
            <a:spLocks noGrp="1"/>
          </p:cNvSpPr>
          <p:nvPr/>
        </p:nvSpPr>
        <p:spPr>
          <a:xfrm>
            <a:off x="6467475" y="2781300"/>
            <a:ext cx="1524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1" name="workflow-flow-arrow-2"/>
          <p:cNvSpPr>
            <a:spLocks noGrp="1"/>
          </p:cNvSpPr>
          <p:nvPr/>
        </p:nvSpPr>
        <p:spPr>
          <a:xfrm rot="5400000">
            <a:off x="6572250" y="27432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2" name="workflow-flow-line-3"/>
          <p:cNvSpPr>
            <a:spLocks noGrp="1"/>
          </p:cNvSpPr>
          <p:nvPr/>
        </p:nvSpPr>
        <p:spPr>
          <a:xfrm>
            <a:off x="7210425" y="2781300"/>
            <a:ext cx="1524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3" name="workflow-flow-arrow-3"/>
          <p:cNvSpPr>
            <a:spLocks noGrp="1"/>
          </p:cNvSpPr>
          <p:nvPr/>
        </p:nvSpPr>
        <p:spPr>
          <a:xfrm rot="5400000">
            <a:off x="7315200" y="27432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4" name="input-node-box"/>
          <p:cNvSpPr>
            <a:spLocks noGrp="1"/>
          </p:cNvSpPr>
          <p:nvPr/>
        </p:nvSpPr>
        <p:spPr>
          <a:xfrm>
            <a:off x="4362450" y="2628900"/>
            <a:ext cx="504825" cy="304800"/>
          </a:xfrm>
          <a:prstGeom prst="roundRect">
            <a:avLst>
              <a:gd name="adj" fmla="val 12500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65" name="input-node-text"/>
          <p:cNvSpPr>
            <a:spLocks noGrp="1"/>
          </p:cNvSpPr>
          <p:nvPr/>
        </p:nvSpPr>
        <p:spPr>
          <a:xfrm>
            <a:off x="4391025" y="2647950"/>
            <a:ext cx="447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stage-a-node-box"/>
          <p:cNvSpPr>
            <a:spLocks noGrp="1"/>
          </p:cNvSpPr>
          <p:nvPr/>
        </p:nvSpPr>
        <p:spPr>
          <a:xfrm>
            <a:off x="5019675" y="2628900"/>
            <a:ext cx="590550" cy="304800"/>
          </a:xfrm>
          <a:prstGeom prst="roundRect">
            <a:avLst>
              <a:gd name="adj" fmla="val 12500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67" name="stage-a-node-text"/>
          <p:cNvSpPr>
            <a:spLocks noGrp="1"/>
          </p:cNvSpPr>
          <p:nvPr/>
        </p:nvSpPr>
        <p:spPr>
          <a:xfrm>
            <a:off x="5048250" y="2647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A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artifact-node-box"/>
          <p:cNvSpPr>
            <a:spLocks noGrp="1"/>
          </p:cNvSpPr>
          <p:nvPr/>
        </p:nvSpPr>
        <p:spPr>
          <a:xfrm>
            <a:off x="5762625" y="2628900"/>
            <a:ext cx="704850" cy="304800"/>
          </a:xfrm>
          <a:prstGeom prst="roundRect">
            <a:avLst>
              <a:gd name="adj" fmla="val 12500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69" name="artifact-node-text"/>
          <p:cNvSpPr>
            <a:spLocks noGrp="1"/>
          </p:cNvSpPr>
          <p:nvPr/>
        </p:nvSpPr>
        <p:spPr>
          <a:xfrm>
            <a:off x="5791200" y="264795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5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Artifact A</a:t>
            </a:r>
            <a:endParaRPr sz="95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stage-b-node-box"/>
          <p:cNvSpPr>
            <a:spLocks noGrp="1"/>
          </p:cNvSpPr>
          <p:nvPr/>
        </p:nvSpPr>
        <p:spPr>
          <a:xfrm>
            <a:off x="6619875" y="2628900"/>
            <a:ext cx="590550" cy="304800"/>
          </a:xfrm>
          <a:prstGeom prst="roundRect">
            <a:avLst>
              <a:gd name="adj" fmla="val 12500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1" name="stage-b-node-text"/>
          <p:cNvSpPr>
            <a:spLocks noGrp="1"/>
          </p:cNvSpPr>
          <p:nvPr/>
        </p:nvSpPr>
        <p:spPr>
          <a:xfrm>
            <a:off x="6648450" y="2647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B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output-node-box"/>
          <p:cNvSpPr>
            <a:spLocks noGrp="1"/>
          </p:cNvSpPr>
          <p:nvPr/>
        </p:nvSpPr>
        <p:spPr>
          <a:xfrm>
            <a:off x="7362825" y="2628900"/>
            <a:ext cx="495300" cy="304800"/>
          </a:xfrm>
          <a:prstGeom prst="roundRect">
            <a:avLst>
              <a:gd name="adj" fmla="val 12500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3" name="output-node-text"/>
          <p:cNvSpPr>
            <a:spLocks noGrp="1"/>
          </p:cNvSpPr>
          <p:nvPr/>
        </p:nvSpPr>
        <p:spPr>
          <a:xfrm>
            <a:off x="7391400" y="26479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398"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artifact-types"/>
          <p:cNvSpPr>
            <a:spLocks noGrp="1"/>
          </p:cNvSpPr>
          <p:nvPr/>
        </p:nvSpPr>
        <p:spPr>
          <a:xfrm>
            <a:off x="5381625" y="2952750"/>
            <a:ext cx="14859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68838"/>
          </a:bodyPr>
          <a:lstStyle/>
          <a:p>
            <a:pPr algn="ctr">
              <a:defRPr sz="81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1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File / JSON / Markdown / Code / Result</a:t>
            </a:r>
            <a:endParaRPr sz="810" b="0">
              <a:solidFill>
                <a:srgbClr val="6872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5" name="stage-row-label"/>
          <p:cNvSpPr>
            <a:spLocks noGrp="1"/>
          </p:cNvSpPr>
          <p:nvPr/>
        </p:nvSpPr>
        <p:spPr>
          <a:xfrm>
            <a:off x="4371975" y="3190875"/>
            <a:ext cx="800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</a:t>
            </a:r>
            <a:endParaRPr sz="118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stage-row-detail"/>
          <p:cNvSpPr>
            <a:spLocks noGrp="1"/>
          </p:cNvSpPr>
          <p:nvPr/>
        </p:nvSpPr>
        <p:spPr>
          <a:xfrm>
            <a:off x="5191125" y="3190875"/>
            <a:ext cx="2628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每阶段明确 Input · Action · Output</a:t>
            </a:r>
            <a:endParaRPr sz="109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stage-row-line"/>
          <p:cNvSpPr>
            <a:spLocks noGrp="1"/>
          </p:cNvSpPr>
          <p:nvPr/>
        </p:nvSpPr>
        <p:spPr>
          <a:xfrm>
            <a:off x="4371975" y="348615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78" name="handoff-row-label"/>
          <p:cNvSpPr>
            <a:spLocks noGrp="1"/>
          </p:cNvSpPr>
          <p:nvPr/>
        </p:nvSpPr>
        <p:spPr>
          <a:xfrm>
            <a:off x="4371975" y="3590925"/>
            <a:ext cx="800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Handoff</a:t>
            </a:r>
            <a:endParaRPr sz="118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handoff-row-detail"/>
          <p:cNvSpPr>
            <a:spLocks noGrp="1"/>
          </p:cNvSpPr>
          <p:nvPr/>
        </p:nvSpPr>
        <p:spPr>
          <a:xfrm>
            <a:off x="5191125" y="3590925"/>
            <a:ext cx="2628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8308"/>
          </a:bodyPr>
          <a:lstStyle/>
          <a:p>
            <a:pPr algn="l">
              <a:def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Contract → Artifact → Input Contract</a:t>
            </a:r>
            <a:endParaRPr sz="109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handoff-row-line"/>
          <p:cNvSpPr>
            <a:spLocks noGrp="1"/>
          </p:cNvSpPr>
          <p:nvPr/>
        </p:nvSpPr>
        <p:spPr>
          <a:xfrm>
            <a:off x="4371975" y="388620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81" name="gate-row-label"/>
          <p:cNvSpPr>
            <a:spLocks noGrp="1"/>
          </p:cNvSpPr>
          <p:nvPr/>
        </p:nvSpPr>
        <p:spPr>
          <a:xfrm>
            <a:off x="4371975" y="3990975"/>
            <a:ext cx="800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</a:t>
            </a:r>
            <a:endParaRPr sz="118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gate-row-detail"/>
          <p:cNvSpPr>
            <a:spLocks noGrp="1"/>
          </p:cNvSpPr>
          <p:nvPr/>
        </p:nvSpPr>
        <p:spPr>
          <a:xfrm>
            <a:off x="5191125" y="3990975"/>
            <a:ext cx="2628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PASS 才推进；FAIL 转入失败路径</a:t>
            </a:r>
            <a:endParaRPr sz="109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gate-row-line"/>
          <p:cNvSpPr>
            <a:spLocks noGrp="1"/>
          </p:cNvSpPr>
          <p:nvPr/>
        </p:nvSpPr>
        <p:spPr>
          <a:xfrm>
            <a:off x="4371975" y="428625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84" name="failure-row-label"/>
          <p:cNvSpPr>
            <a:spLocks noGrp="1"/>
          </p:cNvSpPr>
          <p:nvPr/>
        </p:nvSpPr>
        <p:spPr>
          <a:xfrm>
            <a:off x="4371975" y="4391025"/>
            <a:ext cx="800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Failure</a:t>
            </a:r>
            <a:endParaRPr sz="118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failure-row-detail"/>
          <p:cNvSpPr>
            <a:spLocks noGrp="1"/>
          </p:cNvSpPr>
          <p:nvPr/>
        </p:nvSpPr>
        <p:spPr>
          <a:xfrm>
            <a:off x="5191125" y="4391025"/>
            <a:ext cx="2628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Retry 当前阶段 · Fallback 前一阶段</a:t>
            </a:r>
            <a:endParaRPr sz="109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failure-row-line"/>
          <p:cNvSpPr>
            <a:spLocks noGrp="1"/>
          </p:cNvSpPr>
          <p:nvPr/>
        </p:nvSpPr>
        <p:spPr>
          <a:xfrm>
            <a:off x="4371975" y="468630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87" name="routing-note-band"/>
          <p:cNvSpPr>
            <a:spLocks noGrp="1"/>
          </p:cNvSpPr>
          <p:nvPr/>
        </p:nvSpPr>
        <p:spPr>
          <a:xfrm>
            <a:off x="4352925" y="4857750"/>
            <a:ext cx="3476625" cy="352425"/>
          </a:xfrm>
          <a:prstGeom prst="rect">
            <a:avLst/>
          </a:prstGeom>
          <a:solidFill>
            <a:srgbClr val="F7F9FA"/>
          </a:solidFill>
          <a:ln w="0">
            <a:noFill/>
            <a:prstDash val="solid"/>
          </a:ln>
        </p:spPr>
      </p:sp>
      <p:sp>
        <p:nvSpPr>
          <p:cNvPr id="88" name="routing-note"/>
          <p:cNvSpPr>
            <a:spLocks noGrp="1"/>
          </p:cNvSpPr>
          <p:nvPr/>
        </p:nvSpPr>
        <p:spPr>
          <a:xfrm>
            <a:off x="4476750" y="4876800"/>
            <a:ext cx="32289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3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Routing 仅在多分支时设计；不为结构完整强行加入。</a:t>
            </a:r>
            <a:endParaRPr sz="103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workflow-product-band"/>
          <p:cNvSpPr>
            <a:spLocks noGrp="1"/>
          </p:cNvSpPr>
          <p:nvPr/>
        </p:nvSpPr>
        <p:spPr>
          <a:xfrm>
            <a:off x="4352925" y="5314950"/>
            <a:ext cx="3476625" cy="333375"/>
          </a:xfrm>
          <a:prstGeom prst="rect">
            <a:avLst/>
          </a:prstGeom>
          <a:solidFill>
            <a:srgbClr val="F2F6F8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90" name="workflow-product"/>
          <p:cNvSpPr>
            <a:spLocks noGrp="1"/>
          </p:cNvSpPr>
          <p:nvPr/>
        </p:nvSpPr>
        <p:spPr>
          <a:xfrm>
            <a:off x="4457700" y="5314950"/>
            <a:ext cx="32670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产物：从 Input 到 Output 的最小可运行 Workflow</a:t>
            </a:r>
            <a:endParaRPr sz="106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workflow-product-en"/>
          <p:cNvSpPr>
            <a:spLocks noGrp="1"/>
          </p:cNvSpPr>
          <p:nvPr/>
        </p:nvSpPr>
        <p:spPr>
          <a:xfrm>
            <a:off x="4457700" y="5505450"/>
            <a:ext cx="3267075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81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10" b="0">
                <a:solidFill>
                  <a:srgbClr val="6872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Minimum Viable Workflow</a:t>
            </a:r>
            <a:endParaRPr sz="810" b="0">
              <a:solidFill>
                <a:srgbClr val="6872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2" name="roles-intro"/>
          <p:cNvSpPr>
            <a:spLocks noGrp="1"/>
          </p:cNvSpPr>
          <p:nvPr/>
        </p:nvSpPr>
        <p:spPr>
          <a:xfrm>
            <a:off x="8410575" y="2476500"/>
            <a:ext cx="2990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1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逐个判断每个 Stage 最适合由谁完成</a:t>
            </a:r>
            <a:endParaRPr sz="1110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role-stage-down"/>
          <p:cNvSpPr>
            <a:spLocks noGrp="1"/>
          </p:cNvSpPr>
          <p:nvPr/>
        </p:nvSpPr>
        <p:spPr>
          <a:xfrm>
            <a:off x="9915525" y="2990850"/>
            <a:ext cx="0" cy="1143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4" name="role-branch"/>
          <p:cNvSpPr>
            <a:spLocks noGrp="1"/>
          </p:cNvSpPr>
          <p:nvPr/>
        </p:nvSpPr>
        <p:spPr>
          <a:xfrm>
            <a:off x="8743950" y="3105150"/>
            <a:ext cx="229552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5" name="role-drop-0"/>
          <p:cNvSpPr>
            <a:spLocks noGrp="1"/>
          </p:cNvSpPr>
          <p:nvPr/>
        </p:nvSpPr>
        <p:spPr>
          <a:xfrm>
            <a:off x="8743950" y="3105150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6" name="role-arrow-0"/>
          <p:cNvSpPr>
            <a:spLocks noGrp="1"/>
          </p:cNvSpPr>
          <p:nvPr/>
        </p:nvSpPr>
        <p:spPr>
          <a:xfrm rot="10800000">
            <a:off x="8705850" y="31527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7" name="role-drop-1"/>
          <p:cNvSpPr>
            <a:spLocks noGrp="1"/>
          </p:cNvSpPr>
          <p:nvPr/>
        </p:nvSpPr>
        <p:spPr>
          <a:xfrm>
            <a:off x="9496425" y="3105150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8" name="role-arrow-1"/>
          <p:cNvSpPr>
            <a:spLocks noGrp="1"/>
          </p:cNvSpPr>
          <p:nvPr/>
        </p:nvSpPr>
        <p:spPr>
          <a:xfrm rot="10800000">
            <a:off x="9458325" y="31527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9" name="role-drop-2"/>
          <p:cNvSpPr>
            <a:spLocks noGrp="1"/>
          </p:cNvSpPr>
          <p:nvPr/>
        </p:nvSpPr>
        <p:spPr>
          <a:xfrm>
            <a:off x="10248900" y="3105150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00" name="role-arrow-2"/>
          <p:cNvSpPr>
            <a:spLocks noGrp="1"/>
          </p:cNvSpPr>
          <p:nvPr/>
        </p:nvSpPr>
        <p:spPr>
          <a:xfrm rot="10800000">
            <a:off x="10210800" y="31527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01" name="role-drop-3"/>
          <p:cNvSpPr>
            <a:spLocks noGrp="1"/>
          </p:cNvSpPr>
          <p:nvPr/>
        </p:nvSpPr>
        <p:spPr>
          <a:xfrm>
            <a:off x="11039475" y="3105150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02" name="role-arrow-3"/>
          <p:cNvSpPr>
            <a:spLocks noGrp="1"/>
          </p:cNvSpPr>
          <p:nvPr/>
        </p:nvSpPr>
        <p:spPr>
          <a:xfrm rot="10800000">
            <a:off x="11001375" y="31527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03" name="stage-owner-box"/>
          <p:cNvSpPr>
            <a:spLocks noGrp="1"/>
          </p:cNvSpPr>
          <p:nvPr/>
        </p:nvSpPr>
        <p:spPr>
          <a:xfrm>
            <a:off x="9563100" y="2705100"/>
            <a:ext cx="704850" cy="28575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04" name="stage-owner-text"/>
          <p:cNvSpPr>
            <a:spLocks noGrp="1"/>
          </p:cNvSpPr>
          <p:nvPr/>
        </p:nvSpPr>
        <p:spPr>
          <a:xfrm>
            <a:off x="9591675" y="272415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</a:t>
            </a:r>
            <a:endParaRPr sz="10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main-agent-node-box"/>
          <p:cNvSpPr>
            <a:spLocks noGrp="1"/>
          </p:cNvSpPr>
          <p:nvPr/>
        </p:nvSpPr>
        <p:spPr>
          <a:xfrm>
            <a:off x="8401050" y="3228975"/>
            <a:ext cx="685800" cy="342900"/>
          </a:xfrm>
          <a:prstGeom prst="roundRect">
            <a:avLst>
              <a:gd name="adj" fmla="val 111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06" name="main-agent-node-text"/>
          <p:cNvSpPr>
            <a:spLocks noGrp="1"/>
          </p:cNvSpPr>
          <p:nvPr/>
        </p:nvSpPr>
        <p:spPr>
          <a:xfrm>
            <a:off x="8429625" y="3248025"/>
            <a:ext cx="628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</a:t>
            </a:r>
            <a:endParaRPr sz="9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9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script-node-box"/>
          <p:cNvSpPr>
            <a:spLocks noGrp="1"/>
          </p:cNvSpPr>
          <p:nvPr/>
        </p:nvSpPr>
        <p:spPr>
          <a:xfrm>
            <a:off x="9153525" y="3228975"/>
            <a:ext cx="685800" cy="342900"/>
          </a:xfrm>
          <a:prstGeom prst="roundRect">
            <a:avLst>
              <a:gd name="adj" fmla="val 111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08" name="script-node-text"/>
          <p:cNvSpPr>
            <a:spLocks noGrp="1"/>
          </p:cNvSpPr>
          <p:nvPr/>
        </p:nvSpPr>
        <p:spPr>
          <a:xfrm>
            <a:off x="9182100" y="3248025"/>
            <a:ext cx="628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subagent-node-box"/>
          <p:cNvSpPr>
            <a:spLocks noGrp="1"/>
          </p:cNvSpPr>
          <p:nvPr/>
        </p:nvSpPr>
        <p:spPr>
          <a:xfrm>
            <a:off x="9906000" y="3228975"/>
            <a:ext cx="685800" cy="342900"/>
          </a:xfrm>
          <a:prstGeom prst="roundRect">
            <a:avLst>
              <a:gd name="adj" fmla="val 111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10" name="subagent-node-text"/>
          <p:cNvSpPr>
            <a:spLocks noGrp="1"/>
          </p:cNvSpPr>
          <p:nvPr/>
        </p:nvSpPr>
        <p:spPr>
          <a:xfrm>
            <a:off x="9934575" y="3248025"/>
            <a:ext cx="628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3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3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</a:t>
            </a:r>
            <a:endParaRPr sz="93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other-skill-node-box"/>
          <p:cNvSpPr>
            <a:spLocks noGrp="1"/>
          </p:cNvSpPr>
          <p:nvPr/>
        </p:nvSpPr>
        <p:spPr>
          <a:xfrm>
            <a:off x="10658475" y="3228975"/>
            <a:ext cx="762000" cy="342900"/>
          </a:xfrm>
          <a:prstGeom prst="roundRect">
            <a:avLst>
              <a:gd name="adj" fmla="val 111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12" name="other-skill-node-text"/>
          <p:cNvSpPr>
            <a:spLocks noGrp="1"/>
          </p:cNvSpPr>
          <p:nvPr/>
        </p:nvSpPr>
        <p:spPr>
          <a:xfrm>
            <a:off x="10687050" y="3248025"/>
            <a:ext cx="704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Other</a:t>
            </a:r>
            <a:endParaRPr sz="9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endParaRPr sz="9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main-agent-row-label"/>
          <p:cNvSpPr>
            <a:spLocks noGrp="1"/>
          </p:cNvSpPr>
          <p:nvPr/>
        </p:nvSpPr>
        <p:spPr>
          <a:xfrm>
            <a:off x="8410575" y="3676650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 Agent</a:t>
            </a:r>
            <a:endParaRPr sz="11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main-agent-row-detail"/>
          <p:cNvSpPr>
            <a:spLocks noGrp="1"/>
          </p:cNvSpPr>
          <p:nvPr/>
        </p:nvSpPr>
        <p:spPr>
          <a:xfrm>
            <a:off x="9315450" y="3676650"/>
            <a:ext cx="2085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简单判断 / 编排 / 轻量推理</a:t>
            </a:r>
            <a:endParaRPr sz="107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main-agent-row-line"/>
          <p:cNvSpPr>
            <a:spLocks noGrp="1"/>
          </p:cNvSpPr>
          <p:nvPr/>
        </p:nvSpPr>
        <p:spPr>
          <a:xfrm>
            <a:off x="8410575" y="3943350"/>
            <a:ext cx="29908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116" name="script-row-label"/>
          <p:cNvSpPr>
            <a:spLocks noGrp="1"/>
          </p:cNvSpPr>
          <p:nvPr/>
        </p:nvSpPr>
        <p:spPr>
          <a:xfrm>
            <a:off x="8410575" y="3990975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</a:t>
            </a:r>
            <a:endParaRPr sz="11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script-row-detail"/>
          <p:cNvSpPr>
            <a:spLocks noGrp="1"/>
          </p:cNvSpPr>
          <p:nvPr/>
        </p:nvSpPr>
        <p:spPr>
          <a:xfrm>
            <a:off x="9315450" y="3990975"/>
            <a:ext cx="2085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 / 程序化 / 真实执行</a:t>
            </a:r>
            <a:endParaRPr sz="107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script-row-line"/>
          <p:cNvSpPr>
            <a:spLocks noGrp="1"/>
          </p:cNvSpPr>
          <p:nvPr/>
        </p:nvSpPr>
        <p:spPr>
          <a:xfrm>
            <a:off x="8410575" y="4257675"/>
            <a:ext cx="29908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119" name="subagent-row-label"/>
          <p:cNvSpPr>
            <a:spLocks noGrp="1"/>
          </p:cNvSpPr>
          <p:nvPr/>
        </p:nvSpPr>
        <p:spPr>
          <a:xfrm>
            <a:off x="8410575" y="4305300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</a:t>
            </a:r>
            <a:endParaRPr sz="11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subagent-row-detail"/>
          <p:cNvSpPr>
            <a:spLocks noGrp="1"/>
          </p:cNvSpPr>
          <p:nvPr/>
        </p:nvSpPr>
        <p:spPr>
          <a:xfrm>
            <a:off x="9315450" y="4305300"/>
            <a:ext cx="2085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独立复杂任务 / 上下文隔离</a:t>
            </a:r>
            <a:endParaRPr sz="107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subagent-row-line"/>
          <p:cNvSpPr>
            <a:spLocks noGrp="1"/>
          </p:cNvSpPr>
          <p:nvPr/>
        </p:nvSpPr>
        <p:spPr>
          <a:xfrm>
            <a:off x="8410575" y="4572000"/>
            <a:ext cx="29908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122" name="other-skill-row-label"/>
          <p:cNvSpPr>
            <a:spLocks noGrp="1"/>
          </p:cNvSpPr>
          <p:nvPr/>
        </p:nvSpPr>
        <p:spPr>
          <a:xfrm>
            <a:off x="8410575" y="4619625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Other Skill</a:t>
            </a:r>
            <a:endParaRPr sz="11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other-skill-row-detail"/>
          <p:cNvSpPr>
            <a:spLocks noGrp="1"/>
          </p:cNvSpPr>
          <p:nvPr/>
        </p:nvSpPr>
        <p:spPr>
          <a:xfrm>
            <a:off x="9315450" y="4619625"/>
            <a:ext cx="2085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完整能力 / 自有 Workflow / 复用</a:t>
            </a:r>
            <a:endParaRPr sz="107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other-skill-row-line"/>
          <p:cNvSpPr>
            <a:spLocks noGrp="1"/>
          </p:cNvSpPr>
          <p:nvPr/>
        </p:nvSpPr>
        <p:spPr>
          <a:xfrm>
            <a:off x="8410575" y="4886325"/>
            <a:ext cx="29908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125" name="role-decision-band"/>
          <p:cNvSpPr>
            <a:spLocks noGrp="1"/>
          </p:cNvSpPr>
          <p:nvPr/>
        </p:nvSpPr>
        <p:spPr>
          <a:xfrm>
            <a:off x="8391525" y="4991100"/>
            <a:ext cx="3038475" cy="361950"/>
          </a:xfrm>
          <a:prstGeom prst="rect">
            <a:avLst/>
          </a:prstGeom>
          <a:solidFill>
            <a:srgbClr val="F7F9FA"/>
          </a:solidFill>
          <a:ln w="0">
            <a:noFill/>
            <a:prstDash val="solid"/>
          </a:ln>
        </p:spPr>
      </p:sp>
      <p:sp>
        <p:nvSpPr>
          <p:cNvPr id="126" name="role-decision-1"/>
          <p:cNvSpPr>
            <a:spLocks noGrp="1"/>
          </p:cNvSpPr>
          <p:nvPr/>
        </p:nvSpPr>
        <p:spPr>
          <a:xfrm>
            <a:off x="8496300" y="5000625"/>
            <a:ext cx="28289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6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 → Main Agent  ·  确定性 → Script</a:t>
            </a:r>
            <a:endParaRPr sz="96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role-decision-2"/>
          <p:cNvSpPr>
            <a:spLocks noGrp="1"/>
          </p:cNvSpPr>
          <p:nvPr/>
        </p:nvSpPr>
        <p:spPr>
          <a:xfrm>
            <a:off x="8496300" y="5172075"/>
            <a:ext cx="28289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3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3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独立推理 → Subagent  ·  完整能力 → Other Skill</a:t>
            </a:r>
            <a:endParaRPr sz="93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role-principle-band"/>
          <p:cNvSpPr>
            <a:spLocks noGrp="1"/>
          </p:cNvSpPr>
          <p:nvPr/>
        </p:nvSpPr>
        <p:spPr>
          <a:xfrm>
            <a:off x="8391525" y="5429250"/>
            <a:ext cx="3038475" cy="257175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129" name="role-principle"/>
          <p:cNvSpPr>
            <a:spLocks noGrp="1"/>
          </p:cNvSpPr>
          <p:nvPr/>
        </p:nvSpPr>
        <p:spPr>
          <a:xfrm>
            <a:off x="8496300" y="5438775"/>
            <a:ext cx="28289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6519"/>
          </a:bodyPr>
          <a:lstStyle/>
          <a:p>
            <a:pPr algn="ct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不为了“多 Agent”而拆分；只在复杂度需要时增加层级。</a:t>
            </a:r>
            <a:endParaRPr sz="9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summary-band"/>
          <p:cNvSpPr>
            <a:spLocks noGrp="1"/>
          </p:cNvSpPr>
          <p:nvPr/>
        </p:nvSpPr>
        <p:spPr>
          <a:xfrm>
            <a:off x="609600" y="6000750"/>
            <a:ext cx="10972800" cy="609600"/>
          </a:xfrm>
          <a:prstGeom prst="rect">
            <a:avLst/>
          </a:prstGeom>
          <a:solidFill>
            <a:srgbClr val="F3F4F5"/>
          </a:solidFill>
          <a:ln w="0">
            <a:noFill/>
            <a:prstDash val="solid"/>
          </a:ln>
        </p:spPr>
      </p:sp>
      <p:sp>
        <p:nvSpPr>
          <p:cNvPr id="131" name="summary-accent"/>
          <p:cNvSpPr>
            <a:spLocks noGrp="1"/>
          </p:cNvSpPr>
          <p:nvPr/>
        </p:nvSpPr>
        <p:spPr>
          <a:xfrm>
            <a:off x="609600" y="6000750"/>
            <a:ext cx="38100" cy="6096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32" name="summary-title"/>
          <p:cNvSpPr>
            <a:spLocks noGrp="1"/>
          </p:cNvSpPr>
          <p:nvPr/>
        </p:nvSpPr>
        <p:spPr>
          <a:xfrm>
            <a:off x="819150" y="607695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6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6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开发顺序：WHAT → HOW → WHO</a:t>
            </a:r>
            <a:endParaRPr sz="146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summary-cn"/>
          <p:cNvSpPr>
            <a:spLocks noGrp="1"/>
          </p:cNvSpPr>
          <p:nvPr/>
        </p:nvSpPr>
        <p:spPr>
          <a:xfrm>
            <a:off x="819150" y="63341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做什么  →  怎么做  →  谁来做</a:t>
            </a:r>
            <a:endParaRPr sz="109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summary-body"/>
          <p:cNvSpPr>
            <a:spLocks noGrp="1"/>
          </p:cNvSpPr>
          <p:nvPr/>
        </p:nvSpPr>
        <p:spPr>
          <a:xfrm>
            <a:off x="4095750" y="6115050"/>
            <a:ext cx="723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先得到目标与边界，再形成最小可运行 Workflow，最后按复杂度分配执行者。</a:t>
            </a:r>
            <a:endParaRPr sz="129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" name="title-accent"/>
          <p:cNvSpPr>
            <a:spLocks noGrp="1"/>
          </p:cNvSpPr>
          <p:nvPr/>
        </p:nvSpPr>
        <p:spPr>
          <a:xfrm>
            <a:off x="609600" y="228600"/>
            <a:ext cx="47625" cy="4476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" name="slide-title"/>
          <p:cNvSpPr>
            <a:spLocks noGrp="1"/>
          </p:cNvSpPr>
          <p:nvPr/>
        </p:nvSpPr>
        <p:spPr>
          <a:xfrm>
            <a:off x="800100" y="171450"/>
            <a:ext cx="1057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开发流程②：从基础 Workflow 到完整 Skill</a:t>
            </a:r>
            <a:endParaRPr sz="29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800100" y="71437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3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3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 Workflow 解决“任务怎么跑通”，这一页解决“怎么让它稳定、可调用、可复用”。</a:t>
            </a:r>
            <a:endParaRPr sz="133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itle-divider"/>
          <p:cNvSpPr>
            <a:spLocks noGrp="1"/>
          </p:cNvSpPr>
          <p:nvPr/>
        </p:nvSpPr>
        <p:spPr>
          <a:xfrm>
            <a:off x="609600" y="1057275"/>
            <a:ext cx="109728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" name="resources-constraints-line"/>
          <p:cNvSpPr>
            <a:spLocks noGrp="1"/>
          </p:cNvSpPr>
          <p:nvPr/>
        </p:nvSpPr>
        <p:spPr>
          <a:xfrm>
            <a:off x="2914650" y="1333500"/>
            <a:ext cx="2133600" cy="0"/>
          </a:xfrm>
          <a:prstGeom prst="line">
            <a:avLst/>
          </a:prstGeom>
          <a:noFill/>
          <a:ln w="11430">
            <a:solidFill>
              <a:srgbClr val="7F9DB2"/>
            </a:solidFill>
            <a:prstDash val="solid"/>
          </a:ln>
        </p:spPr>
      </p:sp>
      <p:sp>
        <p:nvSpPr>
          <p:cNvPr id="6" name="resources-constraints-arrow"/>
          <p:cNvSpPr>
            <a:spLocks noGrp="1"/>
          </p:cNvSpPr>
          <p:nvPr/>
        </p:nvSpPr>
        <p:spPr>
          <a:xfrm rot="5400000">
            <a:off x="5010150" y="12954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7" name="constraints-validation-line"/>
          <p:cNvSpPr>
            <a:spLocks noGrp="1"/>
          </p:cNvSpPr>
          <p:nvPr/>
        </p:nvSpPr>
        <p:spPr>
          <a:xfrm>
            <a:off x="7067550" y="1333500"/>
            <a:ext cx="1971675" cy="0"/>
          </a:xfrm>
          <a:prstGeom prst="line">
            <a:avLst/>
          </a:prstGeom>
          <a:noFill/>
          <a:ln w="11430">
            <a:solidFill>
              <a:srgbClr val="7F9DB2"/>
            </a:solidFill>
            <a:prstDash val="solid"/>
          </a:ln>
        </p:spPr>
      </p:sp>
      <p:sp>
        <p:nvSpPr>
          <p:cNvPr id="8" name="constraints-validation-arrow"/>
          <p:cNvSpPr>
            <a:spLocks noGrp="1"/>
          </p:cNvSpPr>
          <p:nvPr/>
        </p:nvSpPr>
        <p:spPr>
          <a:xfrm rot="5400000">
            <a:off x="9001125" y="12954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" name="resources-en"/>
          <p:cNvSpPr>
            <a:spLocks noGrp="1"/>
          </p:cNvSpPr>
          <p:nvPr/>
        </p:nvSpPr>
        <p:spPr>
          <a:xfrm>
            <a:off x="1657350" y="1095375"/>
            <a:ext cx="1238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RESOURCES</a:t>
            </a:r>
            <a:endParaRPr sz="9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sources-cn"/>
          <p:cNvSpPr>
            <a:spLocks noGrp="1"/>
          </p:cNvSpPr>
          <p:nvPr/>
        </p:nvSpPr>
        <p:spPr>
          <a:xfrm>
            <a:off x="1657350" y="12573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补“缺什么”</a:t>
            </a:r>
            <a:endParaRPr sz="13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onstraints-en"/>
          <p:cNvSpPr>
            <a:spLocks noGrp="1"/>
          </p:cNvSpPr>
          <p:nvPr/>
        </p:nvSpPr>
        <p:spPr>
          <a:xfrm>
            <a:off x="5219700" y="1095375"/>
            <a:ext cx="17526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CONSTRAINTS + TRIGGER</a:t>
            </a:r>
            <a:endParaRPr sz="9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constraints-cn"/>
          <p:cNvSpPr>
            <a:spLocks noGrp="1"/>
          </p:cNvSpPr>
          <p:nvPr/>
        </p:nvSpPr>
        <p:spPr>
          <a:xfrm>
            <a:off x="5219700" y="125730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补“不能乱做什么”</a:t>
            </a:r>
            <a:endParaRPr sz="13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validation-en"/>
          <p:cNvSpPr>
            <a:spLocks noGrp="1"/>
          </p:cNvSpPr>
          <p:nvPr/>
        </p:nvSpPr>
        <p:spPr>
          <a:xfrm>
            <a:off x="9201150" y="1095375"/>
            <a:ext cx="1428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</a:t>
            </a:r>
            <a:endParaRPr sz="9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validation-cn"/>
          <p:cNvSpPr>
            <a:spLocks noGrp="1"/>
          </p:cNvSpPr>
          <p:nvPr/>
        </p:nvSpPr>
        <p:spPr>
          <a:xfrm>
            <a:off x="9105900" y="12573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589"/>
          </a:bodyPr>
          <a:lstStyle/>
          <a:p>
            <a:pPr algn="ctr">
              <a:def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验证“是否真的好用”</a:t>
            </a:r>
            <a:endParaRPr sz="13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sources-frame"/>
          <p:cNvSpPr>
            <a:spLocks noGrp="1"/>
          </p:cNvSpPr>
          <p:nvPr/>
        </p:nvSpPr>
        <p:spPr>
          <a:xfrm>
            <a:off x="609600" y="1562100"/>
            <a:ext cx="3333750" cy="390525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6" name="resources-accent"/>
          <p:cNvSpPr>
            <a:spLocks noGrp="1"/>
          </p:cNvSpPr>
          <p:nvPr/>
        </p:nvSpPr>
        <p:spPr>
          <a:xfrm>
            <a:off x="609600" y="1562100"/>
            <a:ext cx="333375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7" name="resources-number"/>
          <p:cNvSpPr>
            <a:spLocks noGrp="1"/>
          </p:cNvSpPr>
          <p:nvPr/>
        </p:nvSpPr>
        <p:spPr>
          <a:xfrm>
            <a:off x="762000" y="16573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sources-title"/>
          <p:cNvSpPr>
            <a:spLocks noGrp="1"/>
          </p:cNvSpPr>
          <p:nvPr/>
        </p:nvSpPr>
        <p:spPr>
          <a:xfrm>
            <a:off x="1162050" y="1638300"/>
            <a:ext cx="2628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补充资源与知识</a:t>
            </a:r>
            <a:endParaRPr sz="16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sources-subtitle"/>
          <p:cNvSpPr>
            <a:spLocks noGrp="1"/>
          </p:cNvSpPr>
          <p:nvPr/>
        </p:nvSpPr>
        <p:spPr>
          <a:xfrm>
            <a:off x="762000" y="1943100"/>
            <a:ext cx="3028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检查每个 Stage：Agent 还缺什么？</a:t>
            </a:r>
            <a:endParaRPr sz="11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sources-header-line"/>
          <p:cNvSpPr>
            <a:spLocks noGrp="1"/>
          </p:cNvSpPr>
          <p:nvPr/>
        </p:nvSpPr>
        <p:spPr>
          <a:xfrm>
            <a:off x="762000" y="2219325"/>
            <a:ext cx="302895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21" name="constraints-frame"/>
          <p:cNvSpPr>
            <a:spLocks noGrp="1"/>
          </p:cNvSpPr>
          <p:nvPr/>
        </p:nvSpPr>
        <p:spPr>
          <a:xfrm>
            <a:off x="4200525" y="1562100"/>
            <a:ext cx="3781425" cy="390525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22" name="constraints-accent"/>
          <p:cNvSpPr>
            <a:spLocks noGrp="1"/>
          </p:cNvSpPr>
          <p:nvPr/>
        </p:nvSpPr>
        <p:spPr>
          <a:xfrm>
            <a:off x="4200525" y="1562100"/>
            <a:ext cx="3781425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3" name="constraints-number"/>
          <p:cNvSpPr>
            <a:spLocks noGrp="1"/>
          </p:cNvSpPr>
          <p:nvPr/>
        </p:nvSpPr>
        <p:spPr>
          <a:xfrm>
            <a:off x="4352925" y="16573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constraints-title"/>
          <p:cNvSpPr>
            <a:spLocks noGrp="1"/>
          </p:cNvSpPr>
          <p:nvPr/>
        </p:nvSpPr>
        <p:spPr>
          <a:xfrm>
            <a:off x="4752975" y="1638300"/>
            <a:ext cx="30765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完善约束与身份</a:t>
            </a:r>
            <a:endParaRPr sz="16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constraints-subtitle"/>
          <p:cNvSpPr>
            <a:spLocks noGrp="1"/>
          </p:cNvSpPr>
          <p:nvPr/>
        </p:nvSpPr>
        <p:spPr>
          <a:xfrm>
            <a:off x="4352925" y="1943100"/>
            <a:ext cx="3476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Skill 稳定、可发现、可调用</a:t>
            </a:r>
            <a:endParaRPr sz="11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constraints-header-line"/>
          <p:cNvSpPr>
            <a:spLocks noGrp="1"/>
          </p:cNvSpPr>
          <p:nvPr/>
        </p:nvSpPr>
        <p:spPr>
          <a:xfrm>
            <a:off x="4352925" y="2219325"/>
            <a:ext cx="3476625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27" name="validation-frame"/>
          <p:cNvSpPr>
            <a:spLocks noGrp="1"/>
          </p:cNvSpPr>
          <p:nvPr/>
        </p:nvSpPr>
        <p:spPr>
          <a:xfrm>
            <a:off x="8239125" y="1562100"/>
            <a:ext cx="3343275" cy="3905250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28" name="validation-accent"/>
          <p:cNvSpPr>
            <a:spLocks noGrp="1"/>
          </p:cNvSpPr>
          <p:nvPr/>
        </p:nvSpPr>
        <p:spPr>
          <a:xfrm>
            <a:off x="8239125" y="1562100"/>
            <a:ext cx="3343275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9" name="validation-number"/>
          <p:cNvSpPr>
            <a:spLocks noGrp="1"/>
          </p:cNvSpPr>
          <p:nvPr/>
        </p:nvSpPr>
        <p:spPr>
          <a:xfrm>
            <a:off x="8391525" y="16573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validation-title"/>
          <p:cNvSpPr>
            <a:spLocks noGrp="1"/>
          </p:cNvSpPr>
          <p:nvPr/>
        </p:nvSpPr>
        <p:spPr>
          <a:xfrm>
            <a:off x="8791575" y="1638300"/>
            <a:ext cx="26384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实测验证与迭代</a:t>
            </a:r>
            <a:endParaRPr sz="161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validation-subtitle"/>
          <p:cNvSpPr>
            <a:spLocks noGrp="1"/>
          </p:cNvSpPr>
          <p:nvPr/>
        </p:nvSpPr>
        <p:spPr>
          <a:xfrm>
            <a:off x="8391525" y="1943100"/>
            <a:ext cx="3038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用真实任务验证“是否真的好用”</a:t>
            </a:r>
            <a:endParaRPr sz="11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validation-header-line"/>
          <p:cNvSpPr>
            <a:spLocks noGrp="1"/>
          </p:cNvSpPr>
          <p:nvPr/>
        </p:nvSpPr>
        <p:spPr>
          <a:xfrm>
            <a:off x="8391525" y="2219325"/>
            <a:ext cx="3038475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3" name="stage-question-line"/>
          <p:cNvSpPr>
            <a:spLocks noGrp="1"/>
          </p:cNvSpPr>
          <p:nvPr/>
        </p:nvSpPr>
        <p:spPr>
          <a:xfrm>
            <a:off x="2276475" y="2600325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34" name="question-branch-down"/>
          <p:cNvSpPr>
            <a:spLocks noGrp="1"/>
          </p:cNvSpPr>
          <p:nvPr/>
        </p:nvSpPr>
        <p:spPr>
          <a:xfrm>
            <a:off x="2276475" y="2943225"/>
            <a:ext cx="0" cy="9525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35" name="resource-branch"/>
          <p:cNvSpPr>
            <a:spLocks noGrp="1"/>
          </p:cNvSpPr>
          <p:nvPr/>
        </p:nvSpPr>
        <p:spPr>
          <a:xfrm>
            <a:off x="1228725" y="3038475"/>
            <a:ext cx="20955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36" name="resource-drop-0"/>
          <p:cNvSpPr>
            <a:spLocks noGrp="1"/>
          </p:cNvSpPr>
          <p:nvPr/>
        </p:nvSpPr>
        <p:spPr>
          <a:xfrm>
            <a:off x="1228725" y="3038475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37" name="resource-arrow-0"/>
          <p:cNvSpPr>
            <a:spLocks noGrp="1"/>
          </p:cNvSpPr>
          <p:nvPr/>
        </p:nvSpPr>
        <p:spPr>
          <a:xfrm rot="10800000">
            <a:off x="1190625" y="30765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38" name="resource-drop-1"/>
          <p:cNvSpPr>
            <a:spLocks noGrp="1"/>
          </p:cNvSpPr>
          <p:nvPr/>
        </p:nvSpPr>
        <p:spPr>
          <a:xfrm>
            <a:off x="2276475" y="3038475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39" name="resource-arrow-1"/>
          <p:cNvSpPr>
            <a:spLocks noGrp="1"/>
          </p:cNvSpPr>
          <p:nvPr/>
        </p:nvSpPr>
        <p:spPr>
          <a:xfrm rot="10800000">
            <a:off x="2238375" y="30765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40" name="resource-drop-2"/>
          <p:cNvSpPr>
            <a:spLocks noGrp="1"/>
          </p:cNvSpPr>
          <p:nvPr/>
        </p:nvSpPr>
        <p:spPr>
          <a:xfrm>
            <a:off x="3324225" y="3038475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41" name="resource-arrow-2"/>
          <p:cNvSpPr>
            <a:spLocks noGrp="1"/>
          </p:cNvSpPr>
          <p:nvPr/>
        </p:nvSpPr>
        <p:spPr>
          <a:xfrm rot="10800000">
            <a:off x="3286125" y="30765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42" name="resource-stage-box"/>
          <p:cNvSpPr>
            <a:spLocks noGrp="1"/>
          </p:cNvSpPr>
          <p:nvPr/>
        </p:nvSpPr>
        <p:spPr>
          <a:xfrm>
            <a:off x="1857375" y="2324100"/>
            <a:ext cx="838200" cy="276225"/>
          </a:xfrm>
          <a:prstGeom prst="roundRect">
            <a:avLst>
              <a:gd name="adj" fmla="val 1379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43" name="resource-stage-text"/>
          <p:cNvSpPr>
            <a:spLocks noGrp="1"/>
          </p:cNvSpPr>
          <p:nvPr/>
        </p:nvSpPr>
        <p:spPr>
          <a:xfrm>
            <a:off x="1885950" y="2343150"/>
            <a:ext cx="781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某个 Stage</a:t>
            </a:r>
            <a:endParaRPr sz="101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source-question-band"/>
          <p:cNvSpPr>
            <a:spLocks noGrp="1"/>
          </p:cNvSpPr>
          <p:nvPr/>
        </p:nvSpPr>
        <p:spPr>
          <a:xfrm>
            <a:off x="1209675" y="2686050"/>
            <a:ext cx="2133600" cy="257175"/>
          </a:xfrm>
          <a:prstGeom prst="rect">
            <a:avLst/>
          </a:prstGeom>
          <a:solidFill>
            <a:srgbClr val="F7F9FA"/>
          </a:solidFill>
          <a:ln w="0">
            <a:noFill/>
            <a:prstDash val="solid"/>
          </a:ln>
        </p:spPr>
      </p:sp>
      <p:sp>
        <p:nvSpPr>
          <p:cNvPr id="45" name="resource-question"/>
          <p:cNvSpPr>
            <a:spLocks noGrp="1"/>
          </p:cNvSpPr>
          <p:nvPr/>
        </p:nvSpPr>
        <p:spPr>
          <a:xfrm>
            <a:off x="1323975" y="26955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还缺什么？</a:t>
            </a:r>
            <a:endParaRPr sz="109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ferences-node-box"/>
          <p:cNvSpPr>
            <a:spLocks noGrp="1"/>
          </p:cNvSpPr>
          <p:nvPr/>
        </p:nvSpPr>
        <p:spPr>
          <a:xfrm>
            <a:off x="781050" y="3143250"/>
            <a:ext cx="895350" cy="352425"/>
          </a:xfrm>
          <a:prstGeom prst="roundRect">
            <a:avLst>
              <a:gd name="adj" fmla="val 108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47" name="references-node-text"/>
          <p:cNvSpPr>
            <a:spLocks noGrp="1"/>
          </p:cNvSpPr>
          <p:nvPr/>
        </p:nvSpPr>
        <p:spPr>
          <a:xfrm>
            <a:off x="809625" y="3162300"/>
            <a:ext cx="838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缺知识</a:t>
            </a:r>
            <a:endParaRPr sz="9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References</a:t>
            </a:r>
            <a:endParaRPr sz="9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xamples-node-box"/>
          <p:cNvSpPr>
            <a:spLocks noGrp="1"/>
          </p:cNvSpPr>
          <p:nvPr/>
        </p:nvSpPr>
        <p:spPr>
          <a:xfrm>
            <a:off x="1828800" y="3143250"/>
            <a:ext cx="895350" cy="352425"/>
          </a:xfrm>
          <a:prstGeom prst="roundRect">
            <a:avLst>
              <a:gd name="adj" fmla="val 108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49" name="examples-node-text"/>
          <p:cNvSpPr>
            <a:spLocks noGrp="1"/>
          </p:cNvSpPr>
          <p:nvPr/>
        </p:nvSpPr>
        <p:spPr>
          <a:xfrm>
            <a:off x="1857375" y="3162300"/>
            <a:ext cx="838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缺案例</a:t>
            </a:r>
            <a:endParaRPr sz="9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Examples</a:t>
            </a:r>
            <a:endParaRPr sz="9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scripts-node-box"/>
          <p:cNvSpPr>
            <a:spLocks noGrp="1"/>
          </p:cNvSpPr>
          <p:nvPr/>
        </p:nvSpPr>
        <p:spPr>
          <a:xfrm>
            <a:off x="2876550" y="3143250"/>
            <a:ext cx="895350" cy="352425"/>
          </a:xfrm>
          <a:prstGeom prst="roundRect">
            <a:avLst>
              <a:gd name="adj" fmla="val 108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1" name="scripts-node-text"/>
          <p:cNvSpPr>
            <a:spLocks noGrp="1"/>
          </p:cNvSpPr>
          <p:nvPr/>
        </p:nvSpPr>
        <p:spPr>
          <a:xfrm>
            <a:off x="2905125" y="3162300"/>
            <a:ext cx="838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缺确定执行</a:t>
            </a:r>
            <a:endParaRPr sz="90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Scripts</a:t>
            </a:r>
            <a:endParaRPr sz="90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eferences-keywords"/>
          <p:cNvSpPr>
            <a:spLocks noGrp="1"/>
          </p:cNvSpPr>
          <p:nvPr/>
        </p:nvSpPr>
        <p:spPr>
          <a:xfrm>
            <a:off x="781050" y="3543300"/>
            <a:ext cx="895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 / API</a:t>
            </a:r>
            <a:endParaRPr sz="94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 / 限制</a:t>
            </a:r>
            <a:endParaRPr sz="94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xamples-keywords"/>
          <p:cNvSpPr>
            <a:spLocks noGrp="1"/>
          </p:cNvSpPr>
          <p:nvPr/>
        </p:nvSpPr>
        <p:spPr>
          <a:xfrm>
            <a:off x="1828800" y="3543300"/>
            <a:ext cx="895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/ I-O</a:t>
            </a:r>
            <a:endParaRPr sz="94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解法 / 实现</a:t>
            </a:r>
            <a:endParaRPr sz="94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scripts-keywords"/>
          <p:cNvSpPr>
            <a:spLocks noGrp="1"/>
          </p:cNvSpPr>
          <p:nvPr/>
        </p:nvSpPr>
        <p:spPr>
          <a:xfrm>
            <a:off x="2876550" y="3543300"/>
            <a:ext cx="895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 / 执行</a:t>
            </a:r>
            <a:endParaRPr sz="94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 / Bench</a:t>
            </a:r>
            <a:endParaRPr sz="94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mplates-band"/>
          <p:cNvSpPr>
            <a:spLocks noGrp="1"/>
          </p:cNvSpPr>
          <p:nvPr/>
        </p:nvSpPr>
        <p:spPr>
          <a:xfrm>
            <a:off x="781050" y="4057650"/>
            <a:ext cx="2990850" cy="400050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56" name="templates-title"/>
          <p:cNvSpPr>
            <a:spLocks noGrp="1"/>
          </p:cNvSpPr>
          <p:nvPr/>
        </p:nvSpPr>
        <p:spPr>
          <a:xfrm>
            <a:off x="914400" y="409575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Templates</a:t>
            </a:r>
            <a:endParaRPr sz="112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mplates-detail"/>
          <p:cNvSpPr>
            <a:spLocks noGrp="1"/>
          </p:cNvSpPr>
          <p:nvPr/>
        </p:nvSpPr>
        <p:spPr>
          <a:xfrm>
            <a:off x="1809750" y="4095750"/>
            <a:ext cx="18288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64395"/>
          </a:bodyPr>
          <a:lstStyle/>
          <a:p>
            <a:pPr algn="r">
              <a:defRPr sz="96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固定结构 / 格式骨架，可独立存放或内嵌 Markdown</a:t>
            </a:r>
            <a:endParaRPr sz="96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sources-principle-band"/>
          <p:cNvSpPr>
            <a:spLocks noGrp="1"/>
          </p:cNvSpPr>
          <p:nvPr/>
        </p:nvSpPr>
        <p:spPr>
          <a:xfrm>
            <a:off x="781050" y="4572000"/>
            <a:ext cx="2990850" cy="333375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59" name="resources-principle"/>
          <p:cNvSpPr>
            <a:spLocks noGrp="1"/>
          </p:cNvSpPr>
          <p:nvPr/>
        </p:nvSpPr>
        <p:spPr>
          <a:xfrm>
            <a:off x="895350" y="4581525"/>
            <a:ext cx="2762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489"/>
          </a:bodyPr>
          <a:lstStyle/>
          <a:p>
            <a:pPr algn="ctr">
              <a:defRPr sz="103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资源服务于 Workflow，不为目录完整而添加。</a:t>
            </a:r>
            <a:endParaRPr sz="103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esources-product-band"/>
          <p:cNvSpPr>
            <a:spLocks noGrp="1"/>
          </p:cNvSpPr>
          <p:nvPr/>
        </p:nvSpPr>
        <p:spPr>
          <a:xfrm>
            <a:off x="781050" y="5029200"/>
            <a:ext cx="2990850" cy="2952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61" name="resources-product"/>
          <p:cNvSpPr>
            <a:spLocks noGrp="1"/>
          </p:cNvSpPr>
          <p:nvPr/>
        </p:nvSpPr>
        <p:spPr>
          <a:xfrm>
            <a:off x="895350" y="5038725"/>
            <a:ext cx="2762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产物：支撑各 Stage 的按需资源集</a:t>
            </a:r>
            <a:endParaRPr sz="10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rigger-line-0"/>
          <p:cNvSpPr>
            <a:spLocks noGrp="1"/>
          </p:cNvSpPr>
          <p:nvPr/>
        </p:nvSpPr>
        <p:spPr>
          <a:xfrm>
            <a:off x="5191125" y="2514600"/>
            <a:ext cx="23812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3" name="trigger-arrow-0"/>
          <p:cNvSpPr>
            <a:spLocks noGrp="1"/>
          </p:cNvSpPr>
          <p:nvPr/>
        </p:nvSpPr>
        <p:spPr>
          <a:xfrm rot="5400000">
            <a:off x="5381625" y="24765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4" name="trigger-line-1"/>
          <p:cNvSpPr>
            <a:spLocks noGrp="1"/>
          </p:cNvSpPr>
          <p:nvPr/>
        </p:nvSpPr>
        <p:spPr>
          <a:xfrm>
            <a:off x="6496050" y="2514600"/>
            <a:ext cx="23812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5" name="trigger-arrow-1"/>
          <p:cNvSpPr>
            <a:spLocks noGrp="1"/>
          </p:cNvSpPr>
          <p:nvPr/>
        </p:nvSpPr>
        <p:spPr>
          <a:xfrm rot="5400000">
            <a:off x="6686550" y="24765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6" name="request-node-box"/>
          <p:cNvSpPr>
            <a:spLocks noGrp="1"/>
          </p:cNvSpPr>
          <p:nvPr/>
        </p:nvSpPr>
        <p:spPr>
          <a:xfrm>
            <a:off x="4371975" y="2371725"/>
            <a:ext cx="8191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67" name="request-node-text"/>
          <p:cNvSpPr>
            <a:spLocks noGrp="1"/>
          </p:cNvSpPr>
          <p:nvPr/>
        </p:nvSpPr>
        <p:spPr>
          <a:xfrm>
            <a:off x="4400550" y="2390775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673"/>
          </a:bodyPr>
          <a:lstStyle/>
          <a:p>
            <a:pPr algn="ctr">
              <a:def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 Request</a:t>
            </a:r>
            <a:endParaRPr sz="9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description-node-box"/>
          <p:cNvSpPr>
            <a:spLocks noGrp="1"/>
          </p:cNvSpPr>
          <p:nvPr/>
        </p:nvSpPr>
        <p:spPr>
          <a:xfrm>
            <a:off x="5429250" y="2371725"/>
            <a:ext cx="1066800" cy="28575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69" name="description-node-text"/>
          <p:cNvSpPr>
            <a:spLocks noGrp="1"/>
          </p:cNvSpPr>
          <p:nvPr/>
        </p:nvSpPr>
        <p:spPr>
          <a:xfrm>
            <a:off x="5457825" y="2390775"/>
            <a:ext cx="1009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description</a:t>
            </a:r>
            <a:endParaRPr sz="9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skill-node-box"/>
          <p:cNvSpPr>
            <a:spLocks noGrp="1"/>
          </p:cNvSpPr>
          <p:nvPr/>
        </p:nvSpPr>
        <p:spPr>
          <a:xfrm>
            <a:off x="6734175" y="2371725"/>
            <a:ext cx="8953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1" name="skill-node-text"/>
          <p:cNvSpPr>
            <a:spLocks noGrp="1"/>
          </p:cNvSpPr>
          <p:nvPr/>
        </p:nvSpPr>
        <p:spPr>
          <a:xfrm>
            <a:off x="6762750" y="2390775"/>
            <a:ext cx="83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endParaRPr sz="9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rigger-label"/>
          <p:cNvSpPr>
            <a:spLocks noGrp="1"/>
          </p:cNvSpPr>
          <p:nvPr/>
        </p:nvSpPr>
        <p:spPr>
          <a:xfrm>
            <a:off x="4810125" y="2686050"/>
            <a:ext cx="2552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6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Trigger：description 决定何时调用</a:t>
            </a:r>
            <a:endParaRPr sz="96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boundary-row-label"/>
          <p:cNvSpPr>
            <a:spLocks noGrp="1"/>
          </p:cNvSpPr>
          <p:nvPr/>
        </p:nvSpPr>
        <p:spPr>
          <a:xfrm>
            <a:off x="4371975" y="2943225"/>
            <a:ext cx="1257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Boundary</a:t>
            </a:r>
            <a:endParaRPr sz="109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boundary-row-detail"/>
          <p:cNvSpPr>
            <a:spLocks noGrp="1"/>
          </p:cNvSpPr>
          <p:nvPr/>
        </p:nvSpPr>
        <p:spPr>
          <a:xfrm>
            <a:off x="5676900" y="2943225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明确做什么 / 不做什么</a:t>
            </a:r>
            <a:endParaRPr sz="105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boundary-row-line"/>
          <p:cNvSpPr>
            <a:spLocks noGrp="1"/>
          </p:cNvSpPr>
          <p:nvPr/>
        </p:nvSpPr>
        <p:spPr>
          <a:xfrm>
            <a:off x="4371975" y="323850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76" name="contract-policy-row-label"/>
          <p:cNvSpPr>
            <a:spLocks noGrp="1"/>
          </p:cNvSpPr>
          <p:nvPr/>
        </p:nvSpPr>
        <p:spPr>
          <a:xfrm>
            <a:off x="4371975" y="3343275"/>
            <a:ext cx="1257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 / Policy</a:t>
            </a:r>
            <a:endParaRPr sz="109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contract-policy-row-detail"/>
          <p:cNvSpPr>
            <a:spLocks noGrp="1"/>
          </p:cNvSpPr>
          <p:nvPr/>
        </p:nvSpPr>
        <p:spPr>
          <a:xfrm>
            <a:off x="5676900" y="3343275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接受什么 / 产出什么 / 如何执行</a:t>
            </a:r>
            <a:endParaRPr sz="105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contract-policy-row-line"/>
          <p:cNvSpPr>
            <a:spLocks noGrp="1"/>
          </p:cNvSpPr>
          <p:nvPr/>
        </p:nvSpPr>
        <p:spPr>
          <a:xfrm>
            <a:off x="4371975" y="363855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79" name="constraint-gate-row-label"/>
          <p:cNvSpPr>
            <a:spLocks noGrp="1"/>
          </p:cNvSpPr>
          <p:nvPr/>
        </p:nvSpPr>
        <p:spPr>
          <a:xfrm>
            <a:off x="4371975" y="3743325"/>
            <a:ext cx="1257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</a:t>
            </a:r>
            <a:endParaRPr sz="109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constraint-gate-row-detail"/>
          <p:cNvSpPr>
            <a:spLocks noGrp="1"/>
          </p:cNvSpPr>
          <p:nvPr/>
        </p:nvSpPr>
        <p:spPr>
          <a:xfrm>
            <a:off x="5676900" y="3743325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条件未满足时绝不推进</a:t>
            </a:r>
            <a:endParaRPr sz="105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constraint-gate-row-line"/>
          <p:cNvSpPr>
            <a:spLocks noGrp="1"/>
          </p:cNvSpPr>
          <p:nvPr/>
        </p:nvSpPr>
        <p:spPr>
          <a:xfrm>
            <a:off x="4371975" y="403860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82" name="identity-row-label"/>
          <p:cNvSpPr>
            <a:spLocks noGrp="1"/>
          </p:cNvSpPr>
          <p:nvPr/>
        </p:nvSpPr>
        <p:spPr>
          <a:xfrm>
            <a:off x="4371975" y="4143375"/>
            <a:ext cx="1257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463"/>
          </a:bodyPr>
          <a:lstStyle/>
          <a:p>
            <a:pPr algn="l">
              <a:def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 / description</a:t>
            </a:r>
            <a:endParaRPr sz="109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identity-row-detail"/>
          <p:cNvSpPr>
            <a:spLocks noGrp="1"/>
          </p:cNvSpPr>
          <p:nvPr/>
        </p:nvSpPr>
        <p:spPr>
          <a:xfrm>
            <a:off x="5676900" y="4143375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能力身份 + 触发边界</a:t>
            </a:r>
            <a:endParaRPr sz="1050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identity-row-line"/>
          <p:cNvSpPr>
            <a:spLocks noGrp="1"/>
          </p:cNvSpPr>
          <p:nvPr/>
        </p:nvSpPr>
        <p:spPr>
          <a:xfrm>
            <a:off x="4371975" y="443865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85" name="constraints-principle-band"/>
          <p:cNvSpPr>
            <a:spLocks noGrp="1"/>
          </p:cNvSpPr>
          <p:nvPr/>
        </p:nvSpPr>
        <p:spPr>
          <a:xfrm>
            <a:off x="4352925" y="4572000"/>
            <a:ext cx="3476625" cy="333375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86" name="constraints-principle"/>
          <p:cNvSpPr>
            <a:spLocks noGrp="1"/>
          </p:cNvSpPr>
          <p:nvPr/>
        </p:nvSpPr>
        <p:spPr>
          <a:xfrm>
            <a:off x="4476750" y="4581525"/>
            <a:ext cx="32289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约束越清楚，运行越稳定；描述越准确，触发越可靠。</a:t>
            </a:r>
            <a:endParaRPr sz="101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constraints-product-band"/>
          <p:cNvSpPr>
            <a:spLocks noGrp="1"/>
          </p:cNvSpPr>
          <p:nvPr/>
        </p:nvSpPr>
        <p:spPr>
          <a:xfrm>
            <a:off x="4352925" y="5029200"/>
            <a:ext cx="3476625" cy="2952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88" name="constraints-product"/>
          <p:cNvSpPr>
            <a:spLocks noGrp="1"/>
          </p:cNvSpPr>
          <p:nvPr/>
        </p:nvSpPr>
        <p:spPr>
          <a:xfrm>
            <a:off x="4476750" y="5038725"/>
            <a:ext cx="32289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产物：稳定边界 + 可发现、可调用入口</a:t>
            </a:r>
            <a:endParaRPr sz="10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st-line-0"/>
          <p:cNvSpPr>
            <a:spLocks noGrp="1"/>
          </p:cNvSpPr>
          <p:nvPr/>
        </p:nvSpPr>
        <p:spPr>
          <a:xfrm>
            <a:off x="9906000" y="2714625"/>
            <a:ext cx="0" cy="10477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0" name="test-arrow-0"/>
          <p:cNvSpPr>
            <a:spLocks noGrp="1"/>
          </p:cNvSpPr>
          <p:nvPr/>
        </p:nvSpPr>
        <p:spPr>
          <a:xfrm rot="10800000">
            <a:off x="9867900" y="27813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1" name="test-line-1"/>
          <p:cNvSpPr>
            <a:spLocks noGrp="1"/>
          </p:cNvSpPr>
          <p:nvPr/>
        </p:nvSpPr>
        <p:spPr>
          <a:xfrm>
            <a:off x="9906000" y="3190875"/>
            <a:ext cx="0" cy="10477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2" name="test-arrow-1"/>
          <p:cNvSpPr>
            <a:spLocks noGrp="1"/>
          </p:cNvSpPr>
          <p:nvPr/>
        </p:nvSpPr>
        <p:spPr>
          <a:xfrm rot="10800000">
            <a:off x="9867900" y="32575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3" name="test-line-2"/>
          <p:cNvSpPr>
            <a:spLocks noGrp="1"/>
          </p:cNvSpPr>
          <p:nvPr/>
        </p:nvSpPr>
        <p:spPr>
          <a:xfrm>
            <a:off x="9906000" y="3667125"/>
            <a:ext cx="0" cy="10477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4" name="test-arrow-2"/>
          <p:cNvSpPr>
            <a:spLocks noGrp="1"/>
          </p:cNvSpPr>
          <p:nvPr/>
        </p:nvSpPr>
        <p:spPr>
          <a:xfrm rot="10800000">
            <a:off x="9867900" y="37338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5" name="trigger-test-band"/>
          <p:cNvSpPr>
            <a:spLocks noGrp="1"/>
          </p:cNvSpPr>
          <p:nvPr/>
        </p:nvSpPr>
        <p:spPr>
          <a:xfrm>
            <a:off x="8410575" y="2343150"/>
            <a:ext cx="2990850" cy="3714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96" name="trigger-test-label"/>
          <p:cNvSpPr>
            <a:spLocks noGrp="1"/>
          </p:cNvSpPr>
          <p:nvPr/>
        </p:nvSpPr>
        <p:spPr>
          <a:xfrm>
            <a:off x="8524875" y="2381250"/>
            <a:ext cx="1104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Trigger Test</a:t>
            </a:r>
            <a:endParaRPr sz="11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rigger-test-detail"/>
          <p:cNvSpPr>
            <a:spLocks noGrp="1"/>
          </p:cNvSpPr>
          <p:nvPr/>
        </p:nvSpPr>
        <p:spPr>
          <a:xfrm>
            <a:off x="9658350" y="2381250"/>
            <a:ext cx="1628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应触发 / 不应触发</a:t>
            </a:r>
            <a:endParaRPr sz="103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workflow-test-band"/>
          <p:cNvSpPr>
            <a:spLocks noGrp="1"/>
          </p:cNvSpPr>
          <p:nvPr/>
        </p:nvSpPr>
        <p:spPr>
          <a:xfrm>
            <a:off x="8410575" y="2819400"/>
            <a:ext cx="2990850" cy="3714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99" name="workflow-test-label"/>
          <p:cNvSpPr>
            <a:spLocks noGrp="1"/>
          </p:cNvSpPr>
          <p:nvPr/>
        </p:nvSpPr>
        <p:spPr>
          <a:xfrm>
            <a:off x="8524875" y="2857500"/>
            <a:ext cx="1104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 Test</a:t>
            </a:r>
            <a:endParaRPr sz="11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workflow-test-detail"/>
          <p:cNvSpPr>
            <a:spLocks noGrp="1"/>
          </p:cNvSpPr>
          <p:nvPr/>
        </p:nvSpPr>
        <p:spPr>
          <a:xfrm>
            <a:off x="9658350" y="2857500"/>
            <a:ext cx="1628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/ Handoff / Gate</a:t>
            </a:r>
            <a:endParaRPr sz="103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result-test-band"/>
          <p:cNvSpPr>
            <a:spLocks noGrp="1"/>
          </p:cNvSpPr>
          <p:nvPr/>
        </p:nvSpPr>
        <p:spPr>
          <a:xfrm>
            <a:off x="8410575" y="3295650"/>
            <a:ext cx="2990850" cy="3714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102" name="result-test-label"/>
          <p:cNvSpPr>
            <a:spLocks noGrp="1"/>
          </p:cNvSpPr>
          <p:nvPr/>
        </p:nvSpPr>
        <p:spPr>
          <a:xfrm>
            <a:off x="8524875" y="3333750"/>
            <a:ext cx="1104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 Test</a:t>
            </a:r>
            <a:endParaRPr sz="11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esult-test-detail"/>
          <p:cNvSpPr>
            <a:spLocks noGrp="1"/>
          </p:cNvSpPr>
          <p:nvPr/>
        </p:nvSpPr>
        <p:spPr>
          <a:xfrm>
            <a:off x="9658350" y="3333750"/>
            <a:ext cx="1628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 / 格式 / 测试</a:t>
            </a:r>
            <a:endParaRPr sz="103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failure-fix-band"/>
          <p:cNvSpPr>
            <a:spLocks noGrp="1"/>
          </p:cNvSpPr>
          <p:nvPr/>
        </p:nvSpPr>
        <p:spPr>
          <a:xfrm>
            <a:off x="8410575" y="3771900"/>
            <a:ext cx="2990850" cy="3714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105" name="failure-fix-label"/>
          <p:cNvSpPr>
            <a:spLocks noGrp="1"/>
          </p:cNvSpPr>
          <p:nvPr/>
        </p:nvSpPr>
        <p:spPr>
          <a:xfrm>
            <a:off x="8524875" y="3810000"/>
            <a:ext cx="1104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Failure Fix  ↺</a:t>
            </a:r>
            <a:endParaRPr sz="11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failure-fix-detail"/>
          <p:cNvSpPr>
            <a:spLocks noGrp="1"/>
          </p:cNvSpPr>
          <p:nvPr/>
        </p:nvSpPr>
        <p:spPr>
          <a:xfrm>
            <a:off x="9658350" y="3810000"/>
            <a:ext cx="1628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补资源 / 修约束 / 调流程</a:t>
            </a:r>
            <a:endParaRPr sz="1035" b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iteration-loop-label"/>
          <p:cNvSpPr>
            <a:spLocks noGrp="1"/>
          </p:cNvSpPr>
          <p:nvPr/>
        </p:nvSpPr>
        <p:spPr>
          <a:xfrm>
            <a:off x="8572500" y="42100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发现问题 → 修正 → 回到真实任务再测</a:t>
            </a:r>
            <a:endParaRPr sz="975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validation-principle-band"/>
          <p:cNvSpPr>
            <a:spLocks noGrp="1"/>
          </p:cNvSpPr>
          <p:nvPr/>
        </p:nvSpPr>
        <p:spPr>
          <a:xfrm>
            <a:off x="8391525" y="4572000"/>
            <a:ext cx="3038475" cy="333375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109" name="validation-principle"/>
          <p:cNvSpPr>
            <a:spLocks noGrp="1"/>
          </p:cNvSpPr>
          <p:nvPr/>
        </p:nvSpPr>
        <p:spPr>
          <a:xfrm>
            <a:off x="8505825" y="4581525"/>
            <a:ext cx="28098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3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用真实任务暴露问题，不靠想象补全。</a:t>
            </a:r>
            <a:endParaRPr sz="103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validation-product-band"/>
          <p:cNvSpPr>
            <a:spLocks noGrp="1"/>
          </p:cNvSpPr>
          <p:nvPr/>
        </p:nvSpPr>
        <p:spPr>
          <a:xfrm>
            <a:off x="8391525" y="5029200"/>
            <a:ext cx="3038475" cy="2952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111" name="validation-product"/>
          <p:cNvSpPr>
            <a:spLocks noGrp="1"/>
          </p:cNvSpPr>
          <p:nvPr/>
        </p:nvSpPr>
        <p:spPr>
          <a:xfrm>
            <a:off x="8505825" y="5038725"/>
            <a:ext cx="28098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产物：经实测验证、可持续迭代的 Skill</a:t>
            </a:r>
            <a:endParaRPr sz="105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packaging-band"/>
          <p:cNvSpPr>
            <a:spLocks noGrp="1"/>
          </p:cNvSpPr>
          <p:nvPr/>
        </p:nvSpPr>
        <p:spPr>
          <a:xfrm>
            <a:off x="609600" y="5657850"/>
            <a:ext cx="10972800" cy="952500"/>
          </a:xfrm>
          <a:prstGeom prst="rect">
            <a:avLst/>
          </a:prstGeom>
          <a:solidFill>
            <a:srgbClr val="F3F4F5"/>
          </a:solidFill>
          <a:ln w="0">
            <a:noFill/>
            <a:prstDash val="solid"/>
          </a:ln>
        </p:spPr>
      </p:sp>
      <p:sp>
        <p:nvSpPr>
          <p:cNvPr id="113" name="packaging-accent"/>
          <p:cNvSpPr>
            <a:spLocks noGrp="1"/>
          </p:cNvSpPr>
          <p:nvPr/>
        </p:nvSpPr>
        <p:spPr>
          <a:xfrm>
            <a:off x="609600" y="5657850"/>
            <a:ext cx="38100" cy="9525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14" name="packaging-title"/>
          <p:cNvSpPr>
            <a:spLocks noGrp="1"/>
          </p:cNvSpPr>
          <p:nvPr/>
        </p:nvSpPr>
        <p:spPr>
          <a:xfrm>
            <a:off x="819150" y="5724525"/>
            <a:ext cx="447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封装过程：从可运行到可用、可调用、可迭代</a:t>
            </a:r>
            <a:endParaRPr sz="14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packaging-logic"/>
          <p:cNvSpPr>
            <a:spLocks noGrp="1"/>
          </p:cNvSpPr>
          <p:nvPr/>
        </p:nvSpPr>
        <p:spPr>
          <a:xfrm>
            <a:off x="6858000" y="5734050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 → 约束 → 身份触发 → 实测迭代</a:t>
            </a:r>
            <a:endParaRPr sz="12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pack-line-0"/>
          <p:cNvSpPr>
            <a:spLocks noGrp="1"/>
          </p:cNvSpPr>
          <p:nvPr/>
        </p:nvSpPr>
        <p:spPr>
          <a:xfrm>
            <a:off x="2247900" y="6191250"/>
            <a:ext cx="2286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17" name="pack-arrow-0"/>
          <p:cNvSpPr>
            <a:spLocks noGrp="1"/>
          </p:cNvSpPr>
          <p:nvPr/>
        </p:nvSpPr>
        <p:spPr>
          <a:xfrm rot="5400000">
            <a:off x="2428875" y="61531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18" name="pack-line-1"/>
          <p:cNvSpPr>
            <a:spLocks noGrp="1"/>
          </p:cNvSpPr>
          <p:nvPr/>
        </p:nvSpPr>
        <p:spPr>
          <a:xfrm>
            <a:off x="3695700" y="6191250"/>
            <a:ext cx="2286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19" name="pack-arrow-1"/>
          <p:cNvSpPr>
            <a:spLocks noGrp="1"/>
          </p:cNvSpPr>
          <p:nvPr/>
        </p:nvSpPr>
        <p:spPr>
          <a:xfrm rot="5400000">
            <a:off x="3876675" y="61531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20" name="pack-line-2"/>
          <p:cNvSpPr>
            <a:spLocks noGrp="1"/>
          </p:cNvSpPr>
          <p:nvPr/>
        </p:nvSpPr>
        <p:spPr>
          <a:xfrm>
            <a:off x="5143500" y="6191250"/>
            <a:ext cx="2286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21" name="pack-arrow-2"/>
          <p:cNvSpPr>
            <a:spLocks noGrp="1"/>
          </p:cNvSpPr>
          <p:nvPr/>
        </p:nvSpPr>
        <p:spPr>
          <a:xfrm rot="5400000">
            <a:off x="5324475" y="61531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22" name="pack-line-3"/>
          <p:cNvSpPr>
            <a:spLocks noGrp="1"/>
          </p:cNvSpPr>
          <p:nvPr/>
        </p:nvSpPr>
        <p:spPr>
          <a:xfrm>
            <a:off x="6896100" y="6191250"/>
            <a:ext cx="2286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23" name="pack-arrow-3"/>
          <p:cNvSpPr>
            <a:spLocks noGrp="1"/>
          </p:cNvSpPr>
          <p:nvPr/>
        </p:nvSpPr>
        <p:spPr>
          <a:xfrm rot="5400000">
            <a:off x="7077075" y="61531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24" name="pack-line-4"/>
          <p:cNvSpPr>
            <a:spLocks noGrp="1"/>
          </p:cNvSpPr>
          <p:nvPr/>
        </p:nvSpPr>
        <p:spPr>
          <a:xfrm>
            <a:off x="8553450" y="6191250"/>
            <a:ext cx="2286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25" name="pack-arrow-4"/>
          <p:cNvSpPr>
            <a:spLocks noGrp="1"/>
          </p:cNvSpPr>
          <p:nvPr/>
        </p:nvSpPr>
        <p:spPr>
          <a:xfrm rot="5400000">
            <a:off x="8734425" y="61531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26" name="base-workflow-box"/>
          <p:cNvSpPr>
            <a:spLocks noGrp="1"/>
          </p:cNvSpPr>
          <p:nvPr/>
        </p:nvSpPr>
        <p:spPr>
          <a:xfrm>
            <a:off x="819150" y="6048375"/>
            <a:ext cx="1428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27" name="base-workflow-text"/>
          <p:cNvSpPr>
            <a:spLocks noGrp="1"/>
          </p:cNvSpPr>
          <p:nvPr/>
        </p:nvSpPr>
        <p:spPr>
          <a:xfrm>
            <a:off x="847725" y="6067425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 Workflow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pack-resources-box"/>
          <p:cNvSpPr>
            <a:spLocks noGrp="1"/>
          </p:cNvSpPr>
          <p:nvPr/>
        </p:nvSpPr>
        <p:spPr>
          <a:xfrm>
            <a:off x="2476500" y="6048375"/>
            <a:ext cx="12192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29" name="pack-resources-text"/>
          <p:cNvSpPr>
            <a:spLocks noGrp="1"/>
          </p:cNvSpPr>
          <p:nvPr/>
        </p:nvSpPr>
        <p:spPr>
          <a:xfrm>
            <a:off x="2505075" y="6067425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Resources</a:t>
            </a:r>
            <a:endParaRPr sz="99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pack-constraints-box"/>
          <p:cNvSpPr>
            <a:spLocks noGrp="1"/>
          </p:cNvSpPr>
          <p:nvPr/>
        </p:nvSpPr>
        <p:spPr>
          <a:xfrm>
            <a:off x="3924300" y="6048375"/>
            <a:ext cx="12192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31" name="pack-constraints-text"/>
          <p:cNvSpPr>
            <a:spLocks noGrp="1"/>
          </p:cNvSpPr>
          <p:nvPr/>
        </p:nvSpPr>
        <p:spPr>
          <a:xfrm>
            <a:off x="3952875" y="6067425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Constraints</a:t>
            </a:r>
            <a:endParaRPr sz="99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pack-trigger-box"/>
          <p:cNvSpPr>
            <a:spLocks noGrp="1"/>
          </p:cNvSpPr>
          <p:nvPr/>
        </p:nvSpPr>
        <p:spPr>
          <a:xfrm>
            <a:off x="5372100" y="6048375"/>
            <a:ext cx="15240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33" name="pack-trigger-text"/>
          <p:cNvSpPr>
            <a:spLocks noGrp="1"/>
          </p:cNvSpPr>
          <p:nvPr/>
        </p:nvSpPr>
        <p:spPr>
          <a:xfrm>
            <a:off x="5400675" y="6067425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name / description</a:t>
            </a:r>
            <a:endParaRPr sz="99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pack-iterate-box"/>
          <p:cNvSpPr>
            <a:spLocks noGrp="1"/>
          </p:cNvSpPr>
          <p:nvPr/>
        </p:nvSpPr>
        <p:spPr>
          <a:xfrm>
            <a:off x="7124700" y="6048375"/>
            <a:ext cx="1428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35" name="pack-iterate-text"/>
          <p:cNvSpPr>
            <a:spLocks noGrp="1"/>
          </p:cNvSpPr>
          <p:nvPr/>
        </p:nvSpPr>
        <p:spPr>
          <a:xfrm>
            <a:off x="7153275" y="6067425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Test / Iterate</a:t>
            </a:r>
            <a:endParaRPr sz="99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6" name="complete-skill-box"/>
          <p:cNvSpPr>
            <a:spLocks noGrp="1"/>
          </p:cNvSpPr>
          <p:nvPr/>
        </p:nvSpPr>
        <p:spPr>
          <a:xfrm>
            <a:off x="8782050" y="6048375"/>
            <a:ext cx="1809750" cy="28575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37" name="complete-skill-text"/>
          <p:cNvSpPr>
            <a:spLocks noGrp="1"/>
          </p:cNvSpPr>
          <p:nvPr/>
        </p:nvSpPr>
        <p:spPr>
          <a:xfrm>
            <a:off x="8810625" y="6067425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 Skill</a:t>
            </a:r>
            <a:endParaRPr sz="99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packaging-principle"/>
          <p:cNvSpPr>
            <a:spLocks noGrp="1"/>
          </p:cNvSpPr>
          <p:nvPr/>
        </p:nvSpPr>
        <p:spPr>
          <a:xfrm>
            <a:off x="819150" y="6391275"/>
            <a:ext cx="105346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资源、模板与协作机制均按需添加；每次修正都应回到真实任务重新验证。</a:t>
            </a:r>
            <a:endParaRPr sz="1065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8" name="title-accent"/>
          <p:cNvSpPr>
            <a:spLocks noGrp="1"/>
          </p:cNvSpPr>
          <p:nvPr/>
        </p:nvSpPr>
        <p:spPr>
          <a:xfrm>
            <a:off x="609600" y="228600"/>
            <a:ext cx="47625" cy="4476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" name="slide-title"/>
          <p:cNvSpPr>
            <a:spLocks noGrp="1"/>
          </p:cNvSpPr>
          <p:nvPr/>
        </p:nvSpPr>
        <p:spPr>
          <a:xfrm>
            <a:off x="800100" y="171450"/>
            <a:ext cx="1057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的完整演化：从任务到稳定可复用能力</a:t>
            </a:r>
            <a:endParaRPr sz="29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800100" y="714375"/>
            <a:ext cx="781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3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3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从基础 Workflow 到资源封装，再到真实任务验证与迭代</a:t>
            </a:r>
            <a:endParaRPr sz="133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itle-divider"/>
          <p:cNvSpPr>
            <a:spLocks noGrp="1"/>
          </p:cNvSpPr>
          <p:nvPr/>
        </p:nvSpPr>
        <p:spPr>
          <a:xfrm>
            <a:off x="609600" y="1057275"/>
            <a:ext cx="109728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" name="main-column-divider"/>
          <p:cNvSpPr>
            <a:spLocks noGrp="1"/>
          </p:cNvSpPr>
          <p:nvPr/>
        </p:nvSpPr>
        <p:spPr>
          <a:xfrm>
            <a:off x="8610600" y="1162050"/>
            <a:ext cx="0" cy="493395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6" name="main-heading"/>
          <p:cNvSpPr>
            <a:spLocks noGrp="1"/>
          </p:cNvSpPr>
          <p:nvPr/>
        </p:nvSpPr>
        <p:spPr>
          <a:xfrm>
            <a:off x="609600" y="11430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主流程｜从任务到稳定 Skill</a:t>
            </a:r>
            <a:endParaRPr sz="16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hase-heading"/>
          <p:cNvSpPr>
            <a:spLocks noGrp="1"/>
          </p:cNvSpPr>
          <p:nvPr/>
        </p:nvSpPr>
        <p:spPr>
          <a:xfrm>
            <a:off x="4991100" y="1171575"/>
            <a:ext cx="3505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1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任务设计  →  能力封装  →  验证迭代</a:t>
            </a:r>
            <a:endParaRPr sz="112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iteration-heading"/>
          <p:cNvSpPr>
            <a:spLocks noGrp="1"/>
          </p:cNvSpPr>
          <p:nvPr/>
        </p:nvSpPr>
        <p:spPr>
          <a:xfrm>
            <a:off x="8724900" y="1143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失败定位与迭代</a:t>
            </a:r>
            <a:endParaRPr sz="16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ask-band"/>
          <p:cNvSpPr>
            <a:spLocks noGrp="1"/>
          </p:cNvSpPr>
          <p:nvPr/>
        </p:nvSpPr>
        <p:spPr>
          <a:xfrm>
            <a:off x="609600" y="1485900"/>
            <a:ext cx="78867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0" name="task-accent"/>
          <p:cNvSpPr>
            <a:spLocks noGrp="1"/>
          </p:cNvSpPr>
          <p:nvPr/>
        </p:nvSpPr>
        <p:spPr>
          <a:xfrm>
            <a:off x="609600" y="1485900"/>
            <a:ext cx="28575" cy="6667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1" name="task-number"/>
          <p:cNvSpPr>
            <a:spLocks noGrp="1"/>
          </p:cNvSpPr>
          <p:nvPr/>
        </p:nvSpPr>
        <p:spPr>
          <a:xfrm>
            <a:off x="762000" y="1562100"/>
            <a:ext cx="323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ask-title"/>
          <p:cNvSpPr>
            <a:spLocks noGrp="1"/>
          </p:cNvSpPr>
          <p:nvPr/>
        </p:nvSpPr>
        <p:spPr>
          <a:xfrm>
            <a:off x="1143000" y="154305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</a:t>
            </a:r>
            <a:endParaRPr sz="14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ask-subtitle"/>
          <p:cNvSpPr>
            <a:spLocks noGrp="1"/>
          </p:cNvSpPr>
          <p:nvPr/>
        </p:nvSpPr>
        <p:spPr>
          <a:xfrm>
            <a:off x="762000" y="1809750"/>
            <a:ext cx="1952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明确任务起点和终点</a:t>
            </a:r>
            <a:endParaRPr sz="101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asic-workflow-band"/>
          <p:cNvSpPr>
            <a:spLocks noGrp="1"/>
          </p:cNvSpPr>
          <p:nvPr/>
        </p:nvSpPr>
        <p:spPr>
          <a:xfrm>
            <a:off x="609600" y="2209800"/>
            <a:ext cx="78867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5" name="basic-workflow-accent"/>
          <p:cNvSpPr>
            <a:spLocks noGrp="1"/>
          </p:cNvSpPr>
          <p:nvPr/>
        </p:nvSpPr>
        <p:spPr>
          <a:xfrm>
            <a:off x="609600" y="2209800"/>
            <a:ext cx="28575" cy="6667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6" name="basic-workflow-number"/>
          <p:cNvSpPr>
            <a:spLocks noGrp="1"/>
          </p:cNvSpPr>
          <p:nvPr/>
        </p:nvSpPr>
        <p:spPr>
          <a:xfrm>
            <a:off x="762000" y="2286000"/>
            <a:ext cx="323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basic-workflow-title"/>
          <p:cNvSpPr>
            <a:spLocks noGrp="1"/>
          </p:cNvSpPr>
          <p:nvPr/>
        </p:nvSpPr>
        <p:spPr>
          <a:xfrm>
            <a:off x="1143000" y="226695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Basic Workflow</a:t>
            </a:r>
            <a:endParaRPr sz="14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basic-workflow-subtitle"/>
          <p:cNvSpPr>
            <a:spLocks noGrp="1"/>
          </p:cNvSpPr>
          <p:nvPr/>
        </p:nvSpPr>
        <p:spPr>
          <a:xfrm>
            <a:off x="762000" y="2533650"/>
            <a:ext cx="1952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把任务拆成明确 Stage</a:t>
            </a:r>
            <a:endParaRPr sz="101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xecutable-band"/>
          <p:cNvSpPr>
            <a:spLocks noGrp="1"/>
          </p:cNvSpPr>
          <p:nvPr/>
        </p:nvSpPr>
        <p:spPr>
          <a:xfrm>
            <a:off x="609600" y="2933700"/>
            <a:ext cx="788670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20" name="executable-accent"/>
          <p:cNvSpPr>
            <a:spLocks noGrp="1"/>
          </p:cNvSpPr>
          <p:nvPr/>
        </p:nvSpPr>
        <p:spPr>
          <a:xfrm>
            <a:off x="609600" y="2933700"/>
            <a:ext cx="28575" cy="12763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1" name="executable-number"/>
          <p:cNvSpPr>
            <a:spLocks noGrp="1"/>
          </p:cNvSpPr>
          <p:nvPr/>
        </p:nvSpPr>
        <p:spPr>
          <a:xfrm>
            <a:off x="762000" y="3009900"/>
            <a:ext cx="323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xecutable-title"/>
          <p:cNvSpPr>
            <a:spLocks noGrp="1"/>
          </p:cNvSpPr>
          <p:nvPr/>
        </p:nvSpPr>
        <p:spPr>
          <a:xfrm>
            <a:off x="1143000" y="299085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1545"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Executable Workflow</a:t>
            </a:r>
            <a:endParaRPr sz="14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xecutable-subtitle"/>
          <p:cNvSpPr>
            <a:spLocks noGrp="1"/>
          </p:cNvSpPr>
          <p:nvPr/>
        </p:nvSpPr>
        <p:spPr>
          <a:xfrm>
            <a:off x="762000" y="3257550"/>
            <a:ext cx="1952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加入产物、门禁与失败路径</a:t>
            </a:r>
            <a:endParaRPr sz="101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packaging-band"/>
          <p:cNvSpPr>
            <a:spLocks noGrp="1"/>
          </p:cNvSpPr>
          <p:nvPr/>
        </p:nvSpPr>
        <p:spPr>
          <a:xfrm>
            <a:off x="609600" y="4267200"/>
            <a:ext cx="7886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25" name="packaging-accent"/>
          <p:cNvSpPr>
            <a:spLocks noGrp="1"/>
          </p:cNvSpPr>
          <p:nvPr/>
        </p:nvSpPr>
        <p:spPr>
          <a:xfrm>
            <a:off x="609600" y="4267200"/>
            <a:ext cx="28575" cy="12573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6" name="packaging-number"/>
          <p:cNvSpPr>
            <a:spLocks noGrp="1"/>
          </p:cNvSpPr>
          <p:nvPr/>
        </p:nvSpPr>
        <p:spPr>
          <a:xfrm>
            <a:off x="762000" y="4343400"/>
            <a:ext cx="323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packaging-title"/>
          <p:cNvSpPr>
            <a:spLocks noGrp="1"/>
          </p:cNvSpPr>
          <p:nvPr/>
        </p:nvSpPr>
        <p:spPr>
          <a:xfrm>
            <a:off x="1143000" y="432435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Packaging</a:t>
            </a:r>
            <a:endParaRPr sz="14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packaging-subtitle"/>
          <p:cNvSpPr>
            <a:spLocks noGrp="1"/>
          </p:cNvSpPr>
          <p:nvPr/>
        </p:nvSpPr>
        <p:spPr>
          <a:xfrm>
            <a:off x="762000" y="4591050"/>
            <a:ext cx="1952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Workflow 封装成完整 Skill</a:t>
            </a:r>
            <a:endParaRPr sz="101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valuation-band"/>
          <p:cNvSpPr>
            <a:spLocks noGrp="1"/>
          </p:cNvSpPr>
          <p:nvPr/>
        </p:nvSpPr>
        <p:spPr>
          <a:xfrm>
            <a:off x="609600" y="5581650"/>
            <a:ext cx="78867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30" name="evaluation-accent"/>
          <p:cNvSpPr>
            <a:spLocks noGrp="1"/>
          </p:cNvSpPr>
          <p:nvPr/>
        </p:nvSpPr>
        <p:spPr>
          <a:xfrm>
            <a:off x="609600" y="5581650"/>
            <a:ext cx="28575" cy="5143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31" name="evaluation-number"/>
          <p:cNvSpPr>
            <a:spLocks noGrp="1"/>
          </p:cNvSpPr>
          <p:nvPr/>
        </p:nvSpPr>
        <p:spPr>
          <a:xfrm>
            <a:off x="762000" y="5657850"/>
            <a:ext cx="323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valuation-title"/>
          <p:cNvSpPr>
            <a:spLocks noGrp="1"/>
          </p:cNvSpPr>
          <p:nvPr/>
        </p:nvSpPr>
        <p:spPr>
          <a:xfrm>
            <a:off x="1143000" y="563880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Evaluation</a:t>
            </a:r>
            <a:endParaRPr sz="142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valuation-subtitle"/>
          <p:cNvSpPr>
            <a:spLocks noGrp="1"/>
          </p:cNvSpPr>
          <p:nvPr/>
        </p:nvSpPr>
        <p:spPr>
          <a:xfrm>
            <a:off x="762000" y="5905500"/>
            <a:ext cx="1952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真实任务验证</a:t>
            </a:r>
            <a:endParaRPr sz="101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ask-input-output-line"/>
          <p:cNvSpPr>
            <a:spLocks noGrp="1"/>
          </p:cNvSpPr>
          <p:nvPr/>
        </p:nvSpPr>
        <p:spPr>
          <a:xfrm>
            <a:off x="3714750" y="1819275"/>
            <a:ext cx="2514600" cy="0"/>
          </a:xfrm>
          <a:prstGeom prst="line">
            <a:avLst/>
          </a:prstGeom>
          <a:noFill/>
          <a:ln w="12383">
            <a:solidFill>
              <a:srgbClr val="557A96"/>
            </a:solidFill>
            <a:prstDash val="solid"/>
          </a:ln>
        </p:spPr>
      </p:sp>
      <p:sp>
        <p:nvSpPr>
          <p:cNvPr id="35" name="task-input-output-arrow"/>
          <p:cNvSpPr>
            <a:spLocks noGrp="1"/>
          </p:cNvSpPr>
          <p:nvPr/>
        </p:nvSpPr>
        <p:spPr>
          <a:xfrm rot="5400000">
            <a:off x="6191250" y="17811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36" name="task-input-box"/>
          <p:cNvSpPr>
            <a:spLocks noGrp="1"/>
          </p:cNvSpPr>
          <p:nvPr/>
        </p:nvSpPr>
        <p:spPr>
          <a:xfrm>
            <a:off x="3067050" y="1676400"/>
            <a:ext cx="6477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37" name="task-input-text"/>
          <p:cNvSpPr>
            <a:spLocks noGrp="1"/>
          </p:cNvSpPr>
          <p:nvPr/>
        </p:nvSpPr>
        <p:spPr>
          <a:xfrm>
            <a:off x="3095625" y="1695450"/>
            <a:ext cx="590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endParaRPr sz="10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ask-output-box"/>
          <p:cNvSpPr>
            <a:spLocks noGrp="1"/>
          </p:cNvSpPr>
          <p:nvPr/>
        </p:nvSpPr>
        <p:spPr>
          <a:xfrm>
            <a:off x="6267450" y="1676400"/>
            <a:ext cx="7239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39" name="task-output-text"/>
          <p:cNvSpPr>
            <a:spLocks noGrp="1"/>
          </p:cNvSpPr>
          <p:nvPr/>
        </p:nvSpPr>
        <p:spPr>
          <a:xfrm>
            <a:off x="6296025" y="16954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endParaRPr sz="10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ask-caption"/>
          <p:cNvSpPr>
            <a:spLocks noGrp="1"/>
          </p:cNvSpPr>
          <p:nvPr/>
        </p:nvSpPr>
        <p:spPr>
          <a:xfrm>
            <a:off x="7067550" y="1685925"/>
            <a:ext cx="1257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74685"/>
          </a:bodyPr>
          <a:lstStyle/>
          <a:p>
            <a:pPr algn="r">
              <a:defRPr sz="1015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先明确输入、目标和最终结果</a:t>
            </a:r>
            <a:endParaRPr sz="1015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basic-line-0"/>
          <p:cNvSpPr>
            <a:spLocks noGrp="1"/>
          </p:cNvSpPr>
          <p:nvPr/>
        </p:nvSpPr>
        <p:spPr>
          <a:xfrm>
            <a:off x="3505200" y="2552700"/>
            <a:ext cx="20955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42" name="basic-arrow-0"/>
          <p:cNvSpPr>
            <a:spLocks noGrp="1"/>
          </p:cNvSpPr>
          <p:nvPr/>
        </p:nvSpPr>
        <p:spPr>
          <a:xfrm rot="5400000">
            <a:off x="3667125" y="2514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43" name="basic-line-1"/>
          <p:cNvSpPr>
            <a:spLocks noGrp="1"/>
          </p:cNvSpPr>
          <p:nvPr/>
        </p:nvSpPr>
        <p:spPr>
          <a:xfrm>
            <a:off x="4381500" y="2552700"/>
            <a:ext cx="20955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44" name="basic-arrow-1"/>
          <p:cNvSpPr>
            <a:spLocks noGrp="1"/>
          </p:cNvSpPr>
          <p:nvPr/>
        </p:nvSpPr>
        <p:spPr>
          <a:xfrm rot="5400000">
            <a:off x="4543425" y="2514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45" name="basic-line-2"/>
          <p:cNvSpPr>
            <a:spLocks noGrp="1"/>
          </p:cNvSpPr>
          <p:nvPr/>
        </p:nvSpPr>
        <p:spPr>
          <a:xfrm>
            <a:off x="5257800" y="2552700"/>
            <a:ext cx="20955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46" name="basic-arrow-2"/>
          <p:cNvSpPr>
            <a:spLocks noGrp="1"/>
          </p:cNvSpPr>
          <p:nvPr/>
        </p:nvSpPr>
        <p:spPr>
          <a:xfrm rot="5400000">
            <a:off x="5419725" y="2514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47" name="basic-line-3"/>
          <p:cNvSpPr>
            <a:spLocks noGrp="1"/>
          </p:cNvSpPr>
          <p:nvPr/>
        </p:nvSpPr>
        <p:spPr>
          <a:xfrm>
            <a:off x="6134100" y="2552700"/>
            <a:ext cx="20955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48" name="basic-arrow-3"/>
          <p:cNvSpPr>
            <a:spLocks noGrp="1"/>
          </p:cNvSpPr>
          <p:nvPr/>
        </p:nvSpPr>
        <p:spPr>
          <a:xfrm rot="5400000">
            <a:off x="6296025" y="2514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49" name="basic-input-box"/>
          <p:cNvSpPr>
            <a:spLocks noGrp="1"/>
          </p:cNvSpPr>
          <p:nvPr/>
        </p:nvSpPr>
        <p:spPr>
          <a:xfrm>
            <a:off x="2952750" y="2409825"/>
            <a:ext cx="5524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0" name="basic-input-text"/>
          <p:cNvSpPr>
            <a:spLocks noGrp="1"/>
          </p:cNvSpPr>
          <p:nvPr/>
        </p:nvSpPr>
        <p:spPr>
          <a:xfrm>
            <a:off x="2981325" y="2428875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basic-stage-a-box"/>
          <p:cNvSpPr>
            <a:spLocks noGrp="1"/>
          </p:cNvSpPr>
          <p:nvPr/>
        </p:nvSpPr>
        <p:spPr>
          <a:xfrm>
            <a:off x="3714750" y="2409825"/>
            <a:ext cx="6667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2" name="basic-stage-a-text"/>
          <p:cNvSpPr>
            <a:spLocks noGrp="1"/>
          </p:cNvSpPr>
          <p:nvPr/>
        </p:nvSpPr>
        <p:spPr>
          <a:xfrm>
            <a:off x="3743325" y="2428875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A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basic-stage-b-box"/>
          <p:cNvSpPr>
            <a:spLocks noGrp="1"/>
          </p:cNvSpPr>
          <p:nvPr/>
        </p:nvSpPr>
        <p:spPr>
          <a:xfrm>
            <a:off x="4591050" y="2409825"/>
            <a:ext cx="6667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4" name="basic-stage-b-text"/>
          <p:cNvSpPr>
            <a:spLocks noGrp="1"/>
          </p:cNvSpPr>
          <p:nvPr/>
        </p:nvSpPr>
        <p:spPr>
          <a:xfrm>
            <a:off x="4619625" y="2428875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B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basic-stage-c-box"/>
          <p:cNvSpPr>
            <a:spLocks noGrp="1"/>
          </p:cNvSpPr>
          <p:nvPr/>
        </p:nvSpPr>
        <p:spPr>
          <a:xfrm>
            <a:off x="5467350" y="2409825"/>
            <a:ext cx="6667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6" name="basic-stage-c-text"/>
          <p:cNvSpPr>
            <a:spLocks noGrp="1"/>
          </p:cNvSpPr>
          <p:nvPr/>
        </p:nvSpPr>
        <p:spPr>
          <a:xfrm>
            <a:off x="5495925" y="2428875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C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basic-output-box"/>
          <p:cNvSpPr>
            <a:spLocks noGrp="1"/>
          </p:cNvSpPr>
          <p:nvPr/>
        </p:nvSpPr>
        <p:spPr>
          <a:xfrm>
            <a:off x="6343650" y="2409825"/>
            <a:ext cx="6477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8" name="basic-output-text"/>
          <p:cNvSpPr>
            <a:spLocks noGrp="1"/>
          </p:cNvSpPr>
          <p:nvPr/>
        </p:nvSpPr>
        <p:spPr>
          <a:xfrm>
            <a:off x="6372225" y="2428875"/>
            <a:ext cx="590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basic-caption"/>
          <p:cNvSpPr>
            <a:spLocks noGrp="1"/>
          </p:cNvSpPr>
          <p:nvPr/>
        </p:nvSpPr>
        <p:spPr>
          <a:xfrm>
            <a:off x="7143750" y="241935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274"/>
          </a:bodyPr>
          <a:lstStyle/>
          <a:p>
            <a:pPr algn="r">
              <a:defRPr sz="1015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从“目标”变成“方法”</a:t>
            </a:r>
            <a:endParaRPr sz="1015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xec-line-0"/>
          <p:cNvSpPr>
            <a:spLocks noGrp="1"/>
          </p:cNvSpPr>
          <p:nvPr/>
        </p:nvSpPr>
        <p:spPr>
          <a:xfrm>
            <a:off x="3371850" y="3333750"/>
            <a:ext cx="1905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1" name="exec-arrow-0"/>
          <p:cNvSpPr>
            <a:spLocks noGrp="1"/>
          </p:cNvSpPr>
          <p:nvPr/>
        </p:nvSpPr>
        <p:spPr>
          <a:xfrm rot="5400000">
            <a:off x="3514725" y="32956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2" name="exec-line-1"/>
          <p:cNvSpPr>
            <a:spLocks noGrp="1"/>
          </p:cNvSpPr>
          <p:nvPr/>
        </p:nvSpPr>
        <p:spPr>
          <a:xfrm>
            <a:off x="4210050" y="3333750"/>
            <a:ext cx="1905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3" name="exec-arrow-1"/>
          <p:cNvSpPr>
            <a:spLocks noGrp="1"/>
          </p:cNvSpPr>
          <p:nvPr/>
        </p:nvSpPr>
        <p:spPr>
          <a:xfrm rot="5400000">
            <a:off x="4352925" y="32956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4" name="exec-line-2"/>
          <p:cNvSpPr>
            <a:spLocks noGrp="1"/>
          </p:cNvSpPr>
          <p:nvPr/>
        </p:nvSpPr>
        <p:spPr>
          <a:xfrm>
            <a:off x="5143500" y="3333750"/>
            <a:ext cx="1905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5" name="exec-arrow-2"/>
          <p:cNvSpPr>
            <a:spLocks noGrp="1"/>
          </p:cNvSpPr>
          <p:nvPr/>
        </p:nvSpPr>
        <p:spPr>
          <a:xfrm rot="5400000">
            <a:off x="5286375" y="32956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6" name="exec-line-3"/>
          <p:cNvSpPr>
            <a:spLocks noGrp="1"/>
          </p:cNvSpPr>
          <p:nvPr/>
        </p:nvSpPr>
        <p:spPr>
          <a:xfrm>
            <a:off x="5886450" y="3333750"/>
            <a:ext cx="5715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7" name="exec-arrow-3"/>
          <p:cNvSpPr>
            <a:spLocks noGrp="1"/>
          </p:cNvSpPr>
          <p:nvPr/>
        </p:nvSpPr>
        <p:spPr>
          <a:xfrm rot="5400000">
            <a:off x="6410325" y="32956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8" name="exec-line-4"/>
          <p:cNvSpPr>
            <a:spLocks noGrp="1"/>
          </p:cNvSpPr>
          <p:nvPr/>
        </p:nvSpPr>
        <p:spPr>
          <a:xfrm>
            <a:off x="7105650" y="3333750"/>
            <a:ext cx="1905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9" name="exec-arrow-4"/>
          <p:cNvSpPr>
            <a:spLocks noGrp="1"/>
          </p:cNvSpPr>
          <p:nvPr/>
        </p:nvSpPr>
        <p:spPr>
          <a:xfrm rot="5400000">
            <a:off x="7248525" y="32956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70" name="gate-fail-line"/>
          <p:cNvSpPr>
            <a:spLocks noGrp="1"/>
          </p:cNvSpPr>
          <p:nvPr/>
        </p:nvSpPr>
        <p:spPr>
          <a:xfrm>
            <a:off x="5610225" y="3476625"/>
            <a:ext cx="0" cy="14287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71" name="gate-fail-arrow"/>
          <p:cNvSpPr>
            <a:spLocks noGrp="1"/>
          </p:cNvSpPr>
          <p:nvPr/>
        </p:nvSpPr>
        <p:spPr>
          <a:xfrm rot="10800000">
            <a:off x="5572125" y="35814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72" name="exec-input-box"/>
          <p:cNvSpPr>
            <a:spLocks noGrp="1"/>
          </p:cNvSpPr>
          <p:nvPr/>
        </p:nvSpPr>
        <p:spPr>
          <a:xfrm>
            <a:off x="2857500" y="3190875"/>
            <a:ext cx="5143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3" name="exec-input-text"/>
          <p:cNvSpPr>
            <a:spLocks noGrp="1"/>
          </p:cNvSpPr>
          <p:nvPr/>
        </p:nvSpPr>
        <p:spPr>
          <a:xfrm>
            <a:off x="2886075" y="32099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endParaRPr sz="9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xec-stage-a-box"/>
          <p:cNvSpPr>
            <a:spLocks noGrp="1"/>
          </p:cNvSpPr>
          <p:nvPr/>
        </p:nvSpPr>
        <p:spPr>
          <a:xfrm>
            <a:off x="3562350" y="3190875"/>
            <a:ext cx="6477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5" name="exec-stage-a-text"/>
          <p:cNvSpPr>
            <a:spLocks noGrp="1"/>
          </p:cNvSpPr>
          <p:nvPr/>
        </p:nvSpPr>
        <p:spPr>
          <a:xfrm>
            <a:off x="3590925" y="3209925"/>
            <a:ext cx="590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A</a:t>
            </a:r>
            <a:endParaRPr sz="9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xec-artifact-box"/>
          <p:cNvSpPr>
            <a:spLocks noGrp="1"/>
          </p:cNvSpPr>
          <p:nvPr/>
        </p:nvSpPr>
        <p:spPr>
          <a:xfrm>
            <a:off x="4400550" y="3190875"/>
            <a:ext cx="742950" cy="28575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7" name="exec-artifact-text"/>
          <p:cNvSpPr>
            <a:spLocks noGrp="1"/>
          </p:cNvSpPr>
          <p:nvPr/>
        </p:nvSpPr>
        <p:spPr>
          <a:xfrm>
            <a:off x="4429125" y="3209925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3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3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Artifact A</a:t>
            </a:r>
            <a:endParaRPr sz="93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xec-gate-box"/>
          <p:cNvSpPr>
            <a:spLocks noGrp="1"/>
          </p:cNvSpPr>
          <p:nvPr/>
        </p:nvSpPr>
        <p:spPr>
          <a:xfrm>
            <a:off x="5334000" y="3190875"/>
            <a:ext cx="552450" cy="28575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9" name="exec-gate-text"/>
          <p:cNvSpPr>
            <a:spLocks noGrp="1"/>
          </p:cNvSpPr>
          <p:nvPr/>
        </p:nvSpPr>
        <p:spPr>
          <a:xfrm>
            <a:off x="5362575" y="3209925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</a:t>
            </a:r>
            <a:endParaRPr sz="9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xec-stage-b-box"/>
          <p:cNvSpPr>
            <a:spLocks noGrp="1"/>
          </p:cNvSpPr>
          <p:nvPr/>
        </p:nvSpPr>
        <p:spPr>
          <a:xfrm>
            <a:off x="6457950" y="3190875"/>
            <a:ext cx="6477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81" name="exec-stage-b-text"/>
          <p:cNvSpPr>
            <a:spLocks noGrp="1"/>
          </p:cNvSpPr>
          <p:nvPr/>
        </p:nvSpPr>
        <p:spPr>
          <a:xfrm>
            <a:off x="6486525" y="3209925"/>
            <a:ext cx="590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B</a:t>
            </a:r>
            <a:endParaRPr sz="9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xec-output-box"/>
          <p:cNvSpPr>
            <a:spLocks noGrp="1"/>
          </p:cNvSpPr>
          <p:nvPr/>
        </p:nvSpPr>
        <p:spPr>
          <a:xfrm>
            <a:off x="7296150" y="3190875"/>
            <a:ext cx="6286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83" name="exec-output-text"/>
          <p:cNvSpPr>
            <a:spLocks noGrp="1"/>
          </p:cNvSpPr>
          <p:nvPr/>
        </p:nvSpPr>
        <p:spPr>
          <a:xfrm>
            <a:off x="7324725" y="3209925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endParaRPr sz="97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xec-fail-box"/>
          <p:cNvSpPr>
            <a:spLocks noGrp="1"/>
          </p:cNvSpPr>
          <p:nvPr/>
        </p:nvSpPr>
        <p:spPr>
          <a:xfrm>
            <a:off x="5238750" y="3629025"/>
            <a:ext cx="742950" cy="238125"/>
          </a:xfrm>
          <a:prstGeom prst="roundRect">
            <a:avLst>
              <a:gd name="adj" fmla="val 16000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85" name="exec-fail-text"/>
          <p:cNvSpPr>
            <a:spLocks noGrp="1"/>
          </p:cNvSpPr>
          <p:nvPr/>
        </p:nvSpPr>
        <p:spPr>
          <a:xfrm>
            <a:off x="5267325" y="3648075"/>
            <a:ext cx="6858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  ↺</a:t>
            </a:r>
            <a:endParaRPr sz="94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xec-pass"/>
          <p:cNvSpPr>
            <a:spLocks noGrp="1"/>
          </p:cNvSpPr>
          <p:nvPr/>
        </p:nvSpPr>
        <p:spPr>
          <a:xfrm>
            <a:off x="5962650" y="31242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8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PASS</a:t>
            </a:r>
            <a:endParaRPr sz="88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xec-role-hint"/>
          <p:cNvSpPr>
            <a:spLocks noGrp="1"/>
          </p:cNvSpPr>
          <p:nvPr/>
        </p:nvSpPr>
        <p:spPr>
          <a:xfrm>
            <a:off x="3562350" y="2971800"/>
            <a:ext cx="35433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8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 / Script / Subagent / Skill</a:t>
            </a:r>
            <a:endParaRPr sz="86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xec-failure-caption"/>
          <p:cNvSpPr>
            <a:spLocks noGrp="1"/>
          </p:cNvSpPr>
          <p:nvPr/>
        </p:nvSpPr>
        <p:spPr>
          <a:xfrm>
            <a:off x="6057900" y="3648075"/>
            <a:ext cx="11239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Retry / Fallback</a:t>
            </a:r>
            <a:endParaRPr sz="94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minimum-workflow-band"/>
          <p:cNvSpPr>
            <a:spLocks noGrp="1"/>
          </p:cNvSpPr>
          <p:nvPr/>
        </p:nvSpPr>
        <p:spPr>
          <a:xfrm>
            <a:off x="2857500" y="3914775"/>
            <a:ext cx="5067300" cy="219075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90" name="minimum-workflow"/>
          <p:cNvSpPr>
            <a:spLocks noGrp="1"/>
          </p:cNvSpPr>
          <p:nvPr/>
        </p:nvSpPr>
        <p:spPr>
          <a:xfrm>
            <a:off x="3000375" y="3924300"/>
            <a:ext cx="47815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0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Artifact  ·  Gate  ·  Retry / Fallback    →    最小可运行 Workflow</a:t>
            </a:r>
            <a:endParaRPr sz="100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base-to-branches"/>
          <p:cNvSpPr>
            <a:spLocks noGrp="1"/>
          </p:cNvSpPr>
          <p:nvPr/>
        </p:nvSpPr>
        <p:spPr>
          <a:xfrm>
            <a:off x="5448300" y="4600575"/>
            <a:ext cx="0" cy="1619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2" name="package-top-branch"/>
          <p:cNvSpPr>
            <a:spLocks noGrp="1"/>
          </p:cNvSpPr>
          <p:nvPr/>
        </p:nvSpPr>
        <p:spPr>
          <a:xfrm>
            <a:off x="3657600" y="4762500"/>
            <a:ext cx="35814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3" name="package-down-0"/>
          <p:cNvSpPr>
            <a:spLocks noGrp="1"/>
          </p:cNvSpPr>
          <p:nvPr/>
        </p:nvSpPr>
        <p:spPr>
          <a:xfrm>
            <a:off x="3657600" y="4762500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4" name="package-arrow-0"/>
          <p:cNvSpPr>
            <a:spLocks noGrp="1"/>
          </p:cNvSpPr>
          <p:nvPr/>
        </p:nvSpPr>
        <p:spPr>
          <a:xfrm rot="10800000">
            <a:off x="3619500" y="4800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5" name="package-converge-0"/>
          <p:cNvSpPr>
            <a:spLocks noGrp="1"/>
          </p:cNvSpPr>
          <p:nvPr/>
        </p:nvSpPr>
        <p:spPr>
          <a:xfrm>
            <a:off x="3657600" y="5162550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6" name="package-down-1"/>
          <p:cNvSpPr>
            <a:spLocks noGrp="1"/>
          </p:cNvSpPr>
          <p:nvPr/>
        </p:nvSpPr>
        <p:spPr>
          <a:xfrm>
            <a:off x="5448300" y="4762500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7" name="package-arrow-1"/>
          <p:cNvSpPr>
            <a:spLocks noGrp="1"/>
          </p:cNvSpPr>
          <p:nvPr/>
        </p:nvSpPr>
        <p:spPr>
          <a:xfrm rot="10800000">
            <a:off x="5410200" y="4800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8" name="package-converge-1"/>
          <p:cNvSpPr>
            <a:spLocks noGrp="1"/>
          </p:cNvSpPr>
          <p:nvPr/>
        </p:nvSpPr>
        <p:spPr>
          <a:xfrm>
            <a:off x="5448300" y="5162550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9" name="package-down-2"/>
          <p:cNvSpPr>
            <a:spLocks noGrp="1"/>
          </p:cNvSpPr>
          <p:nvPr/>
        </p:nvSpPr>
        <p:spPr>
          <a:xfrm>
            <a:off x="7239000" y="4762500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00" name="package-arrow-2"/>
          <p:cNvSpPr>
            <a:spLocks noGrp="1"/>
          </p:cNvSpPr>
          <p:nvPr/>
        </p:nvSpPr>
        <p:spPr>
          <a:xfrm rot="10800000">
            <a:off x="7200900" y="4800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01" name="package-converge-2"/>
          <p:cNvSpPr>
            <a:spLocks noGrp="1"/>
          </p:cNvSpPr>
          <p:nvPr/>
        </p:nvSpPr>
        <p:spPr>
          <a:xfrm>
            <a:off x="7239000" y="5162550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02" name="package-bottom-branch"/>
          <p:cNvSpPr>
            <a:spLocks noGrp="1"/>
          </p:cNvSpPr>
          <p:nvPr/>
        </p:nvSpPr>
        <p:spPr>
          <a:xfrm>
            <a:off x="3657600" y="5238750"/>
            <a:ext cx="35814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03" name="package-to-complete"/>
          <p:cNvSpPr>
            <a:spLocks noGrp="1"/>
          </p:cNvSpPr>
          <p:nvPr/>
        </p:nvSpPr>
        <p:spPr>
          <a:xfrm>
            <a:off x="5448300" y="5238750"/>
            <a:ext cx="0" cy="5715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04" name="package-complete-arrow"/>
          <p:cNvSpPr>
            <a:spLocks noGrp="1"/>
          </p:cNvSpPr>
          <p:nvPr/>
        </p:nvSpPr>
        <p:spPr>
          <a:xfrm rot="10800000">
            <a:off x="5410200" y="52578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05" name="package-base-box"/>
          <p:cNvSpPr>
            <a:spLocks noGrp="1"/>
          </p:cNvSpPr>
          <p:nvPr/>
        </p:nvSpPr>
        <p:spPr>
          <a:xfrm>
            <a:off x="4781550" y="4362450"/>
            <a:ext cx="1333500" cy="247650"/>
          </a:xfrm>
          <a:prstGeom prst="roundRect">
            <a:avLst>
              <a:gd name="adj" fmla="val 15385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06" name="package-base-text"/>
          <p:cNvSpPr>
            <a:spLocks noGrp="1"/>
          </p:cNvSpPr>
          <p:nvPr/>
        </p:nvSpPr>
        <p:spPr>
          <a:xfrm>
            <a:off x="4810125" y="4381500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 Workflow</a:t>
            </a:r>
            <a:endParaRPr sz="101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package-resources-box"/>
          <p:cNvSpPr>
            <a:spLocks noGrp="1"/>
          </p:cNvSpPr>
          <p:nvPr/>
        </p:nvSpPr>
        <p:spPr>
          <a:xfrm>
            <a:off x="3086100" y="4848225"/>
            <a:ext cx="1143000" cy="323850"/>
          </a:xfrm>
          <a:prstGeom prst="roundRect">
            <a:avLst>
              <a:gd name="adj" fmla="val 11765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08" name="package-resources-text"/>
          <p:cNvSpPr>
            <a:spLocks noGrp="1"/>
          </p:cNvSpPr>
          <p:nvPr/>
        </p:nvSpPr>
        <p:spPr>
          <a:xfrm>
            <a:off x="3114675" y="4867275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9944"/>
          </a:bodyPr>
          <a:lstStyle/>
          <a:p>
            <a:pPr algn="ctr">
              <a:defRPr sz="87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7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Resources</a:t>
            </a:r>
            <a:endParaRPr sz="87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7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7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 · Example · Script</a:t>
            </a:r>
            <a:endParaRPr sz="87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package-constraints-box"/>
          <p:cNvSpPr>
            <a:spLocks noGrp="1"/>
          </p:cNvSpPr>
          <p:nvPr/>
        </p:nvSpPr>
        <p:spPr>
          <a:xfrm>
            <a:off x="4819650" y="4848225"/>
            <a:ext cx="1257300" cy="323850"/>
          </a:xfrm>
          <a:prstGeom prst="roundRect">
            <a:avLst>
              <a:gd name="adj" fmla="val 11765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10" name="package-constraints-text"/>
          <p:cNvSpPr>
            <a:spLocks noGrp="1"/>
          </p:cNvSpPr>
          <p:nvPr/>
        </p:nvSpPr>
        <p:spPr>
          <a:xfrm>
            <a:off x="4848225" y="4867275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0800"/>
          </a:bodyPr>
          <a:lstStyle/>
          <a:p>
            <a:pPr algn="ctr">
              <a:defRPr sz="8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Constraints</a:t>
            </a:r>
            <a:endParaRPr sz="8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Boundary · Policy · Gate</a:t>
            </a:r>
            <a:endParaRPr sz="8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package-metadata-box"/>
          <p:cNvSpPr>
            <a:spLocks noGrp="1"/>
          </p:cNvSpPr>
          <p:nvPr/>
        </p:nvSpPr>
        <p:spPr>
          <a:xfrm>
            <a:off x="6591300" y="4848225"/>
            <a:ext cx="1295400" cy="323850"/>
          </a:xfrm>
          <a:prstGeom prst="roundRect">
            <a:avLst>
              <a:gd name="adj" fmla="val 11765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12" name="package-metadata-text"/>
          <p:cNvSpPr>
            <a:spLocks noGrp="1"/>
          </p:cNvSpPr>
          <p:nvPr/>
        </p:nvSpPr>
        <p:spPr>
          <a:xfrm>
            <a:off x="6619875" y="4867275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3622"/>
          </a:bodyPr>
          <a:lstStyle/>
          <a:p>
            <a:pPr algn="ctr">
              <a:defRPr sz="83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3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Metadata</a:t>
            </a:r>
            <a:endParaRPr sz="83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3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3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 · description · trigger</a:t>
            </a:r>
            <a:endParaRPr sz="83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package-complete-box"/>
          <p:cNvSpPr>
            <a:spLocks noGrp="1"/>
          </p:cNvSpPr>
          <p:nvPr/>
        </p:nvSpPr>
        <p:spPr>
          <a:xfrm>
            <a:off x="4686300" y="5295900"/>
            <a:ext cx="1524000" cy="238125"/>
          </a:xfrm>
          <a:prstGeom prst="roundRect">
            <a:avLst>
              <a:gd name="adj" fmla="val 16000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14" name="package-complete-text"/>
          <p:cNvSpPr>
            <a:spLocks noGrp="1"/>
          </p:cNvSpPr>
          <p:nvPr/>
        </p:nvSpPr>
        <p:spPr>
          <a:xfrm>
            <a:off x="4714875" y="5314950"/>
            <a:ext cx="1466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Complete Skill</a:t>
            </a:r>
            <a:endParaRPr sz="99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complete-evaluation-line"/>
          <p:cNvSpPr>
            <a:spLocks noGrp="1"/>
          </p:cNvSpPr>
          <p:nvPr/>
        </p:nvSpPr>
        <p:spPr>
          <a:xfrm>
            <a:off x="4000500" y="5838825"/>
            <a:ext cx="52387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16" name="complete-evaluation-arrow"/>
          <p:cNvSpPr>
            <a:spLocks noGrp="1"/>
          </p:cNvSpPr>
          <p:nvPr/>
        </p:nvSpPr>
        <p:spPr>
          <a:xfrm rot="5400000">
            <a:off x="4486275" y="580072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17" name="evaluation-stable-line"/>
          <p:cNvSpPr>
            <a:spLocks noGrp="1"/>
          </p:cNvSpPr>
          <p:nvPr/>
        </p:nvSpPr>
        <p:spPr>
          <a:xfrm>
            <a:off x="5572125" y="5838825"/>
            <a:ext cx="100012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18" name="evaluation-stable-arrow"/>
          <p:cNvSpPr>
            <a:spLocks noGrp="1"/>
          </p:cNvSpPr>
          <p:nvPr/>
        </p:nvSpPr>
        <p:spPr>
          <a:xfrm rot="5400000">
            <a:off x="6534150" y="580072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19" name="evaluation-fail-line"/>
          <p:cNvSpPr>
            <a:spLocks noGrp="1"/>
          </p:cNvSpPr>
          <p:nvPr/>
        </p:nvSpPr>
        <p:spPr>
          <a:xfrm>
            <a:off x="5048250" y="5972175"/>
            <a:ext cx="0" cy="76200"/>
          </a:xfrm>
          <a:prstGeom prst="line">
            <a:avLst/>
          </a:prstGeom>
          <a:noFill/>
          <a:ln w="10478">
            <a:solidFill>
              <a:srgbClr val="557A96"/>
            </a:solidFill>
            <a:prstDash val="solid"/>
          </a:ln>
        </p:spPr>
      </p:sp>
      <p:sp>
        <p:nvSpPr>
          <p:cNvPr id="120" name="evaluation-complete-box"/>
          <p:cNvSpPr>
            <a:spLocks noGrp="1"/>
          </p:cNvSpPr>
          <p:nvPr/>
        </p:nvSpPr>
        <p:spPr>
          <a:xfrm>
            <a:off x="2857500" y="5705475"/>
            <a:ext cx="1143000" cy="266700"/>
          </a:xfrm>
          <a:prstGeom prst="roundRect">
            <a:avLst>
              <a:gd name="adj" fmla="val 14286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21" name="evaluation-complete-text"/>
          <p:cNvSpPr>
            <a:spLocks noGrp="1"/>
          </p:cNvSpPr>
          <p:nvPr/>
        </p:nvSpPr>
        <p:spPr>
          <a:xfrm>
            <a:off x="2886075" y="5724525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6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Complete Skill</a:t>
            </a:r>
            <a:endParaRPr sz="96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evaluation-node-box"/>
          <p:cNvSpPr>
            <a:spLocks noGrp="1"/>
          </p:cNvSpPr>
          <p:nvPr/>
        </p:nvSpPr>
        <p:spPr>
          <a:xfrm>
            <a:off x="4524375" y="5705475"/>
            <a:ext cx="1047750" cy="266700"/>
          </a:xfrm>
          <a:prstGeom prst="roundRect">
            <a:avLst>
              <a:gd name="adj" fmla="val 14286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23" name="evaluation-node-text"/>
          <p:cNvSpPr>
            <a:spLocks noGrp="1"/>
          </p:cNvSpPr>
          <p:nvPr/>
        </p:nvSpPr>
        <p:spPr>
          <a:xfrm>
            <a:off x="4552950" y="5724525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Evaluation</a:t>
            </a:r>
            <a:endParaRPr sz="9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stable-skill-box"/>
          <p:cNvSpPr>
            <a:spLocks noGrp="1"/>
          </p:cNvSpPr>
          <p:nvPr/>
        </p:nvSpPr>
        <p:spPr>
          <a:xfrm>
            <a:off x="6572250" y="5667375"/>
            <a:ext cx="1714500" cy="342900"/>
          </a:xfrm>
          <a:prstGeom prst="roundRect">
            <a:avLst>
              <a:gd name="adj" fmla="val 11111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25" name="stable-skill-text"/>
          <p:cNvSpPr>
            <a:spLocks noGrp="1"/>
          </p:cNvSpPr>
          <p:nvPr/>
        </p:nvSpPr>
        <p:spPr>
          <a:xfrm>
            <a:off x="6600825" y="5686425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Stable Skill</a:t>
            </a:r>
            <a:endParaRPr sz="94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 · 可调用 · 可复用</a:t>
            </a:r>
            <a:endParaRPr sz="94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evaluation-pass"/>
          <p:cNvSpPr>
            <a:spLocks noGrp="1"/>
          </p:cNvSpPr>
          <p:nvPr/>
        </p:nvSpPr>
        <p:spPr>
          <a:xfrm>
            <a:off x="5772150" y="5657850"/>
            <a:ext cx="5334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8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PASS</a:t>
            </a:r>
            <a:endParaRPr sz="88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evaluation-fail"/>
          <p:cNvSpPr>
            <a:spLocks noGrp="1"/>
          </p:cNvSpPr>
          <p:nvPr/>
        </p:nvSpPr>
        <p:spPr>
          <a:xfrm>
            <a:off x="5162550" y="5943600"/>
            <a:ext cx="1333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1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1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 → 右侧定位与修正</a:t>
            </a:r>
            <a:endParaRPr sz="810" b="1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iteration-frame"/>
          <p:cNvSpPr>
            <a:spLocks noGrp="1"/>
          </p:cNvSpPr>
          <p:nvPr/>
        </p:nvSpPr>
        <p:spPr>
          <a:xfrm>
            <a:off x="8724900" y="1485900"/>
            <a:ext cx="2857500" cy="461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29" name="iteration-accent"/>
          <p:cNvSpPr>
            <a:spLocks noGrp="1"/>
          </p:cNvSpPr>
          <p:nvPr/>
        </p:nvSpPr>
        <p:spPr>
          <a:xfrm>
            <a:off x="8724900" y="1485900"/>
            <a:ext cx="285750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30" name="iteration-title"/>
          <p:cNvSpPr>
            <a:spLocks noGrp="1"/>
          </p:cNvSpPr>
          <p:nvPr/>
        </p:nvSpPr>
        <p:spPr>
          <a:xfrm>
            <a:off x="8896350" y="1600200"/>
            <a:ext cx="2514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6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6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失败后改什么？</a:t>
            </a:r>
            <a:endParaRPr sz="1465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iteration-subtitle"/>
          <p:cNvSpPr>
            <a:spLocks noGrp="1"/>
          </p:cNvSpPr>
          <p:nvPr/>
        </p:nvSpPr>
        <p:spPr>
          <a:xfrm>
            <a:off x="8896350" y="1885950"/>
            <a:ext cx="2514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 FAIL 后定位层级，不盲目重写</a:t>
            </a:r>
            <a:endParaRPr sz="101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iteration-header-line"/>
          <p:cNvSpPr>
            <a:spLocks noGrp="1"/>
          </p:cNvSpPr>
          <p:nvPr/>
        </p:nvSpPr>
        <p:spPr>
          <a:xfrm>
            <a:off x="8896350" y="2171700"/>
            <a:ext cx="25146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133" name="test-fail-down"/>
          <p:cNvSpPr>
            <a:spLocks noGrp="1"/>
          </p:cNvSpPr>
          <p:nvPr/>
        </p:nvSpPr>
        <p:spPr>
          <a:xfrm>
            <a:off x="10153650" y="2581275"/>
            <a:ext cx="0" cy="21907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34" name="test-fail-arrow"/>
          <p:cNvSpPr>
            <a:spLocks noGrp="1"/>
          </p:cNvSpPr>
          <p:nvPr/>
        </p:nvSpPr>
        <p:spPr>
          <a:xfrm rot="10800000">
            <a:off x="10115550" y="27622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35" name="locate-branch-down"/>
          <p:cNvSpPr>
            <a:spLocks noGrp="1"/>
          </p:cNvSpPr>
          <p:nvPr/>
        </p:nvSpPr>
        <p:spPr>
          <a:xfrm>
            <a:off x="10153650" y="3124200"/>
            <a:ext cx="0" cy="10477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36" name="diagnosis-branch"/>
          <p:cNvSpPr>
            <a:spLocks noGrp="1"/>
          </p:cNvSpPr>
          <p:nvPr/>
        </p:nvSpPr>
        <p:spPr>
          <a:xfrm>
            <a:off x="9239250" y="3228975"/>
            <a:ext cx="18288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37" name="diagnosis-drop-0"/>
          <p:cNvSpPr>
            <a:spLocks noGrp="1"/>
          </p:cNvSpPr>
          <p:nvPr/>
        </p:nvSpPr>
        <p:spPr>
          <a:xfrm>
            <a:off x="9239250" y="3228975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38" name="diagnosis-arrow-0"/>
          <p:cNvSpPr>
            <a:spLocks noGrp="1"/>
          </p:cNvSpPr>
          <p:nvPr/>
        </p:nvSpPr>
        <p:spPr>
          <a:xfrm rot="10800000">
            <a:off x="9201150" y="3276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39" name="diagnosis-converge-0"/>
          <p:cNvSpPr>
            <a:spLocks noGrp="1"/>
          </p:cNvSpPr>
          <p:nvPr/>
        </p:nvSpPr>
        <p:spPr>
          <a:xfrm>
            <a:off x="9239250" y="4105275"/>
            <a:ext cx="0" cy="1524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0" name="diagnosis-drop-1"/>
          <p:cNvSpPr>
            <a:spLocks noGrp="1"/>
          </p:cNvSpPr>
          <p:nvPr/>
        </p:nvSpPr>
        <p:spPr>
          <a:xfrm>
            <a:off x="10153650" y="3228975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1" name="diagnosis-arrow-1"/>
          <p:cNvSpPr>
            <a:spLocks noGrp="1"/>
          </p:cNvSpPr>
          <p:nvPr/>
        </p:nvSpPr>
        <p:spPr>
          <a:xfrm rot="10800000">
            <a:off x="10115550" y="3276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42" name="diagnosis-converge-1"/>
          <p:cNvSpPr>
            <a:spLocks noGrp="1"/>
          </p:cNvSpPr>
          <p:nvPr/>
        </p:nvSpPr>
        <p:spPr>
          <a:xfrm>
            <a:off x="10153650" y="4105275"/>
            <a:ext cx="0" cy="1524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3" name="diagnosis-drop-2"/>
          <p:cNvSpPr>
            <a:spLocks noGrp="1"/>
          </p:cNvSpPr>
          <p:nvPr/>
        </p:nvSpPr>
        <p:spPr>
          <a:xfrm>
            <a:off x="11068050" y="3228975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4" name="diagnosis-arrow-2"/>
          <p:cNvSpPr>
            <a:spLocks noGrp="1"/>
          </p:cNvSpPr>
          <p:nvPr/>
        </p:nvSpPr>
        <p:spPr>
          <a:xfrm rot="10800000">
            <a:off x="11029950" y="3276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45" name="diagnosis-converge-2"/>
          <p:cNvSpPr>
            <a:spLocks noGrp="1"/>
          </p:cNvSpPr>
          <p:nvPr/>
        </p:nvSpPr>
        <p:spPr>
          <a:xfrm>
            <a:off x="11068050" y="4105275"/>
            <a:ext cx="0" cy="1524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6" name="diagnosis-converge-bar"/>
          <p:cNvSpPr>
            <a:spLocks noGrp="1"/>
          </p:cNvSpPr>
          <p:nvPr/>
        </p:nvSpPr>
        <p:spPr>
          <a:xfrm>
            <a:off x="9239250" y="4257675"/>
            <a:ext cx="18288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7" name="diagnosis-to-modify"/>
          <p:cNvSpPr>
            <a:spLocks noGrp="1"/>
          </p:cNvSpPr>
          <p:nvPr/>
        </p:nvSpPr>
        <p:spPr>
          <a:xfrm>
            <a:off x="10153650" y="4257675"/>
            <a:ext cx="0" cy="1524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8" name="diagnosis-modify-arrow"/>
          <p:cNvSpPr>
            <a:spLocks noGrp="1"/>
          </p:cNvSpPr>
          <p:nvPr/>
        </p:nvSpPr>
        <p:spPr>
          <a:xfrm rot="10800000">
            <a:off x="10115550" y="43719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49" name="modify-retest-line"/>
          <p:cNvSpPr>
            <a:spLocks noGrp="1"/>
          </p:cNvSpPr>
          <p:nvPr/>
        </p:nvSpPr>
        <p:spPr>
          <a:xfrm>
            <a:off x="10153650" y="4695825"/>
            <a:ext cx="0" cy="17145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50" name="modify-retest-arrow"/>
          <p:cNvSpPr>
            <a:spLocks noGrp="1"/>
          </p:cNvSpPr>
          <p:nvPr/>
        </p:nvSpPr>
        <p:spPr>
          <a:xfrm rot="10800000">
            <a:off x="10115550" y="48291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51" name="retest-loop-right"/>
          <p:cNvSpPr>
            <a:spLocks noGrp="1"/>
          </p:cNvSpPr>
          <p:nvPr/>
        </p:nvSpPr>
        <p:spPr>
          <a:xfrm>
            <a:off x="10829925" y="5029200"/>
            <a:ext cx="581025" cy="0"/>
          </a:xfrm>
          <a:prstGeom prst="line">
            <a:avLst/>
          </a:prstGeom>
          <a:noFill/>
          <a:ln w="10478">
            <a:solidFill>
              <a:srgbClr val="7F9DB2"/>
            </a:solidFill>
            <a:prstDash val="solid"/>
          </a:ln>
        </p:spPr>
      </p:sp>
      <p:sp>
        <p:nvSpPr>
          <p:cNvPr id="152" name="retest-loop-up"/>
          <p:cNvSpPr>
            <a:spLocks noGrp="1"/>
          </p:cNvSpPr>
          <p:nvPr/>
        </p:nvSpPr>
        <p:spPr>
          <a:xfrm>
            <a:off x="11410950" y="2428875"/>
            <a:ext cx="0" cy="2600325"/>
          </a:xfrm>
          <a:prstGeom prst="line">
            <a:avLst/>
          </a:prstGeom>
          <a:noFill/>
          <a:ln w="10478">
            <a:solidFill>
              <a:srgbClr val="7F9DB2"/>
            </a:solidFill>
            <a:prstDash val="solid"/>
          </a:ln>
        </p:spPr>
      </p:sp>
      <p:sp>
        <p:nvSpPr>
          <p:cNvPr id="153" name="retest-loop-left"/>
          <p:cNvSpPr>
            <a:spLocks noGrp="1"/>
          </p:cNvSpPr>
          <p:nvPr/>
        </p:nvSpPr>
        <p:spPr>
          <a:xfrm>
            <a:off x="10782300" y="2428875"/>
            <a:ext cx="628650" cy="0"/>
          </a:xfrm>
          <a:prstGeom prst="line">
            <a:avLst/>
          </a:prstGeom>
          <a:noFill/>
          <a:ln w="10478">
            <a:solidFill>
              <a:srgbClr val="7F9DB2"/>
            </a:solidFill>
            <a:prstDash val="solid"/>
          </a:ln>
        </p:spPr>
      </p:sp>
      <p:sp>
        <p:nvSpPr>
          <p:cNvPr id="154" name="retest-loop-arrow"/>
          <p:cNvSpPr>
            <a:spLocks noGrp="1"/>
          </p:cNvSpPr>
          <p:nvPr/>
        </p:nvSpPr>
        <p:spPr>
          <a:xfrm rot="16200000">
            <a:off x="10744200" y="23907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55" name="test-node-box"/>
          <p:cNvSpPr>
            <a:spLocks noGrp="1"/>
          </p:cNvSpPr>
          <p:nvPr/>
        </p:nvSpPr>
        <p:spPr>
          <a:xfrm>
            <a:off x="9525000" y="2276475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56" name="test-node-text"/>
          <p:cNvSpPr>
            <a:spLocks noGrp="1"/>
          </p:cNvSpPr>
          <p:nvPr/>
        </p:nvSpPr>
        <p:spPr>
          <a:xfrm>
            <a:off x="9553575" y="229552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</a:t>
            </a:r>
            <a:endParaRPr sz="112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" name="fail-label"/>
          <p:cNvSpPr>
            <a:spLocks noGrp="1"/>
          </p:cNvSpPr>
          <p:nvPr/>
        </p:nvSpPr>
        <p:spPr>
          <a:xfrm>
            <a:off x="9886950" y="26098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</a:t>
            </a:r>
            <a:endParaRPr sz="94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locate-node-box"/>
          <p:cNvSpPr>
            <a:spLocks noGrp="1"/>
          </p:cNvSpPr>
          <p:nvPr/>
        </p:nvSpPr>
        <p:spPr>
          <a:xfrm>
            <a:off x="9477375" y="2838450"/>
            <a:ext cx="13525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59" name="locate-node-text"/>
          <p:cNvSpPr>
            <a:spLocks noGrp="1"/>
          </p:cNvSpPr>
          <p:nvPr/>
        </p:nvSpPr>
        <p:spPr>
          <a:xfrm>
            <a:off x="9505950" y="2857500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定位原因</a:t>
            </a:r>
            <a:endParaRPr sz="10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trigger-node-box"/>
          <p:cNvSpPr>
            <a:spLocks noGrp="1"/>
          </p:cNvSpPr>
          <p:nvPr/>
        </p:nvSpPr>
        <p:spPr>
          <a:xfrm>
            <a:off x="8858250" y="3333750"/>
            <a:ext cx="7620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61" name="trigger-node-text"/>
          <p:cNvSpPr>
            <a:spLocks noGrp="1"/>
          </p:cNvSpPr>
          <p:nvPr/>
        </p:nvSpPr>
        <p:spPr>
          <a:xfrm>
            <a:off x="8886825" y="3352800"/>
            <a:ext cx="704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Trigger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workflow-node-box"/>
          <p:cNvSpPr>
            <a:spLocks noGrp="1"/>
          </p:cNvSpPr>
          <p:nvPr/>
        </p:nvSpPr>
        <p:spPr>
          <a:xfrm>
            <a:off x="9725025" y="3333750"/>
            <a:ext cx="8572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63" name="workflow-node-text"/>
          <p:cNvSpPr>
            <a:spLocks noGrp="1"/>
          </p:cNvSpPr>
          <p:nvPr/>
        </p:nvSpPr>
        <p:spPr>
          <a:xfrm>
            <a:off x="9753600" y="3352800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resource-node-box"/>
          <p:cNvSpPr>
            <a:spLocks noGrp="1"/>
          </p:cNvSpPr>
          <p:nvPr/>
        </p:nvSpPr>
        <p:spPr>
          <a:xfrm>
            <a:off x="10687050" y="3333750"/>
            <a:ext cx="7620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65" name="resource-node-text"/>
          <p:cNvSpPr>
            <a:spLocks noGrp="1"/>
          </p:cNvSpPr>
          <p:nvPr/>
        </p:nvSpPr>
        <p:spPr>
          <a:xfrm>
            <a:off x="10715625" y="3352800"/>
            <a:ext cx="704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</a:t>
            </a:r>
            <a:endParaRPr sz="9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trigger-details"/>
          <p:cNvSpPr>
            <a:spLocks noGrp="1"/>
          </p:cNvSpPr>
          <p:nvPr/>
        </p:nvSpPr>
        <p:spPr>
          <a:xfrm>
            <a:off x="8858250" y="3676650"/>
            <a:ext cx="76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8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</a:t>
            </a:r>
            <a:endParaRPr sz="88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description</a:t>
            </a:r>
            <a:endParaRPr sz="88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scope</a:t>
            </a:r>
            <a:endParaRPr sz="88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" name="workflow-details"/>
          <p:cNvSpPr>
            <a:spLocks noGrp="1"/>
          </p:cNvSpPr>
          <p:nvPr/>
        </p:nvSpPr>
        <p:spPr>
          <a:xfrm>
            <a:off x="9677400" y="3676650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8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/ Contract</a:t>
            </a:r>
            <a:endParaRPr sz="86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 / Policy</a:t>
            </a:r>
            <a:endParaRPr sz="86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Retry</a:t>
            </a:r>
            <a:endParaRPr sz="86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resource-details"/>
          <p:cNvSpPr>
            <a:spLocks noGrp="1"/>
          </p:cNvSpPr>
          <p:nvPr/>
        </p:nvSpPr>
        <p:spPr>
          <a:xfrm>
            <a:off x="10687050" y="3676650"/>
            <a:ext cx="76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8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Reference</a:t>
            </a:r>
            <a:endParaRPr sz="88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</a:t>
            </a:r>
            <a:endParaRPr sz="88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</a:t>
            </a:r>
            <a:endParaRPr sz="88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" name="modify-node-box"/>
          <p:cNvSpPr>
            <a:spLocks noGrp="1"/>
          </p:cNvSpPr>
          <p:nvPr/>
        </p:nvSpPr>
        <p:spPr>
          <a:xfrm>
            <a:off x="9477375" y="4419600"/>
            <a:ext cx="1352550" cy="28575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70" name="modify-node-text"/>
          <p:cNvSpPr>
            <a:spLocks noGrp="1"/>
          </p:cNvSpPr>
          <p:nvPr/>
        </p:nvSpPr>
        <p:spPr>
          <a:xfrm>
            <a:off x="9505950" y="4438650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 Skill</a:t>
            </a:r>
            <a:endParaRPr sz="10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1" name="retest-node-box"/>
          <p:cNvSpPr>
            <a:spLocks noGrp="1"/>
          </p:cNvSpPr>
          <p:nvPr/>
        </p:nvSpPr>
        <p:spPr>
          <a:xfrm>
            <a:off x="9477375" y="4876800"/>
            <a:ext cx="1352550" cy="304800"/>
          </a:xfrm>
          <a:prstGeom prst="roundRect">
            <a:avLst>
              <a:gd name="adj" fmla="val 12500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72" name="retest-node-text"/>
          <p:cNvSpPr>
            <a:spLocks noGrp="1"/>
          </p:cNvSpPr>
          <p:nvPr/>
        </p:nvSpPr>
        <p:spPr>
          <a:xfrm>
            <a:off x="9505950" y="4895850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Re-test</a:t>
            </a:r>
            <a:endParaRPr sz="1090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3" name="iteration-principle-band"/>
          <p:cNvSpPr>
            <a:spLocks noGrp="1"/>
          </p:cNvSpPr>
          <p:nvPr/>
        </p:nvSpPr>
        <p:spPr>
          <a:xfrm>
            <a:off x="8877300" y="5391150"/>
            <a:ext cx="2552700" cy="533400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174" name="iteration-principle"/>
          <p:cNvSpPr>
            <a:spLocks noGrp="1"/>
          </p:cNvSpPr>
          <p:nvPr/>
        </p:nvSpPr>
        <p:spPr>
          <a:xfrm>
            <a:off x="9010650" y="54292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测试不只判断 PASS / FAIL，</a:t>
            </a:r>
            <a:endParaRPr sz="99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更要定位 Skill 的哪一层出了问题。</a:t>
            </a:r>
            <a:endParaRPr sz="99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summary-band"/>
          <p:cNvSpPr>
            <a:spLocks noGrp="1"/>
          </p:cNvSpPr>
          <p:nvPr/>
        </p:nvSpPr>
        <p:spPr>
          <a:xfrm>
            <a:off x="609600" y="6257925"/>
            <a:ext cx="10972800" cy="371475"/>
          </a:xfrm>
          <a:prstGeom prst="rect">
            <a:avLst/>
          </a:prstGeom>
          <a:solidFill>
            <a:srgbClr val="F3F4F5"/>
          </a:solidFill>
          <a:ln w="0">
            <a:noFill/>
            <a:prstDash val="solid"/>
          </a:ln>
        </p:spPr>
      </p:sp>
      <p:sp>
        <p:nvSpPr>
          <p:cNvPr id="176" name="summary-accent"/>
          <p:cNvSpPr>
            <a:spLocks noGrp="1"/>
          </p:cNvSpPr>
          <p:nvPr/>
        </p:nvSpPr>
        <p:spPr>
          <a:xfrm>
            <a:off x="609600" y="6257925"/>
            <a:ext cx="38100" cy="3714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77" name="summary-text"/>
          <p:cNvSpPr>
            <a:spLocks noGrp="1"/>
          </p:cNvSpPr>
          <p:nvPr/>
        </p:nvSpPr>
        <p:spPr>
          <a:xfrm>
            <a:off x="819150" y="6286500"/>
            <a:ext cx="105346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→ Workflow → Complete Skill → Evaluation → Iteration，构成 Skill 开发的完整闭环。</a:t>
            </a:r>
            <a:endParaRPr sz="129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" name="title-accent"/>
          <p:cNvSpPr>
            <a:spLocks noGrp="1"/>
          </p:cNvSpPr>
          <p:nvPr/>
        </p:nvSpPr>
        <p:spPr>
          <a:xfrm>
            <a:off x="609600" y="228600"/>
            <a:ext cx="47625" cy="4476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" name="slide-title"/>
          <p:cNvSpPr>
            <a:spLocks noGrp="1"/>
          </p:cNvSpPr>
          <p:nvPr/>
        </p:nvSpPr>
        <p:spPr>
          <a:xfrm>
            <a:off x="800100" y="171450"/>
            <a:ext cx="1057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8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如何写好一个 Skill：从“能运行”到“稳定可复用”</a:t>
            </a:r>
            <a:endParaRPr sz="28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800100" y="723900"/>
            <a:ext cx="819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好的 Skill 不是指令越多越好，而是关键位置足够明确</a:t>
            </a:r>
            <a:endParaRPr sz="1350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itle-divider"/>
          <p:cNvSpPr>
            <a:spLocks noGrp="1"/>
          </p:cNvSpPr>
          <p:nvPr/>
        </p:nvSpPr>
        <p:spPr>
          <a:xfrm>
            <a:off x="609600" y="1085850"/>
            <a:ext cx="1097280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" name="reliability-panel"/>
          <p:cNvSpPr>
            <a:spLocks noGrp="1"/>
          </p:cNvSpPr>
          <p:nvPr/>
        </p:nvSpPr>
        <p:spPr>
          <a:xfrm>
            <a:off x="609600" y="1409700"/>
            <a:ext cx="5353050" cy="37814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6" name="reliability-accent"/>
          <p:cNvSpPr>
            <a:spLocks noGrp="1"/>
          </p:cNvSpPr>
          <p:nvPr/>
        </p:nvSpPr>
        <p:spPr>
          <a:xfrm>
            <a:off x="609600" y="1409700"/>
            <a:ext cx="535305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7" name="usability-panel"/>
          <p:cNvSpPr>
            <a:spLocks noGrp="1"/>
          </p:cNvSpPr>
          <p:nvPr/>
        </p:nvSpPr>
        <p:spPr>
          <a:xfrm>
            <a:off x="6229350" y="1409700"/>
            <a:ext cx="5353050" cy="37814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8" name="usability-accent"/>
          <p:cNvSpPr>
            <a:spLocks noGrp="1"/>
          </p:cNvSpPr>
          <p:nvPr/>
        </p:nvSpPr>
        <p:spPr>
          <a:xfrm>
            <a:off x="6229350" y="1409700"/>
            <a:ext cx="535305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9" name="column-divider"/>
          <p:cNvSpPr>
            <a:spLocks noGrp="1"/>
          </p:cNvSpPr>
          <p:nvPr/>
        </p:nvSpPr>
        <p:spPr>
          <a:xfrm>
            <a:off x="6096000" y="1409700"/>
            <a:ext cx="0" cy="3781425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10" name="reliability-letter"/>
          <p:cNvSpPr>
            <a:spLocks noGrp="1"/>
          </p:cNvSpPr>
          <p:nvPr/>
        </p:nvSpPr>
        <p:spPr>
          <a:xfrm>
            <a:off x="781050" y="1533525"/>
            <a:ext cx="285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142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liability-title"/>
          <p:cNvSpPr>
            <a:spLocks noGrp="1"/>
          </p:cNvSpPr>
          <p:nvPr/>
        </p:nvSpPr>
        <p:spPr>
          <a:xfrm>
            <a:off x="1143000" y="1504950"/>
            <a:ext cx="21431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让任务执行可靠</a:t>
            </a:r>
            <a:endParaRPr sz="180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liability-caption"/>
          <p:cNvSpPr>
            <a:spLocks noGrp="1"/>
          </p:cNvSpPr>
          <p:nvPr/>
        </p:nvSpPr>
        <p:spPr>
          <a:xfrm>
            <a:off x="4095750" y="1552575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09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结构与运行机制</a:t>
            </a:r>
            <a:endParaRPr sz="1090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liability-header-line"/>
          <p:cNvSpPr>
            <a:spLocks noGrp="1"/>
          </p:cNvSpPr>
          <p:nvPr/>
        </p:nvSpPr>
        <p:spPr>
          <a:xfrm>
            <a:off x="781050" y="1924050"/>
            <a:ext cx="501015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14" name="usability-letter"/>
          <p:cNvSpPr>
            <a:spLocks noGrp="1"/>
          </p:cNvSpPr>
          <p:nvPr/>
        </p:nvSpPr>
        <p:spPr>
          <a:xfrm>
            <a:off x="6400800" y="1533525"/>
            <a:ext cx="285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142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usability-title"/>
          <p:cNvSpPr>
            <a:spLocks noGrp="1"/>
          </p:cNvSpPr>
          <p:nvPr/>
        </p:nvSpPr>
        <p:spPr>
          <a:xfrm>
            <a:off x="6762750" y="1504950"/>
            <a:ext cx="2667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Agent 更容易使用</a:t>
            </a:r>
            <a:endParaRPr sz="180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usability-caption"/>
          <p:cNvSpPr>
            <a:spLocks noGrp="1"/>
          </p:cNvSpPr>
          <p:nvPr/>
        </p:nvSpPr>
        <p:spPr>
          <a:xfrm>
            <a:off x="9639300" y="1552575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09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加载、约束与触发</a:t>
            </a:r>
            <a:endParaRPr sz="1090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usability-header-line"/>
          <p:cNvSpPr>
            <a:spLocks noGrp="1"/>
          </p:cNvSpPr>
          <p:nvPr/>
        </p:nvSpPr>
        <p:spPr>
          <a:xfrm>
            <a:off x="6400800" y="1924050"/>
            <a:ext cx="501015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18" name="reliability-flow-0"/>
          <p:cNvSpPr>
            <a:spLocks noGrp="1"/>
          </p:cNvSpPr>
          <p:nvPr/>
        </p:nvSpPr>
        <p:spPr>
          <a:xfrm>
            <a:off x="1038225" y="2686050"/>
            <a:ext cx="0" cy="76200"/>
          </a:xfrm>
          <a:prstGeom prst="line">
            <a:avLst/>
          </a:prstGeom>
          <a:noFill/>
          <a:ln w="10478">
            <a:solidFill>
              <a:srgbClr val="7F9DB2"/>
            </a:solidFill>
            <a:prstDash val="solid"/>
          </a:ln>
        </p:spPr>
      </p:sp>
      <p:sp>
        <p:nvSpPr>
          <p:cNvPr id="19" name="reliability-arrow-0"/>
          <p:cNvSpPr>
            <a:spLocks noGrp="1"/>
          </p:cNvSpPr>
          <p:nvPr/>
        </p:nvSpPr>
        <p:spPr>
          <a:xfrm rot="10800000">
            <a:off x="1000125" y="27241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20" name="reliability-flow-1"/>
          <p:cNvSpPr>
            <a:spLocks noGrp="1"/>
          </p:cNvSpPr>
          <p:nvPr/>
        </p:nvSpPr>
        <p:spPr>
          <a:xfrm>
            <a:off x="1038225" y="3390900"/>
            <a:ext cx="0" cy="76200"/>
          </a:xfrm>
          <a:prstGeom prst="line">
            <a:avLst/>
          </a:prstGeom>
          <a:noFill/>
          <a:ln w="10478">
            <a:solidFill>
              <a:srgbClr val="7F9DB2"/>
            </a:solidFill>
            <a:prstDash val="solid"/>
          </a:ln>
        </p:spPr>
      </p:sp>
      <p:sp>
        <p:nvSpPr>
          <p:cNvPr id="21" name="reliability-arrow-1"/>
          <p:cNvSpPr>
            <a:spLocks noGrp="1"/>
          </p:cNvSpPr>
          <p:nvPr/>
        </p:nvSpPr>
        <p:spPr>
          <a:xfrm rot="10800000">
            <a:off x="1000125" y="34290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22" name="reliability-flow-2"/>
          <p:cNvSpPr>
            <a:spLocks noGrp="1"/>
          </p:cNvSpPr>
          <p:nvPr/>
        </p:nvSpPr>
        <p:spPr>
          <a:xfrm>
            <a:off x="1038225" y="4095750"/>
            <a:ext cx="0" cy="76200"/>
          </a:xfrm>
          <a:prstGeom prst="line">
            <a:avLst/>
          </a:prstGeom>
          <a:noFill/>
          <a:ln w="10478">
            <a:solidFill>
              <a:srgbClr val="7F9DB2"/>
            </a:solidFill>
            <a:prstDash val="solid"/>
          </a:ln>
        </p:spPr>
      </p:sp>
      <p:sp>
        <p:nvSpPr>
          <p:cNvPr id="23" name="reliability-arrow-2"/>
          <p:cNvSpPr>
            <a:spLocks noGrp="1"/>
          </p:cNvSpPr>
          <p:nvPr/>
        </p:nvSpPr>
        <p:spPr>
          <a:xfrm rot="10800000">
            <a:off x="1000125" y="41338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24" name="usability-flow-0"/>
          <p:cNvSpPr>
            <a:spLocks noGrp="1"/>
          </p:cNvSpPr>
          <p:nvPr/>
        </p:nvSpPr>
        <p:spPr>
          <a:xfrm>
            <a:off x="6657975" y="2952750"/>
            <a:ext cx="0" cy="133350"/>
          </a:xfrm>
          <a:prstGeom prst="line">
            <a:avLst/>
          </a:prstGeom>
          <a:noFill/>
          <a:ln w="10478">
            <a:solidFill>
              <a:srgbClr val="7F9DB2"/>
            </a:solidFill>
            <a:prstDash val="solid"/>
          </a:ln>
        </p:spPr>
      </p:sp>
      <p:sp>
        <p:nvSpPr>
          <p:cNvPr id="25" name="usability-arrow-0"/>
          <p:cNvSpPr>
            <a:spLocks noGrp="1"/>
          </p:cNvSpPr>
          <p:nvPr/>
        </p:nvSpPr>
        <p:spPr>
          <a:xfrm rot="10800000">
            <a:off x="6619875" y="30480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26" name="usability-flow-1"/>
          <p:cNvSpPr>
            <a:spLocks noGrp="1"/>
          </p:cNvSpPr>
          <p:nvPr/>
        </p:nvSpPr>
        <p:spPr>
          <a:xfrm>
            <a:off x="6657975" y="3924300"/>
            <a:ext cx="0" cy="133350"/>
          </a:xfrm>
          <a:prstGeom prst="line">
            <a:avLst/>
          </a:prstGeom>
          <a:noFill/>
          <a:ln w="10478">
            <a:solidFill>
              <a:srgbClr val="7F9DB2"/>
            </a:solidFill>
            <a:prstDash val="solid"/>
          </a:ln>
        </p:spPr>
      </p:sp>
      <p:sp>
        <p:nvSpPr>
          <p:cNvPr id="27" name="usability-arrow-1"/>
          <p:cNvSpPr>
            <a:spLocks noGrp="1"/>
          </p:cNvSpPr>
          <p:nvPr/>
        </p:nvSpPr>
        <p:spPr>
          <a:xfrm rot="10800000">
            <a:off x="6619875" y="40195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28" name="focus-row"/>
          <p:cNvSpPr>
            <a:spLocks noGrp="1"/>
          </p:cNvSpPr>
          <p:nvPr/>
        </p:nvSpPr>
        <p:spPr>
          <a:xfrm>
            <a:off x="781050" y="2057400"/>
            <a:ext cx="5010150" cy="628650"/>
          </a:xfrm>
          <a:prstGeom prst="rect">
            <a:avLst/>
          </a:prstGeom>
          <a:solidFill>
            <a:srgbClr val="F7F9FA"/>
          </a:solidFill>
          <a:ln w="0">
            <a:noFill/>
            <a:prstDash val="solid"/>
          </a:ln>
        </p:spPr>
      </p:sp>
      <p:sp>
        <p:nvSpPr>
          <p:cNvPr id="29" name="focus-number"/>
          <p:cNvSpPr>
            <a:spLocks noGrp="1"/>
          </p:cNvSpPr>
          <p:nvPr/>
        </p:nvSpPr>
        <p:spPr>
          <a:xfrm>
            <a:off x="914400" y="21526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focus-title"/>
          <p:cNvSpPr>
            <a:spLocks noGrp="1"/>
          </p:cNvSpPr>
          <p:nvPr/>
        </p:nvSpPr>
        <p:spPr>
          <a:xfrm>
            <a:off x="1371600" y="213360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职责聚焦</a:t>
            </a:r>
            <a:endParaRPr sz="13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focus-detail"/>
          <p:cNvSpPr>
            <a:spLocks noGrp="1"/>
          </p:cNvSpPr>
          <p:nvPr/>
        </p:nvSpPr>
        <p:spPr>
          <a:xfrm>
            <a:off x="2876550" y="2124075"/>
            <a:ext cx="2781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一个边界清晰的完整能力</a:t>
            </a:r>
            <a:endParaRPr sz="120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focus-keywords"/>
          <p:cNvSpPr>
            <a:spLocks noGrp="1"/>
          </p:cNvSpPr>
          <p:nvPr/>
        </p:nvSpPr>
        <p:spPr>
          <a:xfrm>
            <a:off x="2876550" y="2390775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3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明确做什么 / 不做什么</a:t>
            </a:r>
            <a:endParaRPr sz="103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flow-row"/>
          <p:cNvSpPr>
            <a:spLocks noGrp="1"/>
          </p:cNvSpPr>
          <p:nvPr/>
        </p:nvSpPr>
        <p:spPr>
          <a:xfrm>
            <a:off x="781050" y="2762250"/>
            <a:ext cx="5010150" cy="6286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4" name="flow-number"/>
          <p:cNvSpPr>
            <a:spLocks noGrp="1"/>
          </p:cNvSpPr>
          <p:nvPr/>
        </p:nvSpPr>
        <p:spPr>
          <a:xfrm>
            <a:off x="914400" y="285750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flow-title"/>
          <p:cNvSpPr>
            <a:spLocks noGrp="1"/>
          </p:cNvSpPr>
          <p:nvPr/>
        </p:nvSpPr>
        <p:spPr>
          <a:xfrm>
            <a:off x="1371600" y="283845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流程清晰</a:t>
            </a:r>
            <a:endParaRPr sz="13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flow-detail"/>
          <p:cNvSpPr>
            <a:spLocks noGrp="1"/>
          </p:cNvSpPr>
          <p:nvPr/>
        </p:nvSpPr>
        <p:spPr>
          <a:xfrm>
            <a:off x="2876550" y="2828925"/>
            <a:ext cx="2781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/ Gate / Failure</a:t>
            </a:r>
            <a:endParaRPr sz="120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flow-keywords"/>
          <p:cNvSpPr>
            <a:spLocks noGrp="1"/>
          </p:cNvSpPr>
          <p:nvPr/>
        </p:nvSpPr>
        <p:spPr>
          <a:xfrm>
            <a:off x="2876550" y="3095625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3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阶段、推进条件与失败路径</a:t>
            </a:r>
            <a:endParaRPr sz="103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contract-row"/>
          <p:cNvSpPr>
            <a:spLocks noGrp="1"/>
          </p:cNvSpPr>
          <p:nvPr/>
        </p:nvSpPr>
        <p:spPr>
          <a:xfrm>
            <a:off x="781050" y="3467100"/>
            <a:ext cx="5010150" cy="628650"/>
          </a:xfrm>
          <a:prstGeom prst="rect">
            <a:avLst/>
          </a:prstGeom>
          <a:solidFill>
            <a:srgbClr val="F7F9FA"/>
          </a:solidFill>
          <a:ln w="0">
            <a:noFill/>
            <a:prstDash val="solid"/>
          </a:ln>
        </p:spPr>
      </p:sp>
      <p:sp>
        <p:nvSpPr>
          <p:cNvPr id="39" name="contract-number"/>
          <p:cNvSpPr>
            <a:spLocks noGrp="1"/>
          </p:cNvSpPr>
          <p:nvPr/>
        </p:nvSpPr>
        <p:spPr>
          <a:xfrm>
            <a:off x="914400" y="35623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contract-title"/>
          <p:cNvSpPr>
            <a:spLocks noGrp="1"/>
          </p:cNvSpPr>
          <p:nvPr/>
        </p:nvSpPr>
        <p:spPr>
          <a:xfrm>
            <a:off x="1371600" y="354330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契约明确</a:t>
            </a:r>
            <a:endParaRPr sz="13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contract-detail"/>
          <p:cNvSpPr>
            <a:spLocks noGrp="1"/>
          </p:cNvSpPr>
          <p:nvPr/>
        </p:nvSpPr>
        <p:spPr>
          <a:xfrm>
            <a:off x="2876550" y="3533775"/>
            <a:ext cx="2781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 / Artifact / Output</a:t>
            </a:r>
            <a:endParaRPr sz="120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contract-keywords"/>
          <p:cNvSpPr>
            <a:spLocks noGrp="1"/>
          </p:cNvSpPr>
          <p:nvPr/>
        </p:nvSpPr>
        <p:spPr>
          <a:xfrm>
            <a:off x="2876550" y="3800475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3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接受什么、交接什么、产出什么</a:t>
            </a:r>
            <a:endParaRPr sz="103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overy-row"/>
          <p:cNvSpPr>
            <a:spLocks noGrp="1"/>
          </p:cNvSpPr>
          <p:nvPr/>
        </p:nvSpPr>
        <p:spPr>
          <a:xfrm>
            <a:off x="781050" y="4171950"/>
            <a:ext cx="5010150" cy="6286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4" name="recovery-number"/>
          <p:cNvSpPr>
            <a:spLocks noGrp="1"/>
          </p:cNvSpPr>
          <p:nvPr/>
        </p:nvSpPr>
        <p:spPr>
          <a:xfrm>
            <a:off x="914400" y="426720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overy-title"/>
          <p:cNvSpPr>
            <a:spLocks noGrp="1"/>
          </p:cNvSpPr>
          <p:nvPr/>
        </p:nvSpPr>
        <p:spPr>
          <a:xfrm>
            <a:off x="1371600" y="424815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失败可恢复</a:t>
            </a:r>
            <a:endParaRPr sz="13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overy-detail"/>
          <p:cNvSpPr>
            <a:spLocks noGrp="1"/>
          </p:cNvSpPr>
          <p:nvPr/>
        </p:nvSpPr>
        <p:spPr>
          <a:xfrm>
            <a:off x="2876550" y="4238625"/>
            <a:ext cx="2781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 / 状态 / 下一步</a:t>
            </a:r>
            <a:endParaRPr sz="120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overy-keywords"/>
          <p:cNvSpPr>
            <a:spLocks noGrp="1"/>
          </p:cNvSpPr>
          <p:nvPr/>
        </p:nvSpPr>
        <p:spPr>
          <a:xfrm>
            <a:off x="2876550" y="4505325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3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失败信息能直接支持修正与重试</a:t>
            </a:r>
            <a:endParaRPr sz="103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liability-principle"/>
          <p:cNvSpPr>
            <a:spLocks noGrp="1"/>
          </p:cNvSpPr>
          <p:nvPr/>
        </p:nvSpPr>
        <p:spPr>
          <a:xfrm>
            <a:off x="933450" y="4876800"/>
            <a:ext cx="4705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可靠性来自明确的职责、流程、契约和恢复机制。</a:t>
            </a:r>
            <a:endParaRPr sz="10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on-demand-row"/>
          <p:cNvSpPr>
            <a:spLocks noGrp="1"/>
          </p:cNvSpPr>
          <p:nvPr/>
        </p:nvSpPr>
        <p:spPr>
          <a:xfrm>
            <a:off x="6400800" y="2114550"/>
            <a:ext cx="5010150" cy="838200"/>
          </a:xfrm>
          <a:prstGeom prst="rect">
            <a:avLst/>
          </a:prstGeom>
          <a:solidFill>
            <a:srgbClr val="F7F9FA"/>
          </a:solidFill>
          <a:ln w="0">
            <a:noFill/>
            <a:prstDash val="solid"/>
          </a:ln>
        </p:spPr>
      </p:sp>
      <p:sp>
        <p:nvSpPr>
          <p:cNvPr id="50" name="on-demand-number"/>
          <p:cNvSpPr>
            <a:spLocks noGrp="1"/>
          </p:cNvSpPr>
          <p:nvPr/>
        </p:nvSpPr>
        <p:spPr>
          <a:xfrm>
            <a:off x="6534150" y="223837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on-demand-title"/>
          <p:cNvSpPr>
            <a:spLocks noGrp="1"/>
          </p:cNvSpPr>
          <p:nvPr/>
        </p:nvSpPr>
        <p:spPr>
          <a:xfrm>
            <a:off x="6991350" y="2209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按需加载</a:t>
            </a:r>
            <a:endParaRPr sz="13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on-demand-detail"/>
          <p:cNvSpPr>
            <a:spLocks noGrp="1"/>
          </p:cNvSpPr>
          <p:nvPr/>
        </p:nvSpPr>
        <p:spPr>
          <a:xfrm>
            <a:off x="8496300" y="220980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核心流程 + 按需资源</a:t>
            </a:r>
            <a:endParaRPr sz="120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on-demand-keywords"/>
          <p:cNvSpPr>
            <a:spLocks noGrp="1"/>
          </p:cNvSpPr>
          <p:nvPr/>
        </p:nvSpPr>
        <p:spPr>
          <a:xfrm>
            <a:off x="8496300" y="251460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只加载当前 Stage 真正需要的 Reference / Example / Script</a:t>
            </a:r>
            <a:endParaRPr sz="101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constraint-row"/>
          <p:cNvSpPr>
            <a:spLocks noGrp="1"/>
          </p:cNvSpPr>
          <p:nvPr/>
        </p:nvSpPr>
        <p:spPr>
          <a:xfrm>
            <a:off x="6400800" y="3086100"/>
            <a:ext cx="5010150" cy="838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5" name="constraint-number"/>
          <p:cNvSpPr>
            <a:spLocks noGrp="1"/>
          </p:cNvSpPr>
          <p:nvPr/>
        </p:nvSpPr>
        <p:spPr>
          <a:xfrm>
            <a:off x="6534150" y="32099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constraint-title"/>
          <p:cNvSpPr>
            <a:spLocks noGrp="1"/>
          </p:cNvSpPr>
          <p:nvPr/>
        </p:nvSpPr>
        <p:spPr>
          <a:xfrm>
            <a:off x="6991350" y="31813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适度约束</a:t>
            </a:r>
            <a:endParaRPr sz="13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constraint-detail"/>
          <p:cNvSpPr>
            <a:spLocks noGrp="1"/>
          </p:cNvSpPr>
          <p:nvPr/>
        </p:nvSpPr>
        <p:spPr>
          <a:xfrm>
            <a:off x="8496300" y="318135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关键处严格，开放处灵活</a:t>
            </a:r>
            <a:endParaRPr sz="120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constraint-keywords"/>
          <p:cNvSpPr>
            <a:spLocks noGrp="1"/>
          </p:cNvSpPr>
          <p:nvPr/>
        </p:nvSpPr>
        <p:spPr>
          <a:xfrm>
            <a:off x="8496300" y="3486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 / Gate 明确；为判断与推理保留必要空间</a:t>
            </a:r>
            <a:endParaRPr sz="101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rigger-row"/>
          <p:cNvSpPr>
            <a:spLocks noGrp="1"/>
          </p:cNvSpPr>
          <p:nvPr/>
        </p:nvSpPr>
        <p:spPr>
          <a:xfrm>
            <a:off x="6400800" y="4057650"/>
            <a:ext cx="5010150" cy="838200"/>
          </a:xfrm>
          <a:prstGeom prst="rect">
            <a:avLst/>
          </a:prstGeom>
          <a:solidFill>
            <a:srgbClr val="F7F9FA"/>
          </a:solidFill>
          <a:ln w="0">
            <a:noFill/>
            <a:prstDash val="solid"/>
          </a:ln>
        </p:spPr>
      </p:sp>
      <p:sp>
        <p:nvSpPr>
          <p:cNvPr id="60" name="trigger-number"/>
          <p:cNvSpPr>
            <a:spLocks noGrp="1"/>
          </p:cNvSpPr>
          <p:nvPr/>
        </p:nvSpPr>
        <p:spPr>
          <a:xfrm>
            <a:off x="6534150" y="418147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7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rigger-title"/>
          <p:cNvSpPr>
            <a:spLocks noGrp="1"/>
          </p:cNvSpPr>
          <p:nvPr/>
        </p:nvSpPr>
        <p:spPr>
          <a:xfrm>
            <a:off x="6991350" y="41529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触发明确</a:t>
            </a:r>
            <a:endParaRPr sz="139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rigger-detail"/>
          <p:cNvSpPr>
            <a:spLocks noGrp="1"/>
          </p:cNvSpPr>
          <p:nvPr/>
        </p:nvSpPr>
        <p:spPr>
          <a:xfrm>
            <a:off x="8496300" y="415290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 / description</a:t>
            </a:r>
            <a:endParaRPr sz="1200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rigger-keywords"/>
          <p:cNvSpPr>
            <a:spLocks noGrp="1"/>
          </p:cNvSpPr>
          <p:nvPr/>
        </p:nvSpPr>
        <p:spPr>
          <a:xfrm>
            <a:off x="8496300" y="445770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Agent 知道何时调用、适用范围与能力边界</a:t>
            </a:r>
            <a:endParaRPr sz="1015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usability-principle"/>
          <p:cNvSpPr>
            <a:spLocks noGrp="1"/>
          </p:cNvSpPr>
          <p:nvPr/>
        </p:nvSpPr>
        <p:spPr>
          <a:xfrm>
            <a:off x="6553200" y="4876800"/>
            <a:ext cx="4705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易用性来自按需加载、适度约束和准确触发。</a:t>
            </a:r>
            <a:endParaRPr sz="106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self-check-band"/>
          <p:cNvSpPr>
            <a:spLocks noGrp="1"/>
          </p:cNvSpPr>
          <p:nvPr/>
        </p:nvSpPr>
        <p:spPr>
          <a:xfrm>
            <a:off x="609600" y="5391150"/>
            <a:ext cx="10972800" cy="1219200"/>
          </a:xfrm>
          <a:prstGeom prst="rect">
            <a:avLst/>
          </a:prstGeom>
          <a:solidFill>
            <a:srgbClr val="F3F4F5"/>
          </a:solidFill>
          <a:ln w="0">
            <a:noFill/>
            <a:prstDash val="solid"/>
          </a:ln>
        </p:spPr>
      </p:sp>
      <p:sp>
        <p:nvSpPr>
          <p:cNvPr id="66" name="self-check-accent"/>
          <p:cNvSpPr>
            <a:spLocks noGrp="1"/>
          </p:cNvSpPr>
          <p:nvPr/>
        </p:nvSpPr>
        <p:spPr>
          <a:xfrm>
            <a:off x="609600" y="5391150"/>
            <a:ext cx="38100" cy="12192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67" name="self-check-title"/>
          <p:cNvSpPr>
            <a:spLocks noGrp="1"/>
          </p:cNvSpPr>
          <p:nvPr/>
        </p:nvSpPr>
        <p:spPr>
          <a:xfrm>
            <a:off x="819150" y="5505450"/>
            <a:ext cx="238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视角自检</a:t>
            </a:r>
            <a:endParaRPr sz="1650" b="1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self-check-subtitle"/>
          <p:cNvSpPr>
            <a:spLocks noGrp="1"/>
          </p:cNvSpPr>
          <p:nvPr/>
        </p:nvSpPr>
        <p:spPr>
          <a:xfrm>
            <a:off x="819150" y="5829300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站在 Agent 的角度问：</a:t>
            </a:r>
            <a:endParaRPr sz="1090" b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self-check-result"/>
          <p:cNvSpPr>
            <a:spLocks noGrp="1"/>
          </p:cNvSpPr>
          <p:nvPr/>
        </p:nvSpPr>
        <p:spPr>
          <a:xfrm>
            <a:off x="819150" y="62007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717"/>
          </a:bodyPr>
          <a:lstStyle/>
          <a:p>
            <a:pPr algn="l">
              <a:def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全部回答清楚，才算稳定、可调用、可复用。</a:t>
            </a:r>
            <a:endParaRPr sz="1015" b="1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check-trigger-mark"/>
          <p:cNvSpPr>
            <a:spLocks noGrp="1"/>
          </p:cNvSpPr>
          <p:nvPr/>
        </p:nvSpPr>
        <p:spPr>
          <a:xfrm>
            <a:off x="3429000" y="5591175"/>
            <a:ext cx="57150" cy="571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71" name="check-trigger-text"/>
          <p:cNvSpPr>
            <a:spLocks noGrp="1"/>
          </p:cNvSpPr>
          <p:nvPr/>
        </p:nvSpPr>
        <p:spPr>
          <a:xfrm>
            <a:off x="3581400" y="5514975"/>
            <a:ext cx="3619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我知道什么时候调用它吗？</a:t>
            </a:r>
            <a:endParaRPr sz="116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check-input-mark"/>
          <p:cNvSpPr>
            <a:spLocks noGrp="1"/>
          </p:cNvSpPr>
          <p:nvPr/>
        </p:nvSpPr>
        <p:spPr>
          <a:xfrm>
            <a:off x="3429000" y="5915025"/>
            <a:ext cx="57150" cy="571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73" name="check-input-text"/>
          <p:cNvSpPr>
            <a:spLocks noGrp="1"/>
          </p:cNvSpPr>
          <p:nvPr/>
        </p:nvSpPr>
        <p:spPr>
          <a:xfrm>
            <a:off x="3581400" y="5838825"/>
            <a:ext cx="3619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我知道要给它什么吗？</a:t>
            </a:r>
            <a:endParaRPr sz="116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check-workflow-mark"/>
          <p:cNvSpPr>
            <a:spLocks noGrp="1"/>
          </p:cNvSpPr>
          <p:nvPr/>
        </p:nvSpPr>
        <p:spPr>
          <a:xfrm>
            <a:off x="3429000" y="6238875"/>
            <a:ext cx="57150" cy="571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75" name="check-workflow-text"/>
          <p:cNvSpPr>
            <a:spLocks noGrp="1"/>
          </p:cNvSpPr>
          <p:nvPr/>
        </p:nvSpPr>
        <p:spPr>
          <a:xfrm>
            <a:off x="3581400" y="6162675"/>
            <a:ext cx="3619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我知道按什么流程执行吗？</a:t>
            </a:r>
            <a:endParaRPr sz="116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check-gate-mark"/>
          <p:cNvSpPr>
            <a:spLocks noGrp="1"/>
          </p:cNvSpPr>
          <p:nvPr/>
        </p:nvSpPr>
        <p:spPr>
          <a:xfrm>
            <a:off x="7524750" y="5591175"/>
            <a:ext cx="57150" cy="571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77" name="check-gate-text"/>
          <p:cNvSpPr>
            <a:spLocks noGrp="1"/>
          </p:cNvSpPr>
          <p:nvPr/>
        </p:nvSpPr>
        <p:spPr>
          <a:xfrm>
            <a:off x="7677150" y="5514975"/>
            <a:ext cx="3619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我知道什么时候可以进入下一步吗？</a:t>
            </a:r>
            <a:endParaRPr sz="116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check-resource-mark"/>
          <p:cNvSpPr>
            <a:spLocks noGrp="1"/>
          </p:cNvSpPr>
          <p:nvPr/>
        </p:nvSpPr>
        <p:spPr>
          <a:xfrm>
            <a:off x="7524750" y="5915025"/>
            <a:ext cx="57150" cy="571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79" name="check-resource-text"/>
          <p:cNvSpPr>
            <a:spLocks noGrp="1"/>
          </p:cNvSpPr>
          <p:nvPr/>
        </p:nvSpPr>
        <p:spPr>
          <a:xfrm>
            <a:off x="7677150" y="5838825"/>
            <a:ext cx="3619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我能找到当前任务需要的知识吗？</a:t>
            </a:r>
            <a:endParaRPr sz="116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check-failure-mark"/>
          <p:cNvSpPr>
            <a:spLocks noGrp="1"/>
          </p:cNvSpPr>
          <p:nvPr/>
        </p:nvSpPr>
        <p:spPr>
          <a:xfrm>
            <a:off x="7524750" y="6238875"/>
            <a:ext cx="57150" cy="571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81" name="check-failure-text"/>
          <p:cNvSpPr>
            <a:spLocks noGrp="1"/>
          </p:cNvSpPr>
          <p:nvPr/>
        </p:nvSpPr>
        <p:spPr>
          <a:xfrm>
            <a:off x="7677150" y="6162675"/>
            <a:ext cx="3619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失败后我知道原因和下一步吗？</a:t>
            </a:r>
            <a:endParaRPr sz="1165" b="1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7042</Words>
  <Application>WPS 演示</Application>
  <PresentationFormat>Converted Presentation</PresentationFormat>
  <Paragraphs>992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火元素</cp:lastModifiedBy>
  <cp:revision>1</cp:revision>
  <dcterms:created xsi:type="dcterms:W3CDTF">2026-08-19T14:36:35Z</dcterms:created>
  <dcterms:modified xsi:type="dcterms:W3CDTF">2026-08-19T14:36:35Z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F644CCAE458B4206B9227558268D44C6_12</vt:lpwstr>
  </property>
</Properties>
</file>